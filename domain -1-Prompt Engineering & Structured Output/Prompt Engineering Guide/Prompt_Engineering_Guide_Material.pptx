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akjS/mTF3EaDQwj+9th3Fq00A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47b6fd3c3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e47b6fd3c3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e47b6fd3c3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47b6fd3c3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e47b6fd3c3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3e47b6fd3c3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47b6fd3c3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e47b6fd3c3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e47b6fd3c3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47b6fd3c3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e47b6fd3c3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e47b6fd3c3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47b6fd3c3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e47b6fd3c3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e47b6fd3c3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47b6fd3c3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e47b6fd3c3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e47b6fd3c3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47b6fd3c3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e47b6fd3c3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e47b6fd3c3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e47b6fd3c3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e47b6fd3c3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e47b6fd3c3_0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47b6fd3c3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e47b6fd3c3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e47b6fd3c3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e47b6fd3c3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e47b6fd3c3_0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e47b6fd3c3_0_1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47b6fd3c3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e47b6fd3c3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e47b6fd3c3_0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47b6fd3c3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e47b6fd3c3_0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g3e47b6fd3c3_0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e47b6fd3c3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e47b6fd3c3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e47b6fd3c3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e47b6fd3c3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e47b6fd3c3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e47b6fd3c3_0_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47b6fd3c3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e47b6fd3c3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e47b6fd3c3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e47b6fd3c3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e47b6fd3c3_0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g3e47b6fd3c3_0_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e47b6fd3c3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e47b6fd3c3_0_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e47b6fd3c3_0_1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e47b6fd3c3_0_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3e47b6fd3c3_0_1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3e47b6fd3c3_0_1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e47b6fd3c3_0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e47b6fd3c3_0_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e47b6fd3c3_0_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47b6fd3c3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3e47b6fd3c3_0_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3e47b6fd3c3_0_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47b6fd3c3_0_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e47b6fd3c3_0_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g3e47b6fd3c3_0_2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e47b6fd3c3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3e47b6fd3c3_0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3e47b6fd3c3_0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e47b6fd3c3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e47b6fd3c3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3e47b6fd3c3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e47b6fd3c3_0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e47b6fd3c3_0_2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3e47b6fd3c3_0_2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e47b6fd3c3_0_2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e47b6fd3c3_0_2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g3e47b6fd3c3_0_2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e47b6fd3c3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e47b6fd3c3_0_2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3e47b6fd3c3_0_2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e47b6fd3c3_0_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e47b6fd3c3_0_2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g3e47b6fd3c3_0_2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e47b6fd3c3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e47b6fd3c3_0_2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g3e47b6fd3c3_0_2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47b6fd3c3_0_3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g3e47b6fd3c3_0_3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g3e47b6fd3c3_0_3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e47b6fd3c3_0_3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g3e47b6fd3c3_0_3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g3e47b6fd3c3_0_3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e47b6fd3c3_0_3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g3e47b6fd3c3_0_3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g3e47b6fd3c3_0_3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109728"/>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0" y="109728"/>
            <a:ext cx="73152" cy="5029200"/>
          </a:xfrm>
          <a:prstGeom prst="rect">
            <a:avLst/>
          </a:prstGeom>
          <a:solidFill>
            <a:srgbClr val="7F77DD"/>
          </a:solidFill>
          <a:ln cap="flat" cmpd="sng" w="12700">
            <a:solidFill>
              <a:srgbClr val="7F77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20090" y="489690"/>
            <a:ext cx="85038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Prompt Engineering </a:t>
            </a:r>
            <a:r>
              <a:rPr b="1" i="0" lang="en-US" sz="5200" u="none" cap="none" strike="noStrike">
                <a:solidFill>
                  <a:srgbClr val="FFFFFF"/>
                </a:solidFill>
                <a:latin typeface="Calibri"/>
                <a:ea typeface="Calibri"/>
                <a:cs typeface="Calibri"/>
                <a:sym typeface="Calibri"/>
              </a:rPr>
              <a:t>Guide</a:t>
            </a:r>
            <a:endParaRPr b="0" i="0" sz="5200" u="none" cap="none" strike="noStrike">
              <a:solidFill>
                <a:schemeClr val="dk1"/>
              </a:solidFill>
              <a:latin typeface="Calibri"/>
              <a:ea typeface="Calibri"/>
              <a:cs typeface="Calibri"/>
              <a:sym typeface="Calibri"/>
            </a:endParaRPr>
          </a:p>
        </p:txBody>
      </p:sp>
      <p:sp>
        <p:nvSpPr>
          <p:cNvPr id="19" name="Google Shape;19;p1"/>
          <p:cNvSpPr/>
          <p:nvPr/>
        </p:nvSpPr>
        <p:spPr>
          <a:xfrm>
            <a:off x="320100" y="4396972"/>
            <a:ext cx="8503800" cy="464700"/>
          </a:xfrm>
          <a:prstGeom prst="rect">
            <a:avLst/>
          </a:prstGeom>
          <a:solidFill>
            <a:srgbClr val="534AB7"/>
          </a:solidFill>
          <a:ln>
            <a:noFill/>
          </a:ln>
        </p:spPr>
        <p:txBody>
          <a:bodyPr anchorCtr="0" anchor="ctr" bIns="0" lIns="0" spcFirstLastPara="1" rIns="0" wrap="square" tIns="0">
            <a:noAutofit/>
          </a:bodyPr>
          <a:lstStyle/>
          <a:p>
            <a:pPr indent="0" lvl="0" marL="0" marR="0" rtl="0" algn="l">
              <a:spcBef>
                <a:spcPts val="0"/>
              </a:spcBef>
              <a:spcAft>
                <a:spcPts val="0"/>
              </a:spcAft>
              <a:buClr>
                <a:srgbClr val="AFA9EC"/>
              </a:buClr>
              <a:buSzPts val="1600"/>
              <a:buFont typeface="Calibri"/>
              <a:buNone/>
            </a:pPr>
            <a:r>
              <a:rPr lang="en-US" sz="1600">
                <a:solidFill>
                  <a:schemeClr val="lt1"/>
                </a:solidFill>
                <a:latin typeface="Calibri"/>
                <a:ea typeface="Calibri"/>
                <a:cs typeface="Calibri"/>
                <a:sym typeface="Calibri"/>
              </a:rPr>
              <a:t>Nneoma Nnorom</a:t>
            </a:r>
            <a:endParaRPr b="0" i="0" sz="16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4" name="Shape 24"/>
        <p:cNvGrpSpPr/>
        <p:nvPr/>
      </p:nvGrpSpPr>
      <p:grpSpPr>
        <a:xfrm>
          <a:off x="0" y="0"/>
          <a:ext cx="0" cy="0"/>
          <a:chOff x="0" y="0"/>
          <a:chExt cx="0" cy="0"/>
        </a:xfrm>
      </p:grpSpPr>
      <p:sp>
        <p:nvSpPr>
          <p:cNvPr id="25" name="Google Shape;25;p2"/>
          <p:cNvSpPr/>
          <p:nvPr/>
        </p:nvSpPr>
        <p:spPr>
          <a:xfrm>
            <a:off x="457200" y="5943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Domain Overview </a:t>
            </a:r>
            <a:endParaRPr b="0" i="0" sz="2800" u="none" cap="none" strike="noStrike">
              <a:solidFill>
                <a:schemeClr val="dk1"/>
              </a:solidFill>
              <a:latin typeface="Calibri"/>
              <a:ea typeface="Calibri"/>
              <a:cs typeface="Calibri"/>
              <a:sym typeface="Calibri"/>
            </a:endParaRPr>
          </a:p>
        </p:txBody>
      </p:sp>
      <p:sp>
        <p:nvSpPr>
          <p:cNvPr id="26" name="Google Shape;26;p2"/>
          <p:cNvSpPr/>
          <p:nvPr/>
        </p:nvSpPr>
        <p:spPr>
          <a:xfrm>
            <a:off x="8046720" y="4800600"/>
            <a:ext cx="9144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2 / 12</a:t>
            </a:r>
            <a:endParaRPr b="0" i="0" sz="900" u="none" cap="none" strike="noStrike">
              <a:solidFill>
                <a:schemeClr val="dk1"/>
              </a:solidFill>
              <a:latin typeface="Calibri"/>
              <a:ea typeface="Calibri"/>
              <a:cs typeface="Calibri"/>
              <a:sym typeface="Calibri"/>
            </a:endParaRPr>
          </a:p>
        </p:txBody>
      </p:sp>
      <p:sp>
        <p:nvSpPr>
          <p:cNvPr id="27" name="Google Shape;27;p2"/>
          <p:cNvSpPr/>
          <p:nvPr/>
        </p:nvSpPr>
        <p:spPr>
          <a:xfrm>
            <a:off x="457200" y="1600200"/>
            <a:ext cx="2633472" cy="114300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457200" y="1600200"/>
            <a:ext cx="54864" cy="11430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21792" y="1709928"/>
            <a:ext cx="23591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System Prompt Structure</a:t>
            </a:r>
            <a:endParaRPr b="0" i="0" sz="1100" u="none" cap="none" strike="noStrike">
              <a:solidFill>
                <a:schemeClr val="dk1"/>
              </a:solidFill>
              <a:latin typeface="Calibri"/>
              <a:ea typeface="Calibri"/>
              <a:cs typeface="Calibri"/>
              <a:sym typeface="Calibri"/>
            </a:endParaRPr>
          </a:p>
        </p:txBody>
      </p:sp>
      <p:sp>
        <p:nvSpPr>
          <p:cNvPr id="30" name="Google Shape;30;p2"/>
          <p:cNvSpPr/>
          <p:nvPr/>
        </p:nvSpPr>
        <p:spPr>
          <a:xfrm>
            <a:off x="621792" y="2011680"/>
            <a:ext cx="235915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lang="en-US" sz="950">
                <a:solidFill>
                  <a:srgbClr val="8FA3C8"/>
                </a:solidFill>
                <a:latin typeface="Calibri"/>
                <a:ea typeface="Calibri"/>
                <a:cs typeface="Calibri"/>
                <a:sym typeface="Calibri"/>
              </a:rPr>
              <a:t>The </a:t>
            </a:r>
            <a:r>
              <a:rPr b="0" i="0" lang="en-US" sz="950" u="none" cap="none" strike="noStrike">
                <a:solidFill>
                  <a:srgbClr val="8FA3C8"/>
                </a:solidFill>
                <a:latin typeface="Calibri"/>
                <a:ea typeface="Calibri"/>
                <a:cs typeface="Calibri"/>
                <a:sym typeface="Calibri"/>
              </a:rPr>
              <a:t>RCRF framework which includes</a:t>
            </a:r>
            <a:r>
              <a:rPr lang="en-US" sz="950">
                <a:solidFill>
                  <a:srgbClr val="8FA3C8"/>
                </a:solidFill>
                <a:latin typeface="Calibri"/>
                <a:ea typeface="Calibri"/>
                <a:cs typeface="Calibri"/>
                <a:sym typeface="Calibri"/>
              </a:rPr>
              <a:t>: </a:t>
            </a:r>
            <a:r>
              <a:rPr lang="en-US" sz="950">
                <a:solidFill>
                  <a:srgbClr val="8FA3C8"/>
                </a:solidFill>
                <a:latin typeface="Calibri"/>
                <a:ea typeface="Calibri"/>
                <a:cs typeface="Calibri"/>
                <a:sym typeface="Calibri"/>
              </a:rPr>
              <a:t>Role, context, rules, format.</a:t>
            </a:r>
            <a:endParaRPr b="0" i="0" sz="950" u="none" cap="none" strike="noStrike">
              <a:solidFill>
                <a:schemeClr val="dk1"/>
              </a:solidFill>
              <a:latin typeface="Calibri"/>
              <a:ea typeface="Calibri"/>
              <a:cs typeface="Calibri"/>
              <a:sym typeface="Calibri"/>
            </a:endParaRPr>
          </a:p>
        </p:txBody>
      </p:sp>
      <p:sp>
        <p:nvSpPr>
          <p:cNvPr id="31" name="Google Shape;31;p2"/>
          <p:cNvSpPr/>
          <p:nvPr/>
        </p:nvSpPr>
        <p:spPr>
          <a:xfrm>
            <a:off x="3273552" y="1600200"/>
            <a:ext cx="2633472" cy="114300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3273552" y="1600200"/>
            <a:ext cx="54864" cy="1143000"/>
          </a:xfrm>
          <a:prstGeom prst="rect">
            <a:avLst/>
          </a:prstGeom>
          <a:solidFill>
            <a:srgbClr val="1D9E75"/>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3438144" y="1709928"/>
            <a:ext cx="23591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Temperature, </a:t>
            </a:r>
            <a:r>
              <a:rPr b="1" lang="en-US" sz="1100">
                <a:solidFill>
                  <a:schemeClr val="lt1"/>
                </a:solidFill>
                <a:latin typeface="Calibri"/>
                <a:ea typeface="Calibri"/>
                <a:cs typeface="Calibri"/>
                <a:sym typeface="Calibri"/>
              </a:rPr>
              <a:t>Reasoning &amp; Thinking</a:t>
            </a:r>
            <a:endParaRPr b="1" sz="1100">
              <a:solidFill>
                <a:srgbClr val="FFFFFF"/>
              </a:solidFill>
              <a:latin typeface="Calibri"/>
              <a:ea typeface="Calibri"/>
              <a:cs typeface="Calibri"/>
              <a:sym typeface="Calibri"/>
            </a:endParaRPr>
          </a:p>
        </p:txBody>
      </p:sp>
      <p:sp>
        <p:nvSpPr>
          <p:cNvPr id="34" name="Google Shape;34;p2"/>
          <p:cNvSpPr/>
          <p:nvPr/>
        </p:nvSpPr>
        <p:spPr>
          <a:xfrm>
            <a:off x="3438144" y="2011680"/>
            <a:ext cx="235915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lang="en-US" sz="950">
                <a:solidFill>
                  <a:srgbClr val="8FA3C8"/>
                </a:solidFill>
                <a:latin typeface="Calibri"/>
                <a:ea typeface="Calibri"/>
                <a:cs typeface="Calibri"/>
                <a:sym typeface="Calibri"/>
              </a:rPr>
              <a:t>low, medium, and high, </a:t>
            </a:r>
            <a:r>
              <a:rPr lang="en-US" sz="950">
                <a:solidFill>
                  <a:srgbClr val="8FA3C8"/>
                </a:solidFill>
                <a:latin typeface="Calibri"/>
                <a:ea typeface="Calibri"/>
                <a:cs typeface="Calibri"/>
                <a:sym typeface="Calibri"/>
              </a:rPr>
              <a:t>Chain of thought, thinking blocks, budget_tokens</a:t>
            </a:r>
            <a:endParaRPr b="0" i="0" sz="950" u="none" cap="none" strike="noStrike">
              <a:solidFill>
                <a:schemeClr val="dk1"/>
              </a:solidFill>
              <a:latin typeface="Calibri"/>
              <a:ea typeface="Calibri"/>
              <a:cs typeface="Calibri"/>
              <a:sym typeface="Calibri"/>
            </a:endParaRPr>
          </a:p>
        </p:txBody>
      </p:sp>
      <p:sp>
        <p:nvSpPr>
          <p:cNvPr id="35" name="Google Shape;35;p2"/>
          <p:cNvSpPr/>
          <p:nvPr/>
        </p:nvSpPr>
        <p:spPr>
          <a:xfrm>
            <a:off x="6089904" y="1600200"/>
            <a:ext cx="2633472" cy="114300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6089904" y="1600200"/>
            <a:ext cx="54864" cy="1143000"/>
          </a:xfrm>
          <a:prstGeom prst="rect">
            <a:avLst/>
          </a:prstGeom>
          <a:solidFill>
            <a:srgbClr val="BA7517"/>
          </a:solidFill>
          <a:ln cap="flat" cmpd="sng" w="12700">
            <a:solidFill>
              <a:srgbClr val="BA75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254496" y="1709928"/>
            <a:ext cx="2359152"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Calibri"/>
              <a:buNone/>
            </a:pPr>
            <a:r>
              <a:rPr b="1" lang="en-US" sz="1100">
                <a:solidFill>
                  <a:schemeClr val="lt1"/>
                </a:solidFill>
                <a:latin typeface="Calibri"/>
                <a:ea typeface="Calibri"/>
                <a:cs typeface="Calibri"/>
                <a:sym typeface="Calibri"/>
              </a:rPr>
              <a:t>Structured Output</a:t>
            </a:r>
            <a:endParaRPr b="1" sz="1100">
              <a:solidFill>
                <a:srgbClr val="FFFFFF"/>
              </a:solidFill>
              <a:latin typeface="Calibri"/>
              <a:ea typeface="Calibri"/>
              <a:cs typeface="Calibri"/>
              <a:sym typeface="Calibri"/>
            </a:endParaRPr>
          </a:p>
        </p:txBody>
      </p:sp>
      <p:sp>
        <p:nvSpPr>
          <p:cNvPr id="38" name="Google Shape;38;p2"/>
          <p:cNvSpPr/>
          <p:nvPr/>
        </p:nvSpPr>
        <p:spPr>
          <a:xfrm>
            <a:off x="6254496" y="2011680"/>
            <a:ext cx="23591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FA3C8"/>
              </a:buClr>
              <a:buSzPts val="950"/>
              <a:buFont typeface="Calibri"/>
              <a:buNone/>
            </a:pPr>
            <a:r>
              <a:rPr lang="en-US" sz="950">
                <a:solidFill>
                  <a:srgbClr val="8FA3C8"/>
                </a:solidFill>
                <a:latin typeface="Calibri"/>
                <a:ea typeface="Calibri"/>
                <a:cs typeface="Calibri"/>
                <a:sym typeface="Calibri"/>
              </a:rPr>
              <a:t>XML tags, JSON schema, validation + retry loop</a:t>
            </a:r>
            <a:endParaRPr sz="950">
              <a:solidFill>
                <a:schemeClr val="dk1"/>
              </a:solidFill>
              <a:latin typeface="Calibri"/>
              <a:ea typeface="Calibri"/>
              <a:cs typeface="Calibri"/>
              <a:sym typeface="Calibri"/>
            </a:endParaRPr>
          </a:p>
        </p:txBody>
      </p:sp>
      <p:sp>
        <p:nvSpPr>
          <p:cNvPr id="39" name="Google Shape;39;p2"/>
          <p:cNvSpPr/>
          <p:nvPr/>
        </p:nvSpPr>
        <p:spPr>
          <a:xfrm>
            <a:off x="457200" y="2898648"/>
            <a:ext cx="2633472" cy="114300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57200" y="2898648"/>
            <a:ext cx="54864" cy="114300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21792" y="3008376"/>
            <a:ext cx="2359152"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Calibri"/>
              <a:buNone/>
            </a:pPr>
            <a:r>
              <a:rPr b="1" lang="en-US" sz="1100">
                <a:solidFill>
                  <a:schemeClr val="lt1"/>
                </a:solidFill>
                <a:latin typeface="Calibri"/>
                <a:ea typeface="Calibri"/>
                <a:cs typeface="Calibri"/>
                <a:sym typeface="Calibri"/>
              </a:rPr>
              <a:t>Prompt Evaluation</a:t>
            </a:r>
            <a:endParaRPr sz="1100">
              <a:solidFill>
                <a:schemeClr val="dk1"/>
              </a:solidFill>
              <a:latin typeface="Calibri"/>
              <a:ea typeface="Calibri"/>
              <a:cs typeface="Calibri"/>
              <a:sym typeface="Calibri"/>
            </a:endParaRPr>
          </a:p>
        </p:txBody>
      </p:sp>
      <p:sp>
        <p:nvSpPr>
          <p:cNvPr id="42" name="Google Shape;42;p2"/>
          <p:cNvSpPr/>
          <p:nvPr/>
        </p:nvSpPr>
        <p:spPr>
          <a:xfrm>
            <a:off x="621792" y="3310128"/>
            <a:ext cx="23591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FA3C8"/>
              </a:buClr>
              <a:buSzPts val="950"/>
              <a:buFont typeface="Calibri"/>
              <a:buNone/>
            </a:pPr>
            <a:r>
              <a:rPr lang="en-US" sz="950">
                <a:solidFill>
                  <a:srgbClr val="8FA3C8"/>
                </a:solidFill>
                <a:latin typeface="Calibri"/>
                <a:ea typeface="Calibri"/>
                <a:cs typeface="Calibri"/>
                <a:sym typeface="Calibri"/>
              </a:rPr>
              <a:t>options available to do after writing a prompt, evaluation workflow, graders, evaluation criteria</a:t>
            </a:r>
            <a:endParaRPr sz="950">
              <a:solidFill>
                <a:srgbClr val="8FA3C8"/>
              </a:solidFill>
              <a:latin typeface="Calibri"/>
              <a:ea typeface="Calibri"/>
              <a:cs typeface="Calibri"/>
              <a:sym typeface="Calibri"/>
            </a:endParaRPr>
          </a:p>
        </p:txBody>
      </p:sp>
      <p:sp>
        <p:nvSpPr>
          <p:cNvPr id="43" name="Google Shape;43;p2"/>
          <p:cNvSpPr/>
          <p:nvPr/>
        </p:nvSpPr>
        <p:spPr>
          <a:xfrm>
            <a:off x="3273552" y="2898648"/>
            <a:ext cx="2633472" cy="114300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3273552" y="2898648"/>
            <a:ext cx="54864" cy="1143000"/>
          </a:xfrm>
          <a:prstGeom prst="rect">
            <a:avLst/>
          </a:prstGeom>
          <a:solidFill>
            <a:srgbClr val="1D9E75"/>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438144" y="3008376"/>
            <a:ext cx="2359152"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Calibri"/>
              <a:buNone/>
            </a:pPr>
            <a:r>
              <a:rPr b="1" lang="en-US" sz="1100">
                <a:solidFill>
                  <a:schemeClr val="lt1"/>
                </a:solidFill>
                <a:latin typeface="Calibri"/>
                <a:ea typeface="Calibri"/>
                <a:cs typeface="Calibri"/>
                <a:sym typeface="Calibri"/>
              </a:rPr>
              <a:t>Prompt Engineering Technique</a:t>
            </a:r>
            <a:endParaRPr b="0" i="0" sz="1100" u="none" cap="none" strike="noStrike">
              <a:solidFill>
                <a:schemeClr val="dk1"/>
              </a:solidFill>
              <a:latin typeface="Calibri"/>
              <a:ea typeface="Calibri"/>
              <a:cs typeface="Calibri"/>
              <a:sym typeface="Calibri"/>
            </a:endParaRPr>
          </a:p>
        </p:txBody>
      </p:sp>
      <p:sp>
        <p:nvSpPr>
          <p:cNvPr id="46" name="Google Shape;46;p2"/>
          <p:cNvSpPr/>
          <p:nvPr/>
        </p:nvSpPr>
        <p:spPr>
          <a:xfrm>
            <a:off x="3411563" y="3291875"/>
            <a:ext cx="24123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lang="en-US" sz="950">
                <a:solidFill>
                  <a:srgbClr val="8FA3C8"/>
                </a:solidFill>
                <a:latin typeface="Calibri"/>
                <a:ea typeface="Calibri"/>
                <a:cs typeface="Calibri"/>
                <a:sym typeface="Calibri"/>
              </a:rPr>
              <a:t>clear and direct, being specific, using structured XML tags, providing examples,</a:t>
            </a:r>
            <a:endParaRPr sz="950">
              <a:solidFill>
                <a:srgbClr val="8FA3C8"/>
              </a:solidFill>
              <a:latin typeface="Calibri"/>
              <a:ea typeface="Calibri"/>
              <a:cs typeface="Calibri"/>
              <a:sym typeface="Calibri"/>
            </a:endParaRPr>
          </a:p>
        </p:txBody>
      </p:sp>
      <p:sp>
        <p:nvSpPr>
          <p:cNvPr id="47" name="Google Shape;47;p2"/>
          <p:cNvSpPr/>
          <p:nvPr/>
        </p:nvSpPr>
        <p:spPr>
          <a:xfrm>
            <a:off x="6089904" y="2898648"/>
            <a:ext cx="2633472" cy="114300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6089904" y="2898648"/>
            <a:ext cx="54864" cy="1143000"/>
          </a:xfrm>
          <a:prstGeom prst="rect">
            <a:avLst/>
          </a:prstGeom>
          <a:solidFill>
            <a:srgbClr val="BA7517"/>
          </a:solidFill>
          <a:ln cap="flat" cmpd="sng" w="12700">
            <a:solidFill>
              <a:srgbClr val="BA75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6254496" y="3008376"/>
            <a:ext cx="23591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chemeClr val="lt1"/>
                </a:solidFill>
                <a:latin typeface="Calibri"/>
                <a:ea typeface="Calibri"/>
                <a:cs typeface="Calibri"/>
                <a:sym typeface="Calibri"/>
              </a:rPr>
              <a:t>Prompt Caching</a:t>
            </a:r>
            <a:endParaRPr b="1" sz="1100">
              <a:solidFill>
                <a:srgbClr val="FFFFFF"/>
              </a:solidFill>
              <a:latin typeface="Calibri"/>
              <a:ea typeface="Calibri"/>
              <a:cs typeface="Calibri"/>
              <a:sym typeface="Calibri"/>
            </a:endParaRPr>
          </a:p>
        </p:txBody>
      </p:sp>
      <p:sp>
        <p:nvSpPr>
          <p:cNvPr id="50" name="Google Shape;50;p2"/>
          <p:cNvSpPr/>
          <p:nvPr/>
        </p:nvSpPr>
        <p:spPr>
          <a:xfrm>
            <a:off x="6254496" y="3310128"/>
            <a:ext cx="2359152"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FA3C8"/>
              </a:buClr>
              <a:buSzPts val="950"/>
              <a:buFont typeface="Calibri"/>
              <a:buNone/>
            </a:pPr>
            <a:r>
              <a:rPr lang="en-US" sz="950">
                <a:solidFill>
                  <a:srgbClr val="8FA3C8"/>
                </a:solidFill>
                <a:latin typeface="Calibri"/>
                <a:ea typeface="Calibri"/>
                <a:cs typeface="Calibri"/>
                <a:sym typeface="Calibri"/>
              </a:rPr>
              <a:t>how it works, </a:t>
            </a:r>
            <a:r>
              <a:rPr lang="en-US" sz="950">
                <a:solidFill>
                  <a:srgbClr val="8FA3C8"/>
                </a:solidFill>
                <a:latin typeface="Calibri"/>
                <a:ea typeface="Calibri"/>
                <a:cs typeface="Calibri"/>
                <a:sym typeface="Calibri"/>
              </a:rPr>
              <a:t>cache_control, cost model</a:t>
            </a:r>
            <a:endParaRPr b="0" i="0" sz="950" u="none" cap="none" strike="noStrike">
              <a:solidFill>
                <a:schemeClr val="dk1"/>
              </a:solidFill>
              <a:latin typeface="Calibri"/>
              <a:ea typeface="Calibri"/>
              <a:cs typeface="Calibri"/>
              <a:sym typeface="Calibri"/>
            </a:endParaRPr>
          </a:p>
        </p:txBody>
      </p:sp>
      <p:sp>
        <p:nvSpPr>
          <p:cNvPr id="51" name="Google Shape;51;p2"/>
          <p:cNvSpPr/>
          <p:nvPr/>
        </p:nvSpPr>
        <p:spPr>
          <a:xfrm>
            <a:off x="8796528" y="1508760"/>
            <a:ext cx="73152" cy="3383280"/>
          </a:xfrm>
          <a:prstGeom prst="rect">
            <a:avLst/>
          </a:prstGeom>
          <a:solidFill>
            <a:srgbClr val="1D9E75"/>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0" y="4572000"/>
            <a:ext cx="9144000" cy="566928"/>
          </a:xfrm>
          <a:prstGeom prst="rect">
            <a:avLst/>
          </a:prstGeom>
          <a:solidFill>
            <a:srgbClr val="243050"/>
          </a:solidFill>
          <a:ln cap="flat" cmpd="sng" w="12700">
            <a:solidFill>
              <a:srgbClr val="24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57" name="Shape 57"/>
        <p:cNvGrpSpPr/>
        <p:nvPr/>
      </p:nvGrpSpPr>
      <p:grpSpPr>
        <a:xfrm>
          <a:off x="0" y="0"/>
          <a:ext cx="0" cy="0"/>
          <a:chOff x="0" y="0"/>
          <a:chExt cx="0" cy="0"/>
        </a:xfrm>
      </p:grpSpPr>
      <p:sp>
        <p:nvSpPr>
          <p:cNvPr id="58" name="Google Shape;58;p3"/>
          <p:cNvSpPr/>
          <p:nvPr/>
        </p:nvSpPr>
        <p:spPr>
          <a:xfrm>
            <a:off x="457200" y="5943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Anatomy of a Claude API Call</a:t>
            </a:r>
            <a:endParaRPr b="0" i="0" sz="2800" u="none" cap="none" strike="noStrike">
              <a:solidFill>
                <a:schemeClr val="dk1"/>
              </a:solidFill>
              <a:latin typeface="Calibri"/>
              <a:ea typeface="Calibri"/>
              <a:cs typeface="Calibri"/>
              <a:sym typeface="Calibri"/>
            </a:endParaRPr>
          </a:p>
        </p:txBody>
      </p:sp>
      <p:sp>
        <p:nvSpPr>
          <p:cNvPr id="59" name="Google Shape;59;p3"/>
          <p:cNvSpPr/>
          <p:nvPr/>
        </p:nvSpPr>
        <p:spPr>
          <a:xfrm>
            <a:off x="457200" y="118872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1300"/>
              <a:buFont typeface="Calibri"/>
              <a:buNone/>
            </a:pPr>
            <a:r>
              <a:rPr b="0" i="0" lang="en-US" sz="1300" u="none" cap="none" strike="noStrike">
                <a:solidFill>
                  <a:srgbClr val="8FA3C8"/>
                </a:solidFill>
                <a:latin typeface="Calibri"/>
                <a:ea typeface="Calibri"/>
                <a:cs typeface="Calibri"/>
                <a:sym typeface="Calibri"/>
              </a:rPr>
              <a:t>Three components — distinct roles, distinct priority order</a:t>
            </a:r>
            <a:endParaRPr b="0" i="0" sz="1300" u="none" cap="none" strike="noStrike">
              <a:solidFill>
                <a:schemeClr val="dk1"/>
              </a:solidFill>
              <a:latin typeface="Calibri"/>
              <a:ea typeface="Calibri"/>
              <a:cs typeface="Calibri"/>
              <a:sym typeface="Calibri"/>
            </a:endParaRPr>
          </a:p>
        </p:txBody>
      </p:sp>
      <p:sp>
        <p:nvSpPr>
          <p:cNvPr id="60" name="Google Shape;60;p3"/>
          <p:cNvSpPr/>
          <p:nvPr/>
        </p:nvSpPr>
        <p:spPr>
          <a:xfrm>
            <a:off x="8046720" y="4800600"/>
            <a:ext cx="9144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61" name="Google Shape;61;p3"/>
          <p:cNvSpPr/>
          <p:nvPr/>
        </p:nvSpPr>
        <p:spPr>
          <a:xfrm>
            <a:off x="457200" y="1572768"/>
            <a:ext cx="2624328" cy="283464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457200" y="1572768"/>
            <a:ext cx="2624328" cy="365760"/>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566928" y="1572768"/>
            <a:ext cx="24048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①  System Prompt</a:t>
            </a:r>
            <a:endParaRPr b="0" i="0" sz="1300" u="none" cap="none" strike="noStrike">
              <a:solidFill>
                <a:schemeClr val="dk1"/>
              </a:solidFill>
              <a:latin typeface="Calibri"/>
              <a:ea typeface="Calibri"/>
              <a:cs typeface="Calibri"/>
              <a:sym typeface="Calibri"/>
            </a:endParaRPr>
          </a:p>
        </p:txBody>
      </p:sp>
      <p:sp>
        <p:nvSpPr>
          <p:cNvPr id="64" name="Google Shape;64;p3"/>
          <p:cNvSpPr/>
          <p:nvPr/>
        </p:nvSpPr>
        <p:spPr>
          <a:xfrm>
            <a:off x="566928" y="1993392"/>
            <a:ext cx="2404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00"/>
              <a:buFont typeface="Calibri"/>
              <a:buNone/>
            </a:pPr>
            <a:r>
              <a:rPr b="0" i="1" lang="en-US" sz="900" u="none" cap="none" strike="noStrike">
                <a:solidFill>
                  <a:srgbClr val="8FA3C8"/>
                </a:solidFill>
                <a:latin typeface="Calibri"/>
                <a:ea typeface="Calibri"/>
                <a:cs typeface="Calibri"/>
                <a:sym typeface="Calibri"/>
              </a:rPr>
              <a:t>Static · Cached · Highest priority</a:t>
            </a:r>
            <a:endParaRPr b="0" i="0" sz="900" u="none" cap="none" strike="noStrike">
              <a:solidFill>
                <a:schemeClr val="dk1"/>
              </a:solidFill>
              <a:latin typeface="Calibri"/>
              <a:ea typeface="Calibri"/>
              <a:cs typeface="Calibri"/>
              <a:sym typeface="Calibri"/>
            </a:endParaRPr>
          </a:p>
        </p:txBody>
      </p:sp>
      <p:sp>
        <p:nvSpPr>
          <p:cNvPr id="65" name="Google Shape;65;p3"/>
          <p:cNvSpPr/>
          <p:nvPr/>
        </p:nvSpPr>
        <p:spPr>
          <a:xfrm>
            <a:off x="566928" y="2304288"/>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4AB7"/>
              </a:buClr>
              <a:buSzPts val="1050"/>
              <a:buFont typeface="Calibri"/>
              <a:buNone/>
            </a:pPr>
            <a:r>
              <a:rPr b="1" i="0" lang="en-US" sz="1050" u="none" cap="none" strike="noStrike">
                <a:solidFill>
                  <a:srgbClr val="534AB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Sets role, context, rules, format</a:t>
            </a:r>
            <a:endParaRPr b="0" i="0" sz="1050" u="none" cap="none" strike="noStrike">
              <a:solidFill>
                <a:schemeClr val="dk1"/>
              </a:solidFill>
              <a:latin typeface="Calibri"/>
              <a:ea typeface="Calibri"/>
              <a:cs typeface="Calibri"/>
              <a:sym typeface="Calibri"/>
            </a:endParaRPr>
          </a:p>
        </p:txBody>
      </p:sp>
      <p:sp>
        <p:nvSpPr>
          <p:cNvPr id="66" name="Google Shape;66;p3"/>
          <p:cNvSpPr/>
          <p:nvPr/>
        </p:nvSpPr>
        <p:spPr>
          <a:xfrm>
            <a:off x="566928" y="2633472"/>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4AB7"/>
              </a:buClr>
              <a:buSzPts val="1050"/>
              <a:buFont typeface="Calibri"/>
              <a:buNone/>
            </a:pPr>
            <a:r>
              <a:rPr b="1" i="0" lang="en-US" sz="1050" u="none" cap="none" strike="noStrike">
                <a:solidFill>
                  <a:srgbClr val="534AB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Applies to every user message</a:t>
            </a:r>
            <a:endParaRPr b="0" i="0" sz="1050" u="none" cap="none" strike="noStrike">
              <a:solidFill>
                <a:schemeClr val="dk1"/>
              </a:solidFill>
              <a:latin typeface="Calibri"/>
              <a:ea typeface="Calibri"/>
              <a:cs typeface="Calibri"/>
              <a:sym typeface="Calibri"/>
            </a:endParaRPr>
          </a:p>
        </p:txBody>
      </p:sp>
      <p:sp>
        <p:nvSpPr>
          <p:cNvPr id="67" name="Google Shape;67;p3"/>
          <p:cNvSpPr/>
          <p:nvPr/>
        </p:nvSpPr>
        <p:spPr>
          <a:xfrm>
            <a:off x="566928" y="2962656"/>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4AB7"/>
              </a:buClr>
              <a:buSzPts val="1050"/>
              <a:buFont typeface="Calibri"/>
              <a:buNone/>
            </a:pPr>
            <a:r>
              <a:rPr b="1" i="0" lang="en-US" sz="1050" u="none" cap="none" strike="noStrike">
                <a:solidFill>
                  <a:srgbClr val="534AB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Contradictions: system wins</a:t>
            </a:r>
            <a:endParaRPr b="0" i="0" sz="1050" u="none" cap="none" strike="noStrike">
              <a:solidFill>
                <a:schemeClr val="dk1"/>
              </a:solidFill>
              <a:latin typeface="Calibri"/>
              <a:ea typeface="Calibri"/>
              <a:cs typeface="Calibri"/>
              <a:sym typeface="Calibri"/>
            </a:endParaRPr>
          </a:p>
        </p:txBody>
      </p:sp>
      <p:sp>
        <p:nvSpPr>
          <p:cNvPr id="68" name="Google Shape;68;p3"/>
          <p:cNvSpPr/>
          <p:nvPr/>
        </p:nvSpPr>
        <p:spPr>
          <a:xfrm>
            <a:off x="566928" y="3291840"/>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4AB7"/>
              </a:buClr>
              <a:buSzPts val="1050"/>
              <a:buFont typeface="Calibri"/>
              <a:buNone/>
            </a:pPr>
            <a:r>
              <a:rPr b="1" i="0" lang="en-US" sz="1050" u="none" cap="none" strike="noStrike">
                <a:solidFill>
                  <a:srgbClr val="534AB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Put format instructions HERE</a:t>
            </a:r>
            <a:endParaRPr b="0" i="0" sz="1050" u="none" cap="none" strike="noStrike">
              <a:solidFill>
                <a:schemeClr val="dk1"/>
              </a:solidFill>
              <a:latin typeface="Calibri"/>
              <a:ea typeface="Calibri"/>
              <a:cs typeface="Calibri"/>
              <a:sym typeface="Calibri"/>
            </a:endParaRPr>
          </a:p>
        </p:txBody>
      </p:sp>
      <p:sp>
        <p:nvSpPr>
          <p:cNvPr id="69" name="Google Shape;69;p3"/>
          <p:cNvSpPr/>
          <p:nvPr/>
        </p:nvSpPr>
        <p:spPr>
          <a:xfrm>
            <a:off x="3264408" y="1572768"/>
            <a:ext cx="2624328" cy="283464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3264408" y="1572768"/>
            <a:ext cx="2624328" cy="365760"/>
          </a:xfrm>
          <a:prstGeom prst="rect">
            <a:avLst/>
          </a:prstGeom>
          <a:solidFill>
            <a:srgbClr val="1D9E75"/>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3374136" y="1572768"/>
            <a:ext cx="24048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②  Human Turn</a:t>
            </a:r>
            <a:endParaRPr b="0" i="0" sz="1300" u="none" cap="none" strike="noStrike">
              <a:solidFill>
                <a:schemeClr val="dk1"/>
              </a:solidFill>
              <a:latin typeface="Calibri"/>
              <a:ea typeface="Calibri"/>
              <a:cs typeface="Calibri"/>
              <a:sym typeface="Calibri"/>
            </a:endParaRPr>
          </a:p>
        </p:txBody>
      </p:sp>
      <p:sp>
        <p:nvSpPr>
          <p:cNvPr id="72" name="Google Shape;72;p3"/>
          <p:cNvSpPr/>
          <p:nvPr/>
        </p:nvSpPr>
        <p:spPr>
          <a:xfrm>
            <a:off x="3374136" y="1993392"/>
            <a:ext cx="2404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00"/>
              <a:buFont typeface="Calibri"/>
              <a:buNone/>
            </a:pPr>
            <a:r>
              <a:rPr b="0" i="1" lang="en-US" sz="900" u="none" cap="none" strike="noStrike">
                <a:solidFill>
                  <a:srgbClr val="8FA3C8"/>
                </a:solidFill>
                <a:latin typeface="Calibri"/>
                <a:ea typeface="Calibri"/>
                <a:cs typeface="Calibri"/>
                <a:sym typeface="Calibri"/>
              </a:rPr>
              <a:t>Variable · Per request · Task-specific</a:t>
            </a:r>
            <a:endParaRPr b="0" i="0" sz="900" u="none" cap="none" strike="noStrike">
              <a:solidFill>
                <a:schemeClr val="dk1"/>
              </a:solidFill>
              <a:latin typeface="Calibri"/>
              <a:ea typeface="Calibri"/>
              <a:cs typeface="Calibri"/>
              <a:sym typeface="Calibri"/>
            </a:endParaRPr>
          </a:p>
        </p:txBody>
      </p:sp>
      <p:sp>
        <p:nvSpPr>
          <p:cNvPr id="73" name="Google Shape;73;p3"/>
          <p:cNvSpPr/>
          <p:nvPr/>
        </p:nvSpPr>
        <p:spPr>
          <a:xfrm>
            <a:off x="3374136" y="2304288"/>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50"/>
              <a:buFont typeface="Calibri"/>
              <a:buNone/>
            </a:pPr>
            <a:r>
              <a:rPr b="1" i="0" lang="en-US" sz="1050" u="none" cap="none" strike="noStrike">
                <a:solidFill>
                  <a:srgbClr val="1D9E75"/>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Only what changes per query</a:t>
            </a:r>
            <a:endParaRPr b="0" i="0" sz="1050" u="none" cap="none" strike="noStrike">
              <a:solidFill>
                <a:schemeClr val="dk1"/>
              </a:solidFill>
              <a:latin typeface="Calibri"/>
              <a:ea typeface="Calibri"/>
              <a:cs typeface="Calibri"/>
              <a:sym typeface="Calibri"/>
            </a:endParaRPr>
          </a:p>
        </p:txBody>
      </p:sp>
      <p:sp>
        <p:nvSpPr>
          <p:cNvPr id="74" name="Google Shape;74;p3"/>
          <p:cNvSpPr/>
          <p:nvPr/>
        </p:nvSpPr>
        <p:spPr>
          <a:xfrm>
            <a:off x="3374136" y="2633472"/>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50"/>
              <a:buFont typeface="Calibri"/>
              <a:buNone/>
            </a:pPr>
            <a:r>
              <a:rPr b="1" i="0" lang="en-US" sz="1050" u="none" cap="none" strike="noStrike">
                <a:solidFill>
                  <a:srgbClr val="1D9E75"/>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The user's specific question/task</a:t>
            </a:r>
            <a:endParaRPr b="0" i="0" sz="1050" u="none" cap="none" strike="noStrike">
              <a:solidFill>
                <a:schemeClr val="dk1"/>
              </a:solidFill>
              <a:latin typeface="Calibri"/>
              <a:ea typeface="Calibri"/>
              <a:cs typeface="Calibri"/>
              <a:sym typeface="Calibri"/>
            </a:endParaRPr>
          </a:p>
        </p:txBody>
      </p:sp>
      <p:sp>
        <p:nvSpPr>
          <p:cNvPr id="75" name="Google Shape;75;p3"/>
          <p:cNvSpPr/>
          <p:nvPr/>
        </p:nvSpPr>
        <p:spPr>
          <a:xfrm>
            <a:off x="3374136" y="2962656"/>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50"/>
              <a:buFont typeface="Calibri"/>
              <a:buNone/>
            </a:pPr>
            <a:r>
              <a:rPr b="1" i="0" lang="en-US" sz="1050" u="none" cap="none" strike="noStrike">
                <a:solidFill>
                  <a:srgbClr val="1D9E75"/>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Does NOT override system rules</a:t>
            </a:r>
            <a:endParaRPr b="0" i="0" sz="1050" u="none" cap="none" strike="noStrike">
              <a:solidFill>
                <a:schemeClr val="dk1"/>
              </a:solidFill>
              <a:latin typeface="Calibri"/>
              <a:ea typeface="Calibri"/>
              <a:cs typeface="Calibri"/>
              <a:sym typeface="Calibri"/>
            </a:endParaRPr>
          </a:p>
        </p:txBody>
      </p:sp>
      <p:sp>
        <p:nvSpPr>
          <p:cNvPr id="76" name="Google Shape;76;p3"/>
          <p:cNvSpPr/>
          <p:nvPr/>
        </p:nvSpPr>
        <p:spPr>
          <a:xfrm>
            <a:off x="3374136" y="3291840"/>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50"/>
              <a:buFont typeface="Calibri"/>
              <a:buNone/>
            </a:pPr>
            <a:r>
              <a:rPr b="1" i="0" lang="en-US" sz="1050" u="none" cap="none" strike="noStrike">
                <a:solidFill>
                  <a:srgbClr val="1D9E75"/>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Do not repeat format instructions</a:t>
            </a:r>
            <a:endParaRPr b="0" i="0" sz="1050" u="none" cap="none" strike="noStrike">
              <a:solidFill>
                <a:schemeClr val="dk1"/>
              </a:solidFill>
              <a:latin typeface="Calibri"/>
              <a:ea typeface="Calibri"/>
              <a:cs typeface="Calibri"/>
              <a:sym typeface="Calibri"/>
            </a:endParaRPr>
          </a:p>
        </p:txBody>
      </p:sp>
      <p:sp>
        <p:nvSpPr>
          <p:cNvPr id="77" name="Google Shape;77;p3"/>
          <p:cNvSpPr/>
          <p:nvPr/>
        </p:nvSpPr>
        <p:spPr>
          <a:xfrm>
            <a:off x="6071616" y="1572768"/>
            <a:ext cx="2624328" cy="283464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6071616" y="1572768"/>
            <a:ext cx="2624328" cy="365760"/>
          </a:xfrm>
          <a:prstGeom prst="rect">
            <a:avLst/>
          </a:prstGeom>
          <a:solidFill>
            <a:srgbClr val="BA7517"/>
          </a:solidFill>
          <a:ln cap="flat" cmpd="sng" w="12700">
            <a:solidFill>
              <a:srgbClr val="BA75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6181344" y="1572768"/>
            <a:ext cx="24048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③  Assistant Prefill</a:t>
            </a:r>
            <a:endParaRPr b="0" i="0" sz="1300" u="none" cap="none" strike="noStrike">
              <a:solidFill>
                <a:schemeClr val="dk1"/>
              </a:solidFill>
              <a:latin typeface="Calibri"/>
              <a:ea typeface="Calibri"/>
              <a:cs typeface="Calibri"/>
              <a:sym typeface="Calibri"/>
            </a:endParaRPr>
          </a:p>
        </p:txBody>
      </p:sp>
      <p:sp>
        <p:nvSpPr>
          <p:cNvPr id="80" name="Google Shape;80;p3"/>
          <p:cNvSpPr/>
          <p:nvPr/>
        </p:nvSpPr>
        <p:spPr>
          <a:xfrm>
            <a:off x="6181344" y="1993392"/>
            <a:ext cx="2404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00"/>
              <a:buFont typeface="Calibri"/>
              <a:buNone/>
            </a:pPr>
            <a:r>
              <a:rPr b="0" i="1" lang="en-US" sz="900" u="none" cap="none" strike="noStrike">
                <a:solidFill>
                  <a:srgbClr val="8FA3C8"/>
                </a:solidFill>
                <a:latin typeface="Calibri"/>
                <a:ea typeface="Calibri"/>
                <a:cs typeface="Calibri"/>
                <a:sym typeface="Calibri"/>
              </a:rPr>
              <a:t>API-only · Format constraint</a:t>
            </a:r>
            <a:endParaRPr b="0" i="0" sz="900" u="none" cap="none" strike="noStrike">
              <a:solidFill>
                <a:schemeClr val="dk1"/>
              </a:solidFill>
              <a:latin typeface="Calibri"/>
              <a:ea typeface="Calibri"/>
              <a:cs typeface="Calibri"/>
              <a:sym typeface="Calibri"/>
            </a:endParaRPr>
          </a:p>
        </p:txBody>
      </p:sp>
      <p:sp>
        <p:nvSpPr>
          <p:cNvPr id="81" name="Google Shape;81;p3"/>
          <p:cNvSpPr/>
          <p:nvPr/>
        </p:nvSpPr>
        <p:spPr>
          <a:xfrm>
            <a:off x="6181344" y="2304288"/>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7517"/>
              </a:buClr>
              <a:buSzPts val="1050"/>
              <a:buFont typeface="Calibri"/>
              <a:buNone/>
            </a:pPr>
            <a:r>
              <a:rPr b="1" i="0" lang="en-US" sz="1050" u="none" cap="none" strike="noStrike">
                <a:solidFill>
                  <a:srgbClr val="BA751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Provide opening characters: { " }</a:t>
            </a:r>
            <a:endParaRPr b="0" i="0" sz="1050" u="none" cap="none" strike="noStrike">
              <a:solidFill>
                <a:schemeClr val="dk1"/>
              </a:solidFill>
              <a:latin typeface="Calibri"/>
              <a:ea typeface="Calibri"/>
              <a:cs typeface="Calibri"/>
              <a:sym typeface="Calibri"/>
            </a:endParaRPr>
          </a:p>
        </p:txBody>
      </p:sp>
      <p:sp>
        <p:nvSpPr>
          <p:cNvPr id="82" name="Google Shape;82;p3"/>
          <p:cNvSpPr/>
          <p:nvPr/>
        </p:nvSpPr>
        <p:spPr>
          <a:xfrm>
            <a:off x="6181344" y="2633472"/>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7517"/>
              </a:buClr>
              <a:buSzPts val="1050"/>
              <a:buFont typeface="Calibri"/>
              <a:buNone/>
            </a:pPr>
            <a:r>
              <a:rPr b="1" i="0" lang="en-US" sz="1050" u="none" cap="none" strike="noStrike">
                <a:solidFill>
                  <a:srgbClr val="BA751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Forces response to begin with JSON</a:t>
            </a:r>
            <a:endParaRPr b="0" i="0" sz="1050" u="none" cap="none" strike="noStrike">
              <a:solidFill>
                <a:schemeClr val="dk1"/>
              </a:solidFill>
              <a:latin typeface="Calibri"/>
              <a:ea typeface="Calibri"/>
              <a:cs typeface="Calibri"/>
              <a:sym typeface="Calibri"/>
            </a:endParaRPr>
          </a:p>
        </p:txBody>
      </p:sp>
      <p:sp>
        <p:nvSpPr>
          <p:cNvPr id="83" name="Google Shape;83;p3"/>
          <p:cNvSpPr/>
          <p:nvPr/>
        </p:nvSpPr>
        <p:spPr>
          <a:xfrm>
            <a:off x="6181344" y="2962656"/>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7517"/>
              </a:buClr>
              <a:buSzPts val="1050"/>
              <a:buFont typeface="Calibri"/>
              <a:buNone/>
            </a:pPr>
            <a:r>
              <a:rPr b="1" i="0" lang="en-US" sz="1050" u="none" cap="none" strike="noStrike">
                <a:solidFill>
                  <a:srgbClr val="BA751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Claude cannot add preamble text</a:t>
            </a:r>
            <a:endParaRPr b="0" i="0" sz="1050" u="none" cap="none" strike="noStrike">
              <a:solidFill>
                <a:schemeClr val="dk1"/>
              </a:solidFill>
              <a:latin typeface="Calibri"/>
              <a:ea typeface="Calibri"/>
              <a:cs typeface="Calibri"/>
              <a:sym typeface="Calibri"/>
            </a:endParaRPr>
          </a:p>
        </p:txBody>
      </p:sp>
      <p:sp>
        <p:nvSpPr>
          <p:cNvPr id="84" name="Google Shape;84;p3"/>
          <p:cNvSpPr/>
          <p:nvPr/>
        </p:nvSpPr>
        <p:spPr>
          <a:xfrm>
            <a:off x="6181344" y="3291840"/>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7517"/>
              </a:buClr>
              <a:buSzPts val="1050"/>
              <a:buFont typeface="Calibri"/>
              <a:buNone/>
            </a:pPr>
            <a:r>
              <a:rPr b="1" i="0" lang="en-US" sz="1050" u="none" cap="none" strike="noStrike">
                <a:solidFill>
                  <a:srgbClr val="BA751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Most reliable format enforcement</a:t>
            </a:r>
            <a:endParaRPr b="0" i="0" sz="1050" u="none" cap="none" strike="noStrike">
              <a:solidFill>
                <a:schemeClr val="dk1"/>
              </a:solidFill>
              <a:latin typeface="Calibri"/>
              <a:ea typeface="Calibri"/>
              <a:cs typeface="Calibri"/>
              <a:sym typeface="Calibri"/>
            </a:endParaRPr>
          </a:p>
        </p:txBody>
      </p:sp>
      <p:sp>
        <p:nvSpPr>
          <p:cNvPr id="85" name="Google Shape;85;p3"/>
          <p:cNvSpPr/>
          <p:nvPr/>
        </p:nvSpPr>
        <p:spPr>
          <a:xfrm>
            <a:off x="457200" y="4462272"/>
            <a:ext cx="8229600" cy="347472"/>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640080" y="4480560"/>
            <a:ext cx="78638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1100"/>
              <a:buFont typeface="Calibri"/>
              <a:buNone/>
            </a:pPr>
            <a:r>
              <a:rPr b="0" i="0" lang="en-US" sz="1100" u="none" cap="none" strike="noStrike">
                <a:solidFill>
                  <a:srgbClr val="8FA3C8"/>
                </a:solidFill>
                <a:latin typeface="Calibri"/>
                <a:ea typeface="Calibri"/>
                <a:cs typeface="Calibri"/>
                <a:sym typeface="Calibri"/>
              </a:rPr>
              <a:t>Priority order: </a:t>
            </a:r>
            <a:r>
              <a:rPr b="1" i="0" lang="en-US" sz="1100" u="none" cap="none" strike="noStrike">
                <a:solidFill>
                  <a:srgbClr val="AFA9EC"/>
                </a:solidFill>
                <a:latin typeface="Calibri"/>
                <a:ea typeface="Calibri"/>
                <a:cs typeface="Calibri"/>
                <a:sym typeface="Calibri"/>
              </a:rPr>
              <a:t>System Prompt</a:t>
            </a:r>
            <a:r>
              <a:rPr b="0" i="0" lang="en-US" sz="1100" u="none" cap="none" strike="noStrike">
                <a:solidFill>
                  <a:srgbClr val="4A5E80"/>
                </a:solidFill>
                <a:latin typeface="Calibri"/>
                <a:ea typeface="Calibri"/>
                <a:cs typeface="Calibri"/>
                <a:sym typeface="Calibri"/>
              </a:rPr>
              <a:t> &gt;</a:t>
            </a:r>
            <a:r>
              <a:rPr b="0" i="0" lang="en-US" sz="1100" u="none" cap="none" strike="noStrike">
                <a:solidFill>
                  <a:schemeClr val="accent6"/>
                </a:solidFill>
                <a:latin typeface="Calibri"/>
                <a:ea typeface="Calibri"/>
                <a:cs typeface="Calibri"/>
                <a:sym typeface="Calibri"/>
              </a:rPr>
              <a:t> </a:t>
            </a:r>
            <a:r>
              <a:rPr b="1" i="0" lang="en-US" sz="1100" u="none" cap="none" strike="noStrike">
                <a:solidFill>
                  <a:srgbClr val="1D9E75"/>
                </a:solidFill>
                <a:latin typeface="Calibri"/>
                <a:ea typeface="Calibri"/>
                <a:cs typeface="Calibri"/>
                <a:sym typeface="Calibri"/>
              </a:rPr>
              <a:t>Human Turn</a:t>
            </a:r>
            <a:r>
              <a:rPr b="0" i="0" lang="en-US" sz="1100" u="none" cap="none" strike="noStrike">
                <a:solidFill>
                  <a:srgbClr val="4A5E80"/>
                </a:solidFill>
                <a:latin typeface="Calibri"/>
                <a:ea typeface="Calibri"/>
                <a:cs typeface="Calibri"/>
                <a:sym typeface="Calibri"/>
              </a:rPr>
              <a:t> &gt; </a:t>
            </a:r>
            <a:r>
              <a:rPr b="1" i="0" lang="en-US" sz="1100" u="none" cap="none" strike="noStrike">
                <a:solidFill>
                  <a:srgbClr val="BA7517"/>
                </a:solidFill>
                <a:latin typeface="Calibri"/>
                <a:ea typeface="Calibri"/>
                <a:cs typeface="Calibri"/>
                <a:sym typeface="Calibri"/>
              </a:rPr>
              <a:t>Assistant Prefill</a:t>
            </a:r>
            <a:r>
              <a:rPr b="0" i="0" lang="en-US" sz="1100" u="none" cap="none" strike="noStrike">
                <a:solidFill>
                  <a:srgbClr val="4A5E80"/>
                </a:solidFill>
                <a:latin typeface="Calibri"/>
                <a:ea typeface="Calibri"/>
                <a:cs typeface="Calibri"/>
                <a:sym typeface="Calibri"/>
              </a:rPr>
              <a:t>   ·   </a:t>
            </a:r>
            <a:r>
              <a:rPr b="1" i="0" lang="en-US" sz="1100" u="none" cap="none" strike="noStrike">
                <a:solidFill>
                  <a:srgbClr val="EF9F27"/>
                </a:solidFill>
                <a:latin typeface="Calibri"/>
                <a:ea typeface="Calibri"/>
                <a:cs typeface="Calibri"/>
                <a:sym typeface="Calibri"/>
              </a:rPr>
              <a:t>System wins all conflicts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91" name="Shape 91"/>
        <p:cNvGrpSpPr/>
        <p:nvPr/>
      </p:nvGrpSpPr>
      <p:grpSpPr>
        <a:xfrm>
          <a:off x="0" y="0"/>
          <a:ext cx="0" cy="0"/>
          <a:chOff x="0" y="0"/>
          <a:chExt cx="0" cy="0"/>
        </a:xfrm>
      </p:grpSpPr>
      <p:sp>
        <p:nvSpPr>
          <p:cNvPr id="92" name="Google Shape;92;p4"/>
          <p:cNvSpPr/>
          <p:nvPr/>
        </p:nvSpPr>
        <p:spPr>
          <a:xfrm>
            <a:off x="457200" y="5943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System Prompt Design — RCRF Framework</a:t>
            </a:r>
            <a:endParaRPr b="0" i="0" sz="2800" u="none" cap="none" strike="noStrike">
              <a:solidFill>
                <a:schemeClr val="dk1"/>
              </a:solidFill>
              <a:latin typeface="Calibri"/>
              <a:ea typeface="Calibri"/>
              <a:cs typeface="Calibri"/>
              <a:sym typeface="Calibri"/>
            </a:endParaRPr>
          </a:p>
        </p:txBody>
      </p:sp>
      <p:sp>
        <p:nvSpPr>
          <p:cNvPr id="93" name="Google Shape;93;p4"/>
          <p:cNvSpPr/>
          <p:nvPr/>
        </p:nvSpPr>
        <p:spPr>
          <a:xfrm>
            <a:off x="457200" y="118872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1300"/>
              <a:buFont typeface="Calibri"/>
              <a:buNone/>
            </a:pPr>
            <a:r>
              <a:rPr b="0" i="0" lang="en-US" sz="1300" u="none" cap="none" strike="noStrike">
                <a:solidFill>
                  <a:srgbClr val="8FA3C8"/>
                </a:solidFill>
                <a:latin typeface="Calibri"/>
                <a:ea typeface="Calibri"/>
                <a:cs typeface="Calibri"/>
                <a:sym typeface="Calibri"/>
              </a:rPr>
              <a:t>Four components every system prompt must contain</a:t>
            </a:r>
            <a:endParaRPr b="0" i="0" sz="1300" u="none" cap="none" strike="noStrike">
              <a:solidFill>
                <a:schemeClr val="dk1"/>
              </a:solidFill>
              <a:latin typeface="Calibri"/>
              <a:ea typeface="Calibri"/>
              <a:cs typeface="Calibri"/>
              <a:sym typeface="Calibri"/>
            </a:endParaRPr>
          </a:p>
        </p:txBody>
      </p:sp>
      <p:sp>
        <p:nvSpPr>
          <p:cNvPr id="94" name="Google Shape;94;p4"/>
          <p:cNvSpPr/>
          <p:nvPr/>
        </p:nvSpPr>
        <p:spPr>
          <a:xfrm>
            <a:off x="8046720" y="4800600"/>
            <a:ext cx="9144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4 / 12</a:t>
            </a:r>
            <a:endParaRPr b="0" i="0" sz="900" u="none" cap="none" strike="noStrike">
              <a:solidFill>
                <a:schemeClr val="dk1"/>
              </a:solidFill>
              <a:latin typeface="Calibri"/>
              <a:ea typeface="Calibri"/>
              <a:cs typeface="Calibri"/>
              <a:sym typeface="Calibri"/>
            </a:endParaRPr>
          </a:p>
        </p:txBody>
      </p:sp>
      <p:sp>
        <p:nvSpPr>
          <p:cNvPr id="95" name="Google Shape;95;p4"/>
          <p:cNvSpPr/>
          <p:nvPr/>
        </p:nvSpPr>
        <p:spPr>
          <a:xfrm>
            <a:off x="457200" y="1572768"/>
            <a:ext cx="530352" cy="530352"/>
          </a:xfrm>
          <a:prstGeom prst="ellipse">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457200" y="1572768"/>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R</a:t>
            </a:r>
            <a:endParaRPr b="0" i="0" sz="2000" u="none" cap="none" strike="noStrike">
              <a:solidFill>
                <a:schemeClr val="dk1"/>
              </a:solidFill>
              <a:latin typeface="Calibri"/>
              <a:ea typeface="Calibri"/>
              <a:cs typeface="Calibri"/>
              <a:sym typeface="Calibri"/>
            </a:endParaRPr>
          </a:p>
        </p:txBody>
      </p:sp>
      <p:sp>
        <p:nvSpPr>
          <p:cNvPr id="97" name="Google Shape;97;p4"/>
          <p:cNvSpPr/>
          <p:nvPr/>
        </p:nvSpPr>
        <p:spPr>
          <a:xfrm>
            <a:off x="1143000" y="1572768"/>
            <a:ext cx="7543800" cy="658368"/>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1143000" y="1572768"/>
            <a:ext cx="54864" cy="658368"/>
          </a:xfrm>
          <a:prstGeom prst="rect">
            <a:avLst/>
          </a:prstGeom>
          <a:solidFill>
            <a:srgbClr val="534AB7"/>
          </a:solidFill>
          <a:ln cap="flat" cmpd="sng" w="12700">
            <a:solidFill>
              <a:srgbClr val="534A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1325880" y="1627632"/>
            <a:ext cx="1280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Role</a:t>
            </a:r>
            <a:endParaRPr b="0" i="0" sz="1300" u="none" cap="none" strike="noStrike">
              <a:solidFill>
                <a:schemeClr val="dk1"/>
              </a:solidFill>
              <a:latin typeface="Calibri"/>
              <a:ea typeface="Calibri"/>
              <a:cs typeface="Calibri"/>
              <a:sym typeface="Calibri"/>
            </a:endParaRPr>
          </a:p>
        </p:txBody>
      </p:sp>
      <p:sp>
        <p:nvSpPr>
          <p:cNvPr id="100" name="Google Shape;100;p4"/>
          <p:cNvSpPr/>
          <p:nvPr/>
        </p:nvSpPr>
        <p:spPr>
          <a:xfrm>
            <a:off x="1325880" y="1874520"/>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b="0" i="0" lang="en-US" sz="950" u="none" cap="none" strike="noStrike">
                <a:solidFill>
                  <a:srgbClr val="8FA3C8"/>
                </a:solidFill>
                <a:latin typeface="Calibri"/>
                <a:ea typeface="Calibri"/>
                <a:cs typeface="Calibri"/>
                <a:sym typeface="Calibri"/>
              </a:rPr>
              <a:t>Who Claude is. Sets tone, expertise, personality.</a:t>
            </a:r>
            <a:endParaRPr b="0" i="0" sz="950" u="none" cap="none" strike="noStrike">
              <a:solidFill>
                <a:schemeClr val="dk1"/>
              </a:solidFill>
              <a:latin typeface="Calibri"/>
              <a:ea typeface="Calibri"/>
              <a:cs typeface="Calibri"/>
              <a:sym typeface="Calibri"/>
            </a:endParaRPr>
          </a:p>
        </p:txBody>
      </p:sp>
      <p:sp>
        <p:nvSpPr>
          <p:cNvPr id="101" name="Google Shape;101;p4"/>
          <p:cNvSpPr/>
          <p:nvPr/>
        </p:nvSpPr>
        <p:spPr>
          <a:xfrm>
            <a:off x="3611880" y="1645920"/>
            <a:ext cx="4937760" cy="512064"/>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3749040" y="1664208"/>
            <a:ext cx="4663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900"/>
              <a:buFont typeface="Consolas"/>
              <a:buNone/>
            </a:pPr>
            <a:r>
              <a:rPr b="0" i="1" lang="en-US" sz="900" u="none" cap="none" strike="noStrike">
                <a:solidFill>
                  <a:srgbClr val="5DCAA5"/>
                </a:solidFill>
                <a:latin typeface="Consolas"/>
                <a:ea typeface="Consolas"/>
                <a:cs typeface="Consolas"/>
                <a:sym typeface="Consolas"/>
              </a:rPr>
              <a:t>"You are a senior billing analyst for a SaaS company."</a:t>
            </a:r>
            <a:endParaRPr b="0" i="0" sz="900" u="none" cap="none" strike="noStrike">
              <a:solidFill>
                <a:schemeClr val="dk1"/>
              </a:solidFill>
              <a:latin typeface="Calibri"/>
              <a:ea typeface="Calibri"/>
              <a:cs typeface="Calibri"/>
              <a:sym typeface="Calibri"/>
            </a:endParaRPr>
          </a:p>
        </p:txBody>
      </p:sp>
      <p:sp>
        <p:nvSpPr>
          <p:cNvPr id="103" name="Google Shape;103;p4"/>
          <p:cNvSpPr/>
          <p:nvPr/>
        </p:nvSpPr>
        <p:spPr>
          <a:xfrm>
            <a:off x="457200" y="2377440"/>
            <a:ext cx="530352" cy="530352"/>
          </a:xfrm>
          <a:prstGeom prst="ellipse">
            <a:avLst/>
          </a:prstGeom>
          <a:solidFill>
            <a:srgbClr val="1D9E75"/>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457200" y="237744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C</a:t>
            </a:r>
            <a:endParaRPr b="0" i="0" sz="2000" u="none" cap="none" strike="noStrike">
              <a:solidFill>
                <a:schemeClr val="dk1"/>
              </a:solidFill>
              <a:latin typeface="Calibri"/>
              <a:ea typeface="Calibri"/>
              <a:cs typeface="Calibri"/>
              <a:sym typeface="Calibri"/>
            </a:endParaRPr>
          </a:p>
        </p:txBody>
      </p:sp>
      <p:sp>
        <p:nvSpPr>
          <p:cNvPr id="105" name="Google Shape;105;p4"/>
          <p:cNvSpPr/>
          <p:nvPr/>
        </p:nvSpPr>
        <p:spPr>
          <a:xfrm>
            <a:off x="1143000" y="2377440"/>
            <a:ext cx="7543800" cy="658368"/>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143000" y="2377440"/>
            <a:ext cx="54864" cy="658368"/>
          </a:xfrm>
          <a:prstGeom prst="rect">
            <a:avLst/>
          </a:prstGeom>
          <a:solidFill>
            <a:srgbClr val="1D9E75"/>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325880" y="2432304"/>
            <a:ext cx="1280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Context</a:t>
            </a:r>
            <a:endParaRPr b="0" i="0" sz="1300" u="none" cap="none" strike="noStrike">
              <a:solidFill>
                <a:schemeClr val="dk1"/>
              </a:solidFill>
              <a:latin typeface="Calibri"/>
              <a:ea typeface="Calibri"/>
              <a:cs typeface="Calibri"/>
              <a:sym typeface="Calibri"/>
            </a:endParaRPr>
          </a:p>
        </p:txBody>
      </p:sp>
      <p:sp>
        <p:nvSpPr>
          <p:cNvPr id="108" name="Google Shape;108;p4"/>
          <p:cNvSpPr/>
          <p:nvPr/>
        </p:nvSpPr>
        <p:spPr>
          <a:xfrm>
            <a:off x="1325880" y="2679192"/>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b="0" i="0" lang="en-US" sz="950" u="none" cap="none" strike="noStrike">
                <a:solidFill>
                  <a:srgbClr val="8FA3C8"/>
                </a:solidFill>
                <a:latin typeface="Calibri"/>
                <a:ea typeface="Calibri"/>
                <a:cs typeface="Calibri"/>
                <a:sym typeface="Calibri"/>
              </a:rPr>
              <a:t>The operating situation — users, system, typical needs.</a:t>
            </a:r>
            <a:endParaRPr b="0" i="0" sz="950" u="none" cap="none" strike="noStrike">
              <a:solidFill>
                <a:schemeClr val="dk1"/>
              </a:solidFill>
              <a:latin typeface="Calibri"/>
              <a:ea typeface="Calibri"/>
              <a:cs typeface="Calibri"/>
              <a:sym typeface="Calibri"/>
            </a:endParaRPr>
          </a:p>
        </p:txBody>
      </p:sp>
      <p:sp>
        <p:nvSpPr>
          <p:cNvPr id="109" name="Google Shape;109;p4"/>
          <p:cNvSpPr/>
          <p:nvPr/>
        </p:nvSpPr>
        <p:spPr>
          <a:xfrm>
            <a:off x="3611880" y="2450592"/>
            <a:ext cx="4937760" cy="512064"/>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3749040" y="2468880"/>
            <a:ext cx="4663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900"/>
              <a:buFont typeface="Consolas"/>
              <a:buNone/>
            </a:pPr>
            <a:r>
              <a:rPr b="0" i="1" lang="en-US" sz="900" u="none" cap="none" strike="noStrike">
                <a:solidFill>
                  <a:srgbClr val="5DCAA5"/>
                </a:solidFill>
                <a:latin typeface="Consolas"/>
                <a:ea typeface="Consolas"/>
                <a:cs typeface="Consolas"/>
                <a:sym typeface="Consolas"/>
              </a:rPr>
              <a:t>"Users are developers on the Pro plan troubleshooting API errors."</a:t>
            </a:r>
            <a:endParaRPr b="0" i="0" sz="900" u="none" cap="none" strike="noStrike">
              <a:solidFill>
                <a:schemeClr val="dk1"/>
              </a:solidFill>
              <a:latin typeface="Calibri"/>
              <a:ea typeface="Calibri"/>
              <a:cs typeface="Calibri"/>
              <a:sym typeface="Calibri"/>
            </a:endParaRPr>
          </a:p>
        </p:txBody>
      </p:sp>
      <p:sp>
        <p:nvSpPr>
          <p:cNvPr id="111" name="Google Shape;111;p4"/>
          <p:cNvSpPr/>
          <p:nvPr/>
        </p:nvSpPr>
        <p:spPr>
          <a:xfrm>
            <a:off x="457200" y="3182112"/>
            <a:ext cx="530352" cy="530352"/>
          </a:xfrm>
          <a:prstGeom prst="ellipse">
            <a:avLst/>
          </a:prstGeom>
          <a:solidFill>
            <a:srgbClr val="BA7517"/>
          </a:solidFill>
          <a:ln cap="flat" cmpd="sng" w="12700">
            <a:solidFill>
              <a:srgbClr val="BA75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57200" y="3182112"/>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R</a:t>
            </a:r>
            <a:endParaRPr b="0" i="0" sz="2000" u="none" cap="none" strike="noStrike">
              <a:solidFill>
                <a:schemeClr val="dk1"/>
              </a:solidFill>
              <a:latin typeface="Calibri"/>
              <a:ea typeface="Calibri"/>
              <a:cs typeface="Calibri"/>
              <a:sym typeface="Calibri"/>
            </a:endParaRPr>
          </a:p>
        </p:txBody>
      </p:sp>
      <p:sp>
        <p:nvSpPr>
          <p:cNvPr id="113" name="Google Shape;113;p4"/>
          <p:cNvSpPr/>
          <p:nvPr/>
        </p:nvSpPr>
        <p:spPr>
          <a:xfrm>
            <a:off x="1143000" y="3182112"/>
            <a:ext cx="7543800" cy="658368"/>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1143000" y="3182112"/>
            <a:ext cx="54864" cy="658368"/>
          </a:xfrm>
          <a:prstGeom prst="rect">
            <a:avLst/>
          </a:prstGeom>
          <a:solidFill>
            <a:srgbClr val="BA7517"/>
          </a:solidFill>
          <a:ln cap="flat" cmpd="sng" w="12700">
            <a:solidFill>
              <a:srgbClr val="BA751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325880" y="3236976"/>
            <a:ext cx="1280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Rules</a:t>
            </a:r>
            <a:endParaRPr b="0" i="0" sz="1300" u="none" cap="none" strike="noStrike">
              <a:solidFill>
                <a:schemeClr val="dk1"/>
              </a:solidFill>
              <a:latin typeface="Calibri"/>
              <a:ea typeface="Calibri"/>
              <a:cs typeface="Calibri"/>
              <a:sym typeface="Calibri"/>
            </a:endParaRPr>
          </a:p>
        </p:txBody>
      </p:sp>
      <p:sp>
        <p:nvSpPr>
          <p:cNvPr id="116" name="Google Shape;116;p4"/>
          <p:cNvSpPr/>
          <p:nvPr/>
        </p:nvSpPr>
        <p:spPr>
          <a:xfrm>
            <a:off x="1325880" y="3483864"/>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b="0" i="0" lang="en-US" sz="950" u="none" cap="none" strike="noStrike">
                <a:solidFill>
                  <a:srgbClr val="8FA3C8"/>
                </a:solidFill>
                <a:latin typeface="Calibri"/>
                <a:ea typeface="Calibri"/>
                <a:cs typeface="Calibri"/>
                <a:sym typeface="Calibri"/>
              </a:rPr>
              <a:t>Explicit constraints. Positive instructions only.</a:t>
            </a:r>
            <a:endParaRPr b="0" i="0" sz="950" u="none" cap="none" strike="noStrike">
              <a:solidFill>
                <a:schemeClr val="dk1"/>
              </a:solidFill>
              <a:latin typeface="Calibri"/>
              <a:ea typeface="Calibri"/>
              <a:cs typeface="Calibri"/>
              <a:sym typeface="Calibri"/>
            </a:endParaRPr>
          </a:p>
        </p:txBody>
      </p:sp>
      <p:sp>
        <p:nvSpPr>
          <p:cNvPr id="117" name="Google Shape;117;p4"/>
          <p:cNvSpPr/>
          <p:nvPr/>
        </p:nvSpPr>
        <p:spPr>
          <a:xfrm>
            <a:off x="3611880" y="3255264"/>
            <a:ext cx="4937760" cy="512064"/>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3749040" y="3273552"/>
            <a:ext cx="4663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900"/>
              <a:buFont typeface="Consolas"/>
              <a:buNone/>
            </a:pPr>
            <a:r>
              <a:rPr b="0" i="1" lang="en-US" sz="900" u="none" cap="none" strike="noStrike">
                <a:solidFill>
                  <a:srgbClr val="5DCAA5"/>
                </a:solidFill>
                <a:latin typeface="Consolas"/>
                <a:ea typeface="Consolas"/>
                <a:cs typeface="Consolas"/>
                <a:sym typeface="Consolas"/>
              </a:rPr>
              <a:t>"Respond only about our API. Escalate unresolved issues after 3 steps."</a:t>
            </a:r>
            <a:endParaRPr b="0" i="0" sz="900" u="none" cap="none" strike="noStrike">
              <a:solidFill>
                <a:schemeClr val="dk1"/>
              </a:solidFill>
              <a:latin typeface="Calibri"/>
              <a:ea typeface="Calibri"/>
              <a:cs typeface="Calibri"/>
              <a:sym typeface="Calibri"/>
            </a:endParaRPr>
          </a:p>
        </p:txBody>
      </p:sp>
      <p:sp>
        <p:nvSpPr>
          <p:cNvPr id="119" name="Google Shape;119;p4"/>
          <p:cNvSpPr/>
          <p:nvPr/>
        </p:nvSpPr>
        <p:spPr>
          <a:xfrm>
            <a:off x="457200" y="3986784"/>
            <a:ext cx="530352" cy="530352"/>
          </a:xfrm>
          <a:prstGeom prst="ellipse">
            <a:avLst/>
          </a:prstGeom>
          <a:solidFill>
            <a:srgbClr val="D85A30"/>
          </a:solidFill>
          <a:ln cap="flat" cmpd="sng" w="12700">
            <a:solidFill>
              <a:srgbClr val="D85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457200" y="3986784"/>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F</a:t>
            </a:r>
            <a:endParaRPr b="0" i="0" sz="2000" u="none" cap="none" strike="noStrike">
              <a:solidFill>
                <a:schemeClr val="dk1"/>
              </a:solidFill>
              <a:latin typeface="Calibri"/>
              <a:ea typeface="Calibri"/>
              <a:cs typeface="Calibri"/>
              <a:sym typeface="Calibri"/>
            </a:endParaRPr>
          </a:p>
        </p:txBody>
      </p:sp>
      <p:sp>
        <p:nvSpPr>
          <p:cNvPr id="121" name="Google Shape;121;p4"/>
          <p:cNvSpPr/>
          <p:nvPr/>
        </p:nvSpPr>
        <p:spPr>
          <a:xfrm>
            <a:off x="1143000" y="3986784"/>
            <a:ext cx="7543800" cy="658368"/>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1143000" y="3986784"/>
            <a:ext cx="54864" cy="658368"/>
          </a:xfrm>
          <a:prstGeom prst="rect">
            <a:avLst/>
          </a:prstGeom>
          <a:solidFill>
            <a:srgbClr val="D85A30"/>
          </a:solidFill>
          <a:ln cap="flat" cmpd="sng" w="12700">
            <a:solidFill>
              <a:srgbClr val="D85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1325880" y="4041648"/>
            <a:ext cx="1280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Format</a:t>
            </a:r>
            <a:endParaRPr b="0" i="0" sz="1300" u="none" cap="none" strike="noStrike">
              <a:solidFill>
                <a:schemeClr val="dk1"/>
              </a:solidFill>
              <a:latin typeface="Calibri"/>
              <a:ea typeface="Calibri"/>
              <a:cs typeface="Calibri"/>
              <a:sym typeface="Calibri"/>
            </a:endParaRPr>
          </a:p>
        </p:txBody>
      </p:sp>
      <p:sp>
        <p:nvSpPr>
          <p:cNvPr id="124" name="Google Shape;124;p4"/>
          <p:cNvSpPr/>
          <p:nvPr/>
        </p:nvSpPr>
        <p:spPr>
          <a:xfrm>
            <a:off x="1325880" y="4288536"/>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b="0" i="0" lang="en-US" sz="950" u="none" cap="none" strike="noStrike">
                <a:solidFill>
                  <a:srgbClr val="8FA3C8"/>
                </a:solidFill>
                <a:latin typeface="Calibri"/>
                <a:ea typeface="Calibri"/>
                <a:cs typeface="Calibri"/>
                <a:sym typeface="Calibri"/>
              </a:rPr>
              <a:t>Output schema. Show the exact format — don't describe it.</a:t>
            </a:r>
            <a:endParaRPr b="0" i="0" sz="950" u="none" cap="none" strike="noStrike">
              <a:solidFill>
                <a:schemeClr val="dk1"/>
              </a:solidFill>
              <a:latin typeface="Calibri"/>
              <a:ea typeface="Calibri"/>
              <a:cs typeface="Calibri"/>
              <a:sym typeface="Calibri"/>
            </a:endParaRPr>
          </a:p>
        </p:txBody>
      </p:sp>
      <p:sp>
        <p:nvSpPr>
          <p:cNvPr id="125" name="Google Shape;125;p4"/>
          <p:cNvSpPr/>
          <p:nvPr/>
        </p:nvSpPr>
        <p:spPr>
          <a:xfrm>
            <a:off x="3611880" y="4059936"/>
            <a:ext cx="4937760" cy="512064"/>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3749040" y="4078224"/>
            <a:ext cx="4663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900"/>
              <a:buFont typeface="Consolas"/>
              <a:buNone/>
            </a:pPr>
            <a:r>
              <a:rPr b="0" i="1" lang="en-US" sz="900" u="none" cap="none" strike="noStrike">
                <a:solidFill>
                  <a:srgbClr val="5DCAA5"/>
                </a:solidFill>
                <a:latin typeface="Consolas"/>
                <a:ea typeface="Consolas"/>
                <a:cs typeface="Consolas"/>
                <a:sym typeface="Consolas"/>
              </a:rPr>
              <a:t>"Always return: { \"answer\": string, \"steps\": string[], \"needs_human\": boolean }"</a:t>
            </a:r>
            <a:endParaRPr b="0" i="0" sz="900" u="none" cap="none" strike="noStrike">
              <a:solidFill>
                <a:schemeClr val="dk1"/>
              </a:solidFill>
              <a:latin typeface="Calibri"/>
              <a:ea typeface="Calibri"/>
              <a:cs typeface="Calibri"/>
              <a:sym typeface="Calibri"/>
            </a:endParaRPr>
          </a:p>
        </p:txBody>
      </p:sp>
      <p:sp>
        <p:nvSpPr>
          <p:cNvPr id="127" name="Google Shape;127;p4"/>
          <p:cNvSpPr/>
          <p:nvPr/>
        </p:nvSpPr>
        <p:spPr>
          <a:xfrm>
            <a:off x="0" y="4773168"/>
            <a:ext cx="9144000" cy="365760"/>
          </a:xfrm>
          <a:prstGeom prst="rect">
            <a:avLst/>
          </a:prstGeom>
          <a:solidFill>
            <a:srgbClr val="0F6E56"/>
          </a:solidFill>
          <a:ln cap="flat" cmpd="sng" w="12700">
            <a:solidFill>
              <a:srgbClr val="0F6E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365760" y="4791456"/>
            <a:ext cx="8412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F5EE"/>
              </a:buClr>
              <a:buSzPts val="1050"/>
              <a:buFont typeface="Calibri"/>
              <a:buNone/>
            </a:pPr>
            <a:r>
              <a:rPr b="1" i="0" lang="en-US" sz="1050" u="none" cap="none" strike="noStrike">
                <a:solidFill>
                  <a:srgbClr val="E1F5EE"/>
                </a:solidFill>
                <a:latin typeface="Calibri"/>
                <a:ea typeface="Calibri"/>
                <a:cs typeface="Calibri"/>
                <a:sym typeface="Calibri"/>
              </a:rPr>
              <a:t>EXAM TIP  </a:t>
            </a:r>
            <a:r>
              <a:rPr b="0" i="0" lang="en-US" sz="1050" u="none" cap="none" strike="noStrike">
                <a:solidFill>
                  <a:srgbClr val="FFFFFF"/>
                </a:solidFill>
                <a:latin typeface="Calibri"/>
                <a:ea typeface="Calibri"/>
                <a:cs typeface="Calibri"/>
                <a:sym typeface="Calibri"/>
              </a:rPr>
              <a:t>Replace every negative rule ('don't use bullets') with a positive alternative ('respond in plain prose paragraphs')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133" name="Shape 133"/>
        <p:cNvGrpSpPr/>
        <p:nvPr/>
      </p:nvGrpSpPr>
      <p:grpSpPr>
        <a:xfrm>
          <a:off x="0" y="0"/>
          <a:ext cx="0" cy="0"/>
          <a:chOff x="0" y="0"/>
          <a:chExt cx="0" cy="0"/>
        </a:xfrm>
      </p:grpSpPr>
      <p:sp>
        <p:nvSpPr>
          <p:cNvPr id="134" name="Google Shape;134;g3e47b6fd3c3_0_4"/>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System</a:t>
            </a:r>
            <a:r>
              <a:rPr b="1" lang="en-US" sz="2800">
                <a:solidFill>
                  <a:srgbClr val="FFFFFF"/>
                </a:solidFill>
                <a:latin typeface="Calibri"/>
                <a:ea typeface="Calibri"/>
                <a:cs typeface="Calibri"/>
                <a:sym typeface="Calibri"/>
              </a:rPr>
              <a:t> Prompt</a:t>
            </a:r>
            <a:endParaRPr b="0" i="0" sz="2800" u="none" cap="none" strike="noStrike">
              <a:solidFill>
                <a:schemeClr val="dk1"/>
              </a:solidFill>
              <a:latin typeface="Calibri"/>
              <a:ea typeface="Calibri"/>
              <a:cs typeface="Calibri"/>
              <a:sym typeface="Calibri"/>
            </a:endParaRPr>
          </a:p>
        </p:txBody>
      </p:sp>
      <p:sp>
        <p:nvSpPr>
          <p:cNvPr id="135" name="Google Shape;135;g3e47b6fd3c3_0_4"/>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136" name="Google Shape;136;g3e47b6fd3c3_0_4"/>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FA9EC"/>
              </a:solidFill>
            </a:endParaRPr>
          </a:p>
          <a:p>
            <a:pPr indent="0" lvl="0" marL="0" rtl="0" algn="l">
              <a:spcBef>
                <a:spcPts val="0"/>
              </a:spcBef>
              <a:spcAft>
                <a:spcPts val="0"/>
              </a:spcAft>
              <a:buNone/>
            </a:pPr>
            <a:r>
              <a:rPr lang="en-US">
                <a:solidFill>
                  <a:srgbClr val="AFA9EC"/>
                </a:solidFill>
              </a:rPr>
              <a:t>Defines Claude’s permanent behaviour, rules, format, safety boundaries, and operating instructions. </a:t>
            </a:r>
            <a:endParaRPr>
              <a:solidFill>
                <a:srgbClr val="AFA9EC"/>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rgbClr val="AFA9EC"/>
                </a:solidFill>
              </a:rPr>
              <a:t>Use system prompts for:</a:t>
            </a:r>
            <a:endParaRPr b="1" sz="1100">
              <a:solidFill>
                <a:srgbClr val="AFA9EC"/>
              </a:solidFill>
            </a:endParaRPr>
          </a:p>
          <a:p>
            <a:pPr indent="-298450" lvl="0" marL="457200" rtl="0" algn="l">
              <a:lnSpc>
                <a:spcPct val="115000"/>
              </a:lnSpc>
              <a:spcBef>
                <a:spcPts val="1200"/>
              </a:spcBef>
              <a:spcAft>
                <a:spcPts val="0"/>
              </a:spcAft>
              <a:buClr>
                <a:srgbClr val="AFA9EC"/>
              </a:buClr>
              <a:buSzPts val="1100"/>
              <a:buChar char="●"/>
            </a:pPr>
            <a:r>
              <a:rPr lang="en-US" sz="1100">
                <a:solidFill>
                  <a:srgbClr val="AFA9EC"/>
                </a:solidFill>
              </a:rPr>
              <a:t>Output format requirements</a:t>
            </a:r>
            <a:endParaRPr sz="1100">
              <a:solidFill>
                <a:srgbClr val="AFA9EC"/>
              </a:solidFill>
            </a:endParaRPr>
          </a:p>
          <a:p>
            <a:pPr indent="-298450" lvl="0" marL="457200" rtl="0" algn="l">
              <a:lnSpc>
                <a:spcPct val="115000"/>
              </a:lnSpc>
              <a:spcBef>
                <a:spcPts val="0"/>
              </a:spcBef>
              <a:spcAft>
                <a:spcPts val="0"/>
              </a:spcAft>
              <a:buClr>
                <a:srgbClr val="AFA9EC"/>
              </a:buClr>
              <a:buSzPts val="1100"/>
              <a:buChar char="●"/>
            </a:pPr>
            <a:r>
              <a:rPr lang="en-US" sz="1100">
                <a:solidFill>
                  <a:srgbClr val="AFA9EC"/>
                </a:solidFill>
              </a:rPr>
              <a:t>Tone and behavioural constraints</a:t>
            </a:r>
            <a:endParaRPr sz="1100">
              <a:solidFill>
                <a:srgbClr val="AFA9EC"/>
              </a:solidFill>
            </a:endParaRPr>
          </a:p>
          <a:p>
            <a:pPr indent="-298450" lvl="0" marL="457200" rtl="0" algn="l">
              <a:lnSpc>
                <a:spcPct val="115000"/>
              </a:lnSpc>
              <a:spcBef>
                <a:spcPts val="0"/>
              </a:spcBef>
              <a:spcAft>
                <a:spcPts val="0"/>
              </a:spcAft>
              <a:buClr>
                <a:srgbClr val="AFA9EC"/>
              </a:buClr>
              <a:buSzPts val="1100"/>
              <a:buChar char="●"/>
            </a:pPr>
            <a:r>
              <a:rPr lang="en-US" sz="1100">
                <a:solidFill>
                  <a:srgbClr val="AFA9EC"/>
                </a:solidFill>
              </a:rPr>
              <a:t>Safety policies</a:t>
            </a:r>
            <a:endParaRPr sz="1100">
              <a:solidFill>
                <a:srgbClr val="AFA9EC"/>
              </a:solidFill>
            </a:endParaRPr>
          </a:p>
          <a:p>
            <a:pPr indent="-298450" lvl="0" marL="457200" rtl="0" algn="l">
              <a:lnSpc>
                <a:spcPct val="115000"/>
              </a:lnSpc>
              <a:spcBef>
                <a:spcPts val="0"/>
              </a:spcBef>
              <a:spcAft>
                <a:spcPts val="0"/>
              </a:spcAft>
              <a:buClr>
                <a:srgbClr val="AFA9EC"/>
              </a:buClr>
              <a:buSzPts val="1100"/>
              <a:buChar char="●"/>
            </a:pPr>
            <a:r>
              <a:rPr lang="en-US" sz="1100">
                <a:solidFill>
                  <a:srgbClr val="AFA9EC"/>
                </a:solidFill>
              </a:rPr>
              <a:t>Role definition</a:t>
            </a:r>
            <a:endParaRPr sz="1100">
              <a:solidFill>
                <a:srgbClr val="AFA9EC"/>
              </a:solidFill>
            </a:endParaRPr>
          </a:p>
          <a:p>
            <a:pPr indent="-298450" lvl="0" marL="457200" rtl="0" algn="l">
              <a:lnSpc>
                <a:spcPct val="115000"/>
              </a:lnSpc>
              <a:spcBef>
                <a:spcPts val="0"/>
              </a:spcBef>
              <a:spcAft>
                <a:spcPts val="0"/>
              </a:spcAft>
              <a:buClr>
                <a:srgbClr val="AFA9EC"/>
              </a:buClr>
              <a:buSzPts val="1100"/>
              <a:buChar char="●"/>
            </a:pPr>
            <a:r>
              <a:rPr lang="en-US" sz="1100">
                <a:solidFill>
                  <a:srgbClr val="AFA9EC"/>
                </a:solidFill>
              </a:rPr>
              <a:t>Persistent instructions</a:t>
            </a:r>
            <a:endParaRPr sz="1100">
              <a:solidFill>
                <a:srgbClr val="AFA9EC"/>
              </a:solidFill>
            </a:endParaRPr>
          </a:p>
          <a:p>
            <a:pPr indent="-298450" lvl="0" marL="457200" rtl="0" algn="l">
              <a:lnSpc>
                <a:spcPct val="115000"/>
              </a:lnSpc>
              <a:spcBef>
                <a:spcPts val="0"/>
              </a:spcBef>
              <a:spcAft>
                <a:spcPts val="0"/>
              </a:spcAft>
              <a:buClr>
                <a:srgbClr val="AFA9EC"/>
              </a:buClr>
              <a:buSzPts val="1100"/>
              <a:buChar char="●"/>
            </a:pPr>
            <a:r>
              <a:rPr lang="en-US" sz="1100">
                <a:solidFill>
                  <a:srgbClr val="AFA9EC"/>
                </a:solidFill>
              </a:rPr>
              <a:t>For Stable instructions</a:t>
            </a:r>
            <a:endParaRPr sz="1100">
              <a:solidFill>
                <a:srgbClr val="AFA9EC"/>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rgbClr val="AFA9EC"/>
                </a:solidFill>
              </a:rPr>
              <a:t>Example</a:t>
            </a:r>
            <a:endParaRPr b="1" sz="1100">
              <a:solidFill>
                <a:srgbClr val="AFA9EC"/>
              </a:solidFill>
            </a:endParaRPr>
          </a:p>
          <a:p>
            <a:pPr indent="0" lvl="0" marL="0" rtl="0" algn="l">
              <a:spcBef>
                <a:spcPts val="1200"/>
              </a:spcBef>
              <a:spcAft>
                <a:spcPts val="0"/>
              </a:spcAft>
              <a:buNone/>
            </a:pPr>
            <a:r>
              <a:rPr lang="en-US" sz="1100">
                <a:solidFill>
                  <a:srgbClr val="AFA9EC"/>
                </a:solidFill>
              </a:rPr>
              <a:t>You are a compliance auditor.</a:t>
            </a:r>
            <a:endParaRPr sz="1100">
              <a:solidFill>
                <a:srgbClr val="AFA9EC"/>
              </a:solidFill>
            </a:endParaRPr>
          </a:p>
          <a:p>
            <a:pPr indent="0" lvl="0" marL="0" rtl="0" algn="l">
              <a:spcBef>
                <a:spcPts val="0"/>
              </a:spcBef>
              <a:spcAft>
                <a:spcPts val="0"/>
              </a:spcAft>
              <a:buNone/>
            </a:pPr>
            <a:r>
              <a:rPr lang="en-US" sz="1100">
                <a:solidFill>
                  <a:srgbClr val="AFA9EC"/>
                </a:solidFill>
              </a:rPr>
              <a:t>Always return valid JSON.</a:t>
            </a:r>
            <a:endParaRPr sz="1100">
              <a:solidFill>
                <a:srgbClr val="AFA9EC"/>
              </a:solidFill>
            </a:endParaRPr>
          </a:p>
          <a:p>
            <a:pPr indent="0" lvl="0" marL="0" rtl="0" algn="l">
              <a:lnSpc>
                <a:spcPct val="115000"/>
              </a:lnSpc>
              <a:spcBef>
                <a:spcPts val="0"/>
              </a:spcBef>
              <a:spcAft>
                <a:spcPts val="0"/>
              </a:spcAft>
              <a:buNone/>
            </a:pPr>
            <a:r>
              <a:rPr lang="en-US" sz="1100">
                <a:solidFill>
                  <a:srgbClr val="AFA9EC"/>
                </a:solidFill>
              </a:rPr>
              <a:t>Never invent missing data.</a:t>
            </a:r>
            <a:endParaRPr sz="1100">
              <a:solidFill>
                <a:srgbClr val="AFA9EC"/>
              </a:solidFill>
            </a:endParaRPr>
          </a:p>
          <a:p>
            <a:pPr indent="0" lvl="0" marL="0" rtl="0" algn="l">
              <a:lnSpc>
                <a:spcPct val="115000"/>
              </a:lnSpc>
              <a:spcBef>
                <a:spcPts val="1200"/>
              </a:spcBef>
              <a:spcAft>
                <a:spcPts val="0"/>
              </a:spcAft>
              <a:buNone/>
            </a:pPr>
            <a:r>
              <a:t/>
            </a:r>
            <a:endParaRPr sz="1100">
              <a:solidFill>
                <a:srgbClr val="AFA9EC"/>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rgbClr val="AFA9EC"/>
              </a:solidFill>
            </a:endParaRPr>
          </a:p>
          <a:p>
            <a:pPr indent="0" lvl="0" marL="0" rtl="0" algn="l">
              <a:spcBef>
                <a:spcPts val="0"/>
              </a:spcBef>
              <a:spcAft>
                <a:spcPts val="0"/>
              </a:spcAft>
              <a:buNone/>
            </a:pPr>
            <a:r>
              <a:t/>
            </a:r>
            <a:endParaRPr>
              <a:solidFill>
                <a:srgbClr val="AFA9EC"/>
              </a:solidFill>
            </a:endParaRPr>
          </a:p>
        </p:txBody>
      </p:sp>
      <p:sp>
        <p:nvSpPr>
          <p:cNvPr id="137" name="Google Shape;137;g3e47b6fd3c3_0_4"/>
          <p:cNvSpPr/>
          <p:nvPr/>
        </p:nvSpPr>
        <p:spPr>
          <a:xfrm>
            <a:off x="640080" y="4480560"/>
            <a:ext cx="78639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142" name="Shape 142"/>
        <p:cNvGrpSpPr/>
        <p:nvPr/>
      </p:nvGrpSpPr>
      <p:grpSpPr>
        <a:xfrm>
          <a:off x="0" y="0"/>
          <a:ext cx="0" cy="0"/>
          <a:chOff x="0" y="0"/>
          <a:chExt cx="0" cy="0"/>
        </a:xfrm>
      </p:grpSpPr>
      <p:sp>
        <p:nvSpPr>
          <p:cNvPr id="143" name="Google Shape;143;g3e47b6fd3c3_0_40"/>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User </a:t>
            </a:r>
            <a:r>
              <a:rPr b="1" lang="en-US" sz="2800">
                <a:solidFill>
                  <a:srgbClr val="FFFFFF"/>
                </a:solidFill>
                <a:latin typeface="Calibri"/>
                <a:ea typeface="Calibri"/>
                <a:cs typeface="Calibri"/>
                <a:sym typeface="Calibri"/>
              </a:rPr>
              <a:t>Prompt</a:t>
            </a:r>
            <a:endParaRPr b="0" i="0" sz="2800" u="none" cap="none" strike="noStrike">
              <a:solidFill>
                <a:schemeClr val="dk1"/>
              </a:solidFill>
              <a:latin typeface="Calibri"/>
              <a:ea typeface="Calibri"/>
              <a:cs typeface="Calibri"/>
              <a:sym typeface="Calibri"/>
            </a:endParaRPr>
          </a:p>
        </p:txBody>
      </p:sp>
      <p:sp>
        <p:nvSpPr>
          <p:cNvPr id="144" name="Google Shape;144;g3e47b6fd3c3_0_40"/>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145" name="Google Shape;145;g3e47b6fd3c3_0_40"/>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D9E75"/>
              </a:solidFill>
            </a:endParaRPr>
          </a:p>
          <a:p>
            <a:pPr indent="0" lvl="0" marL="0" rtl="0" algn="l">
              <a:spcBef>
                <a:spcPts val="0"/>
              </a:spcBef>
              <a:spcAft>
                <a:spcPts val="0"/>
              </a:spcAft>
              <a:buNone/>
            </a:pPr>
            <a:r>
              <a:rPr lang="en-US">
                <a:solidFill>
                  <a:srgbClr val="1D9E75"/>
                </a:solidFill>
              </a:rPr>
              <a:t>Contains the task-specific request and dynamic input data. </a:t>
            </a:r>
            <a:r>
              <a:rPr lang="en-US">
                <a:solidFill>
                  <a:srgbClr val="1D9E75"/>
                </a:solidFill>
              </a:rPr>
              <a:t> </a:t>
            </a:r>
            <a:endParaRPr>
              <a:solidFill>
                <a:srgbClr val="1D9E75"/>
              </a:solidFill>
            </a:endParaRPr>
          </a:p>
          <a:p>
            <a:pPr indent="0" lvl="0" marL="0" rtl="0" algn="l">
              <a:lnSpc>
                <a:spcPct val="115000"/>
              </a:lnSpc>
              <a:spcBef>
                <a:spcPts val="1200"/>
              </a:spcBef>
              <a:spcAft>
                <a:spcPts val="0"/>
              </a:spcAft>
              <a:buNone/>
            </a:pPr>
            <a:r>
              <a:rPr b="1" lang="en-US" sz="1100">
                <a:solidFill>
                  <a:srgbClr val="1D9E75"/>
                </a:solidFill>
              </a:rPr>
              <a:t>Use user prompts for:</a:t>
            </a:r>
            <a:endParaRPr b="1" sz="1100">
              <a:solidFill>
                <a:srgbClr val="1D9E75"/>
              </a:solidFill>
            </a:endParaRPr>
          </a:p>
          <a:p>
            <a:pPr indent="-298450" lvl="0" marL="457200" rtl="0" algn="l">
              <a:lnSpc>
                <a:spcPct val="115000"/>
              </a:lnSpc>
              <a:spcBef>
                <a:spcPts val="1200"/>
              </a:spcBef>
              <a:spcAft>
                <a:spcPts val="0"/>
              </a:spcAft>
              <a:buClr>
                <a:srgbClr val="1D9E75"/>
              </a:buClr>
              <a:buSzPts val="1100"/>
              <a:buChar char="●"/>
            </a:pPr>
            <a:r>
              <a:rPr lang="en-US" sz="1100">
                <a:solidFill>
                  <a:srgbClr val="1D9E75"/>
                </a:solidFill>
              </a:rPr>
              <a:t>Questions</a:t>
            </a:r>
            <a:endParaRPr sz="1100">
              <a:solidFill>
                <a:srgbClr val="1D9E75"/>
              </a:solidFill>
            </a:endParaRPr>
          </a:p>
          <a:p>
            <a:pPr indent="-298450" lvl="0" marL="457200" rtl="0" algn="l">
              <a:lnSpc>
                <a:spcPct val="115000"/>
              </a:lnSpc>
              <a:spcBef>
                <a:spcPts val="0"/>
              </a:spcBef>
              <a:spcAft>
                <a:spcPts val="0"/>
              </a:spcAft>
              <a:buClr>
                <a:srgbClr val="1D9E75"/>
              </a:buClr>
              <a:buSzPts val="1100"/>
              <a:buChar char="●"/>
            </a:pPr>
            <a:r>
              <a:rPr lang="en-US" sz="1100">
                <a:solidFill>
                  <a:srgbClr val="1D9E75"/>
                </a:solidFill>
              </a:rPr>
              <a:t>Documents to analyse</a:t>
            </a:r>
            <a:endParaRPr sz="1100">
              <a:solidFill>
                <a:srgbClr val="1D9E75"/>
              </a:solidFill>
            </a:endParaRPr>
          </a:p>
          <a:p>
            <a:pPr indent="-298450" lvl="0" marL="457200" rtl="0" algn="l">
              <a:lnSpc>
                <a:spcPct val="115000"/>
              </a:lnSpc>
              <a:spcBef>
                <a:spcPts val="0"/>
              </a:spcBef>
              <a:spcAft>
                <a:spcPts val="0"/>
              </a:spcAft>
              <a:buClr>
                <a:srgbClr val="1D9E75"/>
              </a:buClr>
              <a:buSzPts val="1100"/>
              <a:buChar char="●"/>
            </a:pPr>
            <a:r>
              <a:rPr lang="en-US" sz="1100">
                <a:solidFill>
                  <a:srgbClr val="1D9E75"/>
                </a:solidFill>
              </a:rPr>
              <a:t>Temporary instructions</a:t>
            </a:r>
            <a:endParaRPr sz="1100">
              <a:solidFill>
                <a:srgbClr val="1D9E75"/>
              </a:solidFill>
            </a:endParaRPr>
          </a:p>
          <a:p>
            <a:pPr indent="-298450" lvl="0" marL="457200" rtl="0" algn="l">
              <a:lnSpc>
                <a:spcPct val="115000"/>
              </a:lnSpc>
              <a:spcBef>
                <a:spcPts val="0"/>
              </a:spcBef>
              <a:spcAft>
                <a:spcPts val="0"/>
              </a:spcAft>
              <a:buClr>
                <a:srgbClr val="1D9E75"/>
              </a:buClr>
              <a:buSzPts val="1100"/>
              <a:buChar char="●"/>
            </a:pPr>
            <a:r>
              <a:rPr lang="en-US" sz="1100">
                <a:solidFill>
                  <a:srgbClr val="1D9E75"/>
                </a:solidFill>
              </a:rPr>
              <a:t>User-specific context</a:t>
            </a:r>
            <a:endParaRPr sz="1100">
              <a:solidFill>
                <a:srgbClr val="1D9E75"/>
              </a:solidFill>
            </a:endParaRPr>
          </a:p>
          <a:p>
            <a:pPr indent="-298450" lvl="0" marL="457200" rtl="0" algn="l">
              <a:lnSpc>
                <a:spcPct val="115000"/>
              </a:lnSpc>
              <a:spcBef>
                <a:spcPts val="0"/>
              </a:spcBef>
              <a:spcAft>
                <a:spcPts val="0"/>
              </a:spcAft>
              <a:buClr>
                <a:srgbClr val="1D9E75"/>
              </a:buClr>
              <a:buSzPts val="1100"/>
              <a:buChar char="●"/>
            </a:pPr>
            <a:r>
              <a:rPr lang="en-US" sz="1100">
                <a:solidFill>
                  <a:srgbClr val="1D9E75"/>
                </a:solidFill>
              </a:rPr>
              <a:t>Variable task content </a:t>
            </a:r>
            <a:endParaRPr sz="1100">
              <a:solidFill>
                <a:srgbClr val="1D9E75"/>
              </a:solidFill>
            </a:endParaRPr>
          </a:p>
          <a:p>
            <a:pPr indent="0" lvl="0" marL="0" rtl="0" algn="l">
              <a:lnSpc>
                <a:spcPct val="115000"/>
              </a:lnSpc>
              <a:spcBef>
                <a:spcPts val="1200"/>
              </a:spcBef>
              <a:spcAft>
                <a:spcPts val="0"/>
              </a:spcAft>
              <a:buNone/>
            </a:pPr>
            <a:r>
              <a:rPr b="1" lang="en-US" sz="1100">
                <a:solidFill>
                  <a:srgbClr val="1D9E75"/>
                </a:solidFill>
              </a:rPr>
              <a:t>Example</a:t>
            </a:r>
            <a:endParaRPr b="1" sz="1100">
              <a:solidFill>
                <a:srgbClr val="1D9E75"/>
              </a:solidFill>
            </a:endParaRPr>
          </a:p>
          <a:p>
            <a:pPr indent="0" lvl="0" marL="0" rtl="0" algn="l">
              <a:spcBef>
                <a:spcPts val="1200"/>
              </a:spcBef>
              <a:spcAft>
                <a:spcPts val="0"/>
              </a:spcAft>
              <a:buNone/>
            </a:pPr>
            <a:r>
              <a:rPr lang="en-US" sz="1100">
                <a:solidFill>
                  <a:srgbClr val="1D9E75"/>
                </a:solidFill>
              </a:rPr>
              <a:t>You are a compliance auditor.</a:t>
            </a:r>
            <a:endParaRPr sz="1100">
              <a:solidFill>
                <a:srgbClr val="1D9E75"/>
              </a:solidFill>
            </a:endParaRPr>
          </a:p>
          <a:p>
            <a:pPr indent="0" lvl="0" marL="0" rtl="0" algn="l">
              <a:spcBef>
                <a:spcPts val="0"/>
              </a:spcBef>
              <a:spcAft>
                <a:spcPts val="0"/>
              </a:spcAft>
              <a:buNone/>
            </a:pPr>
            <a:r>
              <a:rPr lang="en-US" sz="1100">
                <a:solidFill>
                  <a:srgbClr val="1D9E75"/>
                </a:solidFill>
              </a:rPr>
              <a:t>Always return valid JSON.</a:t>
            </a:r>
            <a:endParaRPr sz="1100">
              <a:solidFill>
                <a:srgbClr val="1D9E75"/>
              </a:solidFill>
            </a:endParaRPr>
          </a:p>
          <a:p>
            <a:pPr indent="0" lvl="0" marL="0" rtl="0" algn="l">
              <a:lnSpc>
                <a:spcPct val="115000"/>
              </a:lnSpc>
              <a:spcBef>
                <a:spcPts val="0"/>
              </a:spcBef>
              <a:spcAft>
                <a:spcPts val="0"/>
              </a:spcAft>
              <a:buNone/>
            </a:pPr>
            <a:r>
              <a:rPr lang="en-US" sz="1100">
                <a:solidFill>
                  <a:srgbClr val="1D9E75"/>
                </a:solidFill>
              </a:rPr>
              <a:t>Never invent missing data.</a:t>
            </a:r>
            <a:endParaRPr sz="1100">
              <a:solidFill>
                <a:srgbClr val="1D9E75"/>
              </a:solidFill>
            </a:endParaRPr>
          </a:p>
          <a:p>
            <a:pPr indent="0" lvl="0" marL="0" rtl="0" algn="l">
              <a:lnSpc>
                <a:spcPct val="115000"/>
              </a:lnSpc>
              <a:spcBef>
                <a:spcPts val="1200"/>
              </a:spcBef>
              <a:spcAft>
                <a:spcPts val="0"/>
              </a:spcAft>
              <a:buNone/>
            </a:pPr>
            <a:r>
              <a:t/>
            </a:r>
            <a:endParaRPr sz="1100">
              <a:solidFill>
                <a:srgbClr val="AFA9EC"/>
              </a:solidFill>
            </a:endParaRPr>
          </a:p>
          <a:p>
            <a:pPr indent="0" lvl="0" marL="0" rtl="0" algn="l">
              <a:lnSpc>
                <a:spcPct val="115000"/>
              </a:lnSpc>
              <a:spcBef>
                <a:spcPts val="1200"/>
              </a:spcBef>
              <a:spcAft>
                <a:spcPts val="0"/>
              </a:spcAft>
              <a:buNone/>
            </a:pPr>
            <a:r>
              <a:t/>
            </a:r>
            <a:endParaRPr sz="1100">
              <a:solidFill>
                <a:srgbClr val="AFA9EC"/>
              </a:solidFill>
            </a:endParaRPr>
          </a:p>
          <a:p>
            <a:pPr indent="0" lvl="0" marL="0" rtl="0" algn="l">
              <a:spcBef>
                <a:spcPts val="0"/>
              </a:spcBef>
              <a:spcAft>
                <a:spcPts val="0"/>
              </a:spcAft>
              <a:buNone/>
            </a:pPr>
            <a:r>
              <a:t/>
            </a:r>
            <a:endParaRPr>
              <a:solidFill>
                <a:srgbClr val="AFA9EC"/>
              </a:solidFill>
            </a:endParaRPr>
          </a:p>
        </p:txBody>
      </p:sp>
      <p:sp>
        <p:nvSpPr>
          <p:cNvPr id="146" name="Google Shape;146;g3e47b6fd3c3_0_40"/>
          <p:cNvSpPr/>
          <p:nvPr/>
        </p:nvSpPr>
        <p:spPr>
          <a:xfrm>
            <a:off x="640080" y="4480560"/>
            <a:ext cx="78639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151" name="Shape 151"/>
        <p:cNvGrpSpPr/>
        <p:nvPr/>
      </p:nvGrpSpPr>
      <p:grpSpPr>
        <a:xfrm>
          <a:off x="0" y="0"/>
          <a:ext cx="0" cy="0"/>
          <a:chOff x="0" y="0"/>
          <a:chExt cx="0" cy="0"/>
        </a:xfrm>
      </p:grpSpPr>
      <p:sp>
        <p:nvSpPr>
          <p:cNvPr id="152" name="Google Shape;152;g3e47b6fd3c3_0_81"/>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Assistant Prefilling</a:t>
            </a:r>
            <a:endParaRPr b="0" i="0" sz="2800" u="none" cap="none" strike="noStrike">
              <a:solidFill>
                <a:schemeClr val="dk1"/>
              </a:solidFill>
              <a:latin typeface="Calibri"/>
              <a:ea typeface="Calibri"/>
              <a:cs typeface="Calibri"/>
              <a:sym typeface="Calibri"/>
            </a:endParaRPr>
          </a:p>
        </p:txBody>
      </p:sp>
      <p:sp>
        <p:nvSpPr>
          <p:cNvPr id="153" name="Google Shape;153;g3e47b6fd3c3_0_81"/>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154" name="Google Shape;154;g3e47b6fd3c3_0_81"/>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rgbClr val="BA7517"/>
                </a:solidFill>
              </a:rPr>
              <a:t>When you send a conversation to the API where the last message has the "assistant" role, the model treats that content as if it already wrote it, and simply continues from where it left off.</a:t>
            </a:r>
            <a:endParaRPr>
              <a:solidFill>
                <a:srgbClr val="BA7517"/>
              </a:solidFill>
            </a:endParaRPr>
          </a:p>
          <a:p>
            <a:pPr indent="0" lvl="0" marL="0" rtl="0" algn="l">
              <a:spcBef>
                <a:spcPts val="0"/>
              </a:spcBef>
              <a:spcAft>
                <a:spcPts val="0"/>
              </a:spcAft>
              <a:buNone/>
            </a:pPr>
            <a:r>
              <a:rPr lang="en-US">
                <a:solidFill>
                  <a:srgbClr val="BA7517"/>
                </a:solidFill>
              </a:rPr>
              <a:t>So this:</a:t>
            </a:r>
            <a:endParaRPr>
              <a:solidFill>
                <a:srgbClr val="BA7517"/>
              </a:solidFill>
            </a:endParaRPr>
          </a:p>
          <a:p>
            <a:pPr indent="0" lvl="0" marL="0" rtl="0" algn="l">
              <a:spcBef>
                <a:spcPts val="0"/>
              </a:spcBef>
              <a:spcAft>
                <a:spcPts val="0"/>
              </a:spcAft>
              <a:buNone/>
            </a:pPr>
            <a:r>
              <a:rPr lang="en-US">
                <a:solidFill>
                  <a:srgbClr val="BA7517"/>
                </a:solidFill>
              </a:rPr>
              <a:t>python</a:t>
            </a:r>
            <a:endParaRPr>
              <a:solidFill>
                <a:srgbClr val="BA7517"/>
              </a:solidFill>
            </a:endParaRPr>
          </a:p>
          <a:p>
            <a:pPr indent="0" lvl="0" marL="0" rtl="0" algn="l">
              <a:spcBef>
                <a:spcPts val="0"/>
              </a:spcBef>
              <a:spcAft>
                <a:spcPts val="0"/>
              </a:spcAft>
              <a:buNone/>
            </a:pPr>
            <a:r>
              <a:rPr lang="en-US">
                <a:solidFill>
                  <a:srgbClr val="BA7517"/>
                </a:solidFill>
              </a:rPr>
              <a:t>add_user_message(messages, prompt)</a:t>
            </a:r>
            <a:endParaRPr>
              <a:solidFill>
                <a:srgbClr val="BA7517"/>
              </a:solidFill>
            </a:endParaRPr>
          </a:p>
          <a:p>
            <a:pPr indent="0" lvl="0" marL="0" rtl="0" algn="l">
              <a:spcBef>
                <a:spcPts val="0"/>
              </a:spcBef>
              <a:spcAft>
                <a:spcPts val="0"/>
              </a:spcAft>
              <a:buNone/>
            </a:pPr>
            <a:r>
              <a:rPr lang="en-US">
                <a:solidFill>
                  <a:srgbClr val="BA7517"/>
                </a:solidFill>
              </a:rPr>
              <a:t>add_assistant_message(messages, "```json")</a:t>
            </a:r>
            <a:endParaRPr>
              <a:solidFill>
                <a:srgbClr val="BA7517"/>
              </a:solidFill>
            </a:endParaRPr>
          </a:p>
          <a:p>
            <a:pPr indent="0" lvl="0" marL="0" rtl="0" algn="l">
              <a:spcBef>
                <a:spcPts val="0"/>
              </a:spcBef>
              <a:spcAft>
                <a:spcPts val="0"/>
              </a:spcAft>
              <a:buNone/>
            </a:pPr>
            <a:r>
              <a:rPr lang="en-US">
                <a:solidFill>
                  <a:srgbClr val="BA7517"/>
                </a:solidFill>
              </a:rPr>
              <a:t>Constructs this conversation:</a:t>
            </a:r>
            <a:endParaRPr>
              <a:solidFill>
                <a:srgbClr val="BA7517"/>
              </a:solidFill>
            </a:endParaRPr>
          </a:p>
          <a:p>
            <a:pPr indent="0" lvl="0" marL="0" rtl="0" algn="l">
              <a:spcBef>
                <a:spcPts val="0"/>
              </a:spcBef>
              <a:spcAft>
                <a:spcPts val="0"/>
              </a:spcAft>
              <a:buNone/>
            </a:pPr>
            <a:r>
              <a:rPr lang="en-US">
                <a:solidFill>
                  <a:srgbClr val="BA7517"/>
                </a:solidFill>
              </a:rPr>
              <a:t>User:      "Generate a dataset..."</a:t>
            </a:r>
            <a:endParaRPr>
              <a:solidFill>
                <a:srgbClr val="BA7517"/>
              </a:solidFill>
            </a:endParaRPr>
          </a:p>
          <a:p>
            <a:pPr indent="0" lvl="0" marL="0" rtl="0" algn="l">
              <a:spcBef>
                <a:spcPts val="0"/>
              </a:spcBef>
              <a:spcAft>
                <a:spcPts val="0"/>
              </a:spcAft>
              <a:buNone/>
            </a:pPr>
            <a:r>
              <a:rPr lang="en-US">
                <a:solidFill>
                  <a:srgbClr val="BA7517"/>
                </a:solidFill>
              </a:rPr>
              <a:t>Assistant: "```json"        ← model continues from here</a:t>
            </a:r>
            <a:endParaRPr>
              <a:solidFill>
                <a:srgbClr val="BA7517"/>
              </a:solidFill>
            </a:endParaRPr>
          </a:p>
          <a:p>
            <a:pPr indent="0" lvl="0" marL="0" rtl="0" algn="l">
              <a:spcBef>
                <a:spcPts val="0"/>
              </a:spcBef>
              <a:spcAft>
                <a:spcPts val="0"/>
              </a:spcAft>
              <a:buNone/>
            </a:pPr>
            <a:r>
              <a:rPr lang="en-US">
                <a:solidFill>
                  <a:srgbClr val="BA7517"/>
                </a:solidFill>
              </a:rPr>
              <a:t>The model doesn't decide how to respond — it's already mid-response, so it just carries on writing JSON after ```json.</a:t>
            </a:r>
            <a:endParaRPr>
              <a:solidFill>
                <a:srgbClr val="BA7517"/>
              </a:solidFill>
            </a:endParaRPr>
          </a:p>
          <a:p>
            <a:pPr indent="0" lvl="0" marL="0" rtl="0" algn="l">
              <a:spcBef>
                <a:spcPts val="0"/>
              </a:spcBef>
              <a:spcAft>
                <a:spcPts val="0"/>
              </a:spcAft>
              <a:buNone/>
            </a:pPr>
            <a:r>
              <a:t/>
            </a:r>
            <a:endParaRPr>
              <a:solidFill>
                <a:srgbClr val="BA7517"/>
              </a:solidFill>
            </a:endParaRPr>
          </a:p>
          <a:p>
            <a:pPr indent="0" lvl="0" marL="0" rtl="0" algn="l">
              <a:spcBef>
                <a:spcPts val="0"/>
              </a:spcBef>
              <a:spcAft>
                <a:spcPts val="0"/>
              </a:spcAft>
              <a:buNone/>
            </a:pPr>
            <a:r>
              <a:rPr lang="en-US">
                <a:solidFill>
                  <a:srgbClr val="BA7517"/>
                </a:solidFill>
              </a:rPr>
              <a:t>Why it's useful</a:t>
            </a:r>
            <a:endParaRPr>
              <a:solidFill>
                <a:srgbClr val="BA7517"/>
              </a:solidFill>
            </a:endParaRPr>
          </a:p>
          <a:p>
            <a:pPr indent="0" lvl="0" marL="0" rtl="0" algn="l">
              <a:spcBef>
                <a:spcPts val="0"/>
              </a:spcBef>
              <a:spcAft>
                <a:spcPts val="0"/>
              </a:spcAft>
              <a:buNone/>
            </a:pPr>
            <a:r>
              <a:rPr lang="en-US">
                <a:solidFill>
                  <a:srgbClr val="BA7517"/>
                </a:solidFill>
              </a:rPr>
              <a:t>Without prefilling, the model might respond however it likes:</a:t>
            </a:r>
            <a:endParaRPr>
              <a:solidFill>
                <a:srgbClr val="BA7517"/>
              </a:solidFill>
            </a:endParaRPr>
          </a:p>
          <a:p>
            <a:pPr indent="0" lvl="0" marL="0" rtl="0" algn="l">
              <a:spcBef>
                <a:spcPts val="0"/>
              </a:spcBef>
              <a:spcAft>
                <a:spcPts val="0"/>
              </a:spcAft>
              <a:buNone/>
            </a:pPr>
            <a:r>
              <a:t/>
            </a:r>
            <a:endParaRPr>
              <a:solidFill>
                <a:srgbClr val="BA751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159" name="Shape 159"/>
        <p:cNvGrpSpPr/>
        <p:nvPr/>
      </p:nvGrpSpPr>
      <p:grpSpPr>
        <a:xfrm>
          <a:off x="0" y="0"/>
          <a:ext cx="0" cy="0"/>
          <a:chOff x="0" y="0"/>
          <a:chExt cx="0" cy="0"/>
        </a:xfrm>
      </p:grpSpPr>
      <p:sp>
        <p:nvSpPr>
          <p:cNvPr id="160" name="Google Shape;160;g3e47b6fd3c3_0_59"/>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Temperature</a:t>
            </a:r>
            <a:endParaRPr b="0" i="0" sz="2800" u="none" cap="none" strike="noStrike">
              <a:solidFill>
                <a:schemeClr val="dk1"/>
              </a:solidFill>
              <a:latin typeface="Calibri"/>
              <a:ea typeface="Calibri"/>
              <a:cs typeface="Calibri"/>
              <a:sym typeface="Calibri"/>
            </a:endParaRPr>
          </a:p>
        </p:txBody>
      </p:sp>
      <p:sp>
        <p:nvSpPr>
          <p:cNvPr id="161" name="Google Shape;161;g3e47b6fd3c3_0_59"/>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162" name="Google Shape;162;g3e47b6fd3c3_0_59"/>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a:p>
            <a:pPr indent="0" lvl="0" marL="457200" rtl="0" algn="l">
              <a:lnSpc>
                <a:spcPct val="140000"/>
              </a:lnSpc>
              <a:spcBef>
                <a:spcPts val="0"/>
              </a:spcBef>
              <a:spcAft>
                <a:spcPts val="0"/>
              </a:spcAft>
              <a:buNone/>
            </a:pPr>
            <a:r>
              <a:rPr lang="en-US" sz="1500">
                <a:solidFill>
                  <a:schemeClr val="lt1"/>
                </a:solidFill>
                <a:latin typeface="Times New Roman"/>
                <a:ea typeface="Times New Roman"/>
                <a:cs typeface="Times New Roman"/>
                <a:sym typeface="Times New Roman"/>
              </a:rPr>
              <a:t>Temperature is a powerful parameter that controls how predictable or creative Claude's responses will be. Understanding how to use it effectively can dramatically improve your AI applications. </a:t>
            </a:r>
            <a:endParaRPr sz="1500">
              <a:solidFill>
                <a:schemeClr val="lt1"/>
              </a:solidFill>
              <a:latin typeface="Times New Roman"/>
              <a:ea typeface="Times New Roman"/>
              <a:cs typeface="Times New Roman"/>
              <a:sym typeface="Times New Roman"/>
            </a:endParaRPr>
          </a:p>
          <a:p>
            <a:pPr indent="0" lvl="0" marL="457200" rtl="0" algn="l">
              <a:lnSpc>
                <a:spcPct val="140000"/>
              </a:lnSpc>
              <a:spcBef>
                <a:spcPts val="1500"/>
              </a:spcBef>
              <a:spcAft>
                <a:spcPts val="0"/>
              </a:spcAft>
              <a:buNone/>
            </a:pPr>
            <a:r>
              <a:rPr lang="en-US" sz="1500">
                <a:solidFill>
                  <a:schemeClr val="lt1"/>
                </a:solidFill>
                <a:latin typeface="Times New Roman"/>
                <a:ea typeface="Times New Roman"/>
                <a:cs typeface="Times New Roman"/>
                <a:sym typeface="Times New Roman"/>
              </a:rPr>
              <a:t>When you send Claude a prompt like "What do you think?", it goes through three key steps:</a:t>
            </a:r>
            <a:endParaRPr sz="1500">
              <a:solidFill>
                <a:schemeClr val="lt1"/>
              </a:solidFill>
              <a:latin typeface="Times New Roman"/>
              <a:ea typeface="Times New Roman"/>
              <a:cs typeface="Times New Roman"/>
              <a:sym typeface="Times New Roman"/>
            </a:endParaRPr>
          </a:p>
          <a:p>
            <a:pPr indent="-323850" lvl="0" marL="825500" rtl="0" algn="l">
              <a:lnSpc>
                <a:spcPct val="140000"/>
              </a:lnSpc>
              <a:spcBef>
                <a:spcPts val="1500"/>
              </a:spcBef>
              <a:spcAft>
                <a:spcPts val="0"/>
              </a:spcAft>
              <a:buClr>
                <a:schemeClr val="lt1"/>
              </a:buClr>
              <a:buSzPts val="1500"/>
              <a:buFont typeface="Times New Roman"/>
              <a:buChar char="●"/>
            </a:pPr>
            <a:r>
              <a:rPr lang="en-US" sz="1500">
                <a:solidFill>
                  <a:schemeClr val="lt1"/>
                </a:solidFill>
                <a:latin typeface="Times New Roman"/>
                <a:ea typeface="Times New Roman"/>
                <a:cs typeface="Times New Roman"/>
                <a:sym typeface="Times New Roman"/>
              </a:rPr>
              <a:t>Tokenization - Breaking your input into smaller chunks</a:t>
            </a:r>
            <a:endParaRPr sz="1500">
              <a:solidFill>
                <a:schemeClr val="lt1"/>
              </a:solidFill>
              <a:latin typeface="Times New Roman"/>
              <a:ea typeface="Times New Roman"/>
              <a:cs typeface="Times New Roman"/>
              <a:sym typeface="Times New Roman"/>
            </a:endParaRPr>
          </a:p>
          <a:p>
            <a:pPr indent="-323850" lvl="0" marL="825500" rtl="0" algn="l">
              <a:lnSpc>
                <a:spcPct val="140000"/>
              </a:lnSpc>
              <a:spcBef>
                <a:spcPts val="0"/>
              </a:spcBef>
              <a:spcAft>
                <a:spcPts val="0"/>
              </a:spcAft>
              <a:buClr>
                <a:schemeClr val="lt1"/>
              </a:buClr>
              <a:buSzPts val="1500"/>
              <a:buFont typeface="Times New Roman"/>
              <a:buChar char="●"/>
            </a:pPr>
            <a:r>
              <a:rPr lang="en-US" sz="1500">
                <a:solidFill>
                  <a:schemeClr val="lt1"/>
                </a:solidFill>
                <a:latin typeface="Times New Roman"/>
                <a:ea typeface="Times New Roman"/>
                <a:cs typeface="Times New Roman"/>
                <a:sym typeface="Times New Roman"/>
              </a:rPr>
              <a:t>Prediction - Calculating probabilities for possible next words</a:t>
            </a:r>
            <a:endParaRPr sz="1500">
              <a:solidFill>
                <a:schemeClr val="lt1"/>
              </a:solidFill>
              <a:latin typeface="Times New Roman"/>
              <a:ea typeface="Times New Roman"/>
              <a:cs typeface="Times New Roman"/>
              <a:sym typeface="Times New Roman"/>
            </a:endParaRPr>
          </a:p>
          <a:p>
            <a:pPr indent="-323850" lvl="0" marL="825500" rtl="0" algn="l">
              <a:lnSpc>
                <a:spcPct val="140000"/>
              </a:lnSpc>
              <a:spcBef>
                <a:spcPts val="0"/>
              </a:spcBef>
              <a:spcAft>
                <a:spcPts val="0"/>
              </a:spcAft>
              <a:buClr>
                <a:schemeClr val="lt1"/>
              </a:buClr>
              <a:buSzPts val="1500"/>
              <a:buFont typeface="Times New Roman"/>
              <a:buChar char="●"/>
            </a:pPr>
            <a:r>
              <a:rPr lang="en-US" sz="1500">
                <a:solidFill>
                  <a:schemeClr val="lt1"/>
                </a:solidFill>
                <a:latin typeface="Times New Roman"/>
                <a:ea typeface="Times New Roman"/>
                <a:cs typeface="Times New Roman"/>
                <a:sym typeface="Times New Roman"/>
              </a:rPr>
              <a:t>Sampling - Choosing a token based on those probabilities</a:t>
            </a:r>
            <a:endParaRPr sz="1500">
              <a:solidFill>
                <a:schemeClr val="lt1"/>
              </a:solidFill>
              <a:latin typeface="Times New Roman"/>
              <a:ea typeface="Times New Roman"/>
              <a:cs typeface="Times New Roman"/>
              <a:sym typeface="Times New Roman"/>
            </a:endParaRPr>
          </a:p>
          <a:p>
            <a:pPr indent="0" lvl="0" marL="457200" rtl="0" algn="l">
              <a:lnSpc>
                <a:spcPct val="140000"/>
              </a:lnSpc>
              <a:spcBef>
                <a:spcPts val="1500"/>
              </a:spcBef>
              <a:spcAft>
                <a:spcPts val="1500"/>
              </a:spcAft>
              <a:buNone/>
            </a:pPr>
            <a:r>
              <a:rPr lang="en-US" sz="1500">
                <a:solidFill>
                  <a:schemeClr val="lt1"/>
                </a:solidFill>
                <a:latin typeface="Times New Roman"/>
                <a:ea typeface="Times New Roman"/>
                <a:cs typeface="Times New Roman"/>
                <a:sym typeface="Times New Roman"/>
              </a:rPr>
              <a:t>Temperature is a decimal value between 0 and 1 that directly influences these selection probabilities. It's like adjusting the "creativity dial" on Claude's responses. </a:t>
            </a:r>
            <a:endParaRPr>
              <a:solidFill>
                <a:srgbClr val="AFA9EC"/>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167" name="Shape 167"/>
        <p:cNvGrpSpPr/>
        <p:nvPr/>
      </p:nvGrpSpPr>
      <p:grpSpPr>
        <a:xfrm>
          <a:off x="0" y="0"/>
          <a:ext cx="0" cy="0"/>
          <a:chOff x="0" y="0"/>
          <a:chExt cx="0" cy="0"/>
        </a:xfrm>
      </p:grpSpPr>
      <p:sp>
        <p:nvSpPr>
          <p:cNvPr id="168" name="Google Shape;168;g3e47b6fd3c3_0_67"/>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Temperature</a:t>
            </a:r>
            <a:endParaRPr b="0" i="0" sz="2800" u="none" cap="none" strike="noStrike">
              <a:solidFill>
                <a:schemeClr val="dk1"/>
              </a:solidFill>
              <a:latin typeface="Calibri"/>
              <a:ea typeface="Calibri"/>
              <a:cs typeface="Calibri"/>
              <a:sym typeface="Calibri"/>
            </a:endParaRPr>
          </a:p>
        </p:txBody>
      </p:sp>
      <p:sp>
        <p:nvSpPr>
          <p:cNvPr id="169" name="Google Shape;169;g3e47b6fd3c3_0_67"/>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170" name="Google Shape;170;g3e47b6fd3c3_0_67"/>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a:p>
            <a:pPr indent="0" lvl="0" marL="457200" rtl="0" algn="l">
              <a:lnSpc>
                <a:spcPct val="140000"/>
              </a:lnSpc>
              <a:spcBef>
                <a:spcPts val="0"/>
              </a:spcBef>
              <a:spcAft>
                <a:spcPts val="0"/>
              </a:spcAft>
              <a:buNone/>
            </a:pPr>
            <a:r>
              <a:rPr lang="en-US" sz="1500">
                <a:solidFill>
                  <a:schemeClr val="lt1"/>
                </a:solidFill>
                <a:latin typeface="Times New Roman"/>
                <a:ea typeface="Times New Roman"/>
                <a:cs typeface="Times New Roman"/>
                <a:sym typeface="Times New Roman"/>
              </a:rPr>
              <a:t>Low temperature gives a more deterministic output while high temperature produces a more random output.</a:t>
            </a:r>
            <a:endParaRPr sz="1500">
              <a:solidFill>
                <a:schemeClr val="lt1"/>
              </a:solidFill>
              <a:latin typeface="Times New Roman"/>
              <a:ea typeface="Times New Roman"/>
              <a:cs typeface="Times New Roman"/>
              <a:sym typeface="Times New Roman"/>
            </a:endParaRPr>
          </a:p>
          <a:p>
            <a:pPr indent="0" lvl="0" marL="457200" rtl="0" algn="l">
              <a:lnSpc>
                <a:spcPct val="140000"/>
              </a:lnSpc>
              <a:spcBef>
                <a:spcPts val="1500"/>
              </a:spcBef>
              <a:spcAft>
                <a:spcPts val="0"/>
              </a:spcAft>
              <a:buNone/>
            </a:pPr>
            <a:r>
              <a:rPr b="1" lang="en-US" sz="1200">
                <a:solidFill>
                  <a:schemeClr val="lt1"/>
                </a:solidFill>
                <a:latin typeface="Times New Roman"/>
                <a:ea typeface="Times New Roman"/>
                <a:cs typeface="Times New Roman"/>
                <a:sym typeface="Times New Roman"/>
              </a:rPr>
              <a:t>Low Temperature (0.0 - 0.3)		Medium Temperature (0.4 - 0.7)		High Temperature (0.8 - 1.0)</a:t>
            </a:r>
            <a:endParaRPr b="1" sz="1200">
              <a:solidFill>
                <a:schemeClr val="lt1"/>
              </a:solidFill>
              <a:latin typeface="Times New Roman"/>
              <a:ea typeface="Times New Roman"/>
              <a:cs typeface="Times New Roman"/>
              <a:sym typeface="Times New Roman"/>
            </a:endParaRPr>
          </a:p>
          <a:p>
            <a:pPr indent="0" lvl="0" marL="457200" rtl="0" algn="l">
              <a:lnSpc>
                <a:spcPct val="115000"/>
              </a:lnSpc>
              <a:spcBef>
                <a:spcPts val="1500"/>
              </a:spcBef>
              <a:spcAft>
                <a:spcPts val="0"/>
              </a:spcAft>
              <a:buNone/>
            </a:pPr>
            <a:r>
              <a:rPr lang="en-US" sz="1200">
                <a:solidFill>
                  <a:schemeClr val="lt1"/>
                </a:solidFill>
                <a:latin typeface="Times New Roman"/>
                <a:ea typeface="Times New Roman"/>
                <a:cs typeface="Times New Roman"/>
                <a:sym typeface="Times New Roman"/>
              </a:rPr>
              <a:t>Factual responses			Summarization				Brainstorming</a:t>
            </a:r>
            <a:endParaRPr sz="1200">
              <a:solidFill>
                <a:schemeClr val="lt1"/>
              </a:solidFill>
              <a:latin typeface="Times New Roman"/>
              <a:ea typeface="Times New Roman"/>
              <a:cs typeface="Times New Roman"/>
              <a:sym typeface="Times New Roman"/>
            </a:endParaRPr>
          </a:p>
          <a:p>
            <a:pPr indent="0" lvl="0" marL="457200" rtl="0" algn="l">
              <a:lnSpc>
                <a:spcPct val="115000"/>
              </a:lnSpc>
              <a:spcBef>
                <a:spcPts val="1500"/>
              </a:spcBef>
              <a:spcAft>
                <a:spcPts val="0"/>
              </a:spcAft>
              <a:buNone/>
            </a:pPr>
            <a:r>
              <a:rPr lang="en-US" sz="1200">
                <a:solidFill>
                  <a:schemeClr val="lt1"/>
                </a:solidFill>
                <a:latin typeface="Times New Roman"/>
                <a:ea typeface="Times New Roman"/>
                <a:cs typeface="Times New Roman"/>
                <a:sym typeface="Times New Roman"/>
              </a:rPr>
              <a:t>Coding assistance			Educational content				Creative writing</a:t>
            </a:r>
            <a:endParaRPr sz="1200">
              <a:solidFill>
                <a:schemeClr val="lt1"/>
              </a:solidFill>
              <a:latin typeface="Times New Roman"/>
              <a:ea typeface="Times New Roman"/>
              <a:cs typeface="Times New Roman"/>
              <a:sym typeface="Times New Roman"/>
            </a:endParaRPr>
          </a:p>
          <a:p>
            <a:pPr indent="0" lvl="0" marL="457200" rtl="0" algn="l">
              <a:lnSpc>
                <a:spcPct val="115000"/>
              </a:lnSpc>
              <a:spcBef>
                <a:spcPts val="1500"/>
              </a:spcBef>
              <a:spcAft>
                <a:spcPts val="0"/>
              </a:spcAft>
              <a:buNone/>
            </a:pPr>
            <a:r>
              <a:rPr lang="en-US" sz="1200">
                <a:solidFill>
                  <a:schemeClr val="lt1"/>
                </a:solidFill>
                <a:latin typeface="Times New Roman"/>
                <a:ea typeface="Times New Roman"/>
                <a:cs typeface="Times New Roman"/>
                <a:sym typeface="Times New Roman"/>
              </a:rPr>
              <a:t>Data extraction			Problem-solving				Marketing content</a:t>
            </a:r>
            <a:endParaRPr sz="1200">
              <a:solidFill>
                <a:schemeClr val="lt1"/>
              </a:solidFill>
              <a:latin typeface="Times New Roman"/>
              <a:ea typeface="Times New Roman"/>
              <a:cs typeface="Times New Roman"/>
              <a:sym typeface="Times New Roman"/>
            </a:endParaRPr>
          </a:p>
          <a:p>
            <a:pPr indent="0" lvl="0" marL="457200" rtl="0" algn="l">
              <a:lnSpc>
                <a:spcPct val="115000"/>
              </a:lnSpc>
              <a:spcBef>
                <a:spcPts val="1500"/>
              </a:spcBef>
              <a:spcAft>
                <a:spcPts val="0"/>
              </a:spcAft>
              <a:buNone/>
            </a:pPr>
            <a:r>
              <a:rPr lang="en-US" sz="1200">
                <a:solidFill>
                  <a:schemeClr val="lt1"/>
                </a:solidFill>
                <a:latin typeface="Times New Roman"/>
                <a:ea typeface="Times New Roman"/>
                <a:cs typeface="Times New Roman"/>
                <a:sym typeface="Times New Roman"/>
              </a:rPr>
              <a:t>Content moderation			Creative writing with constraints		Joke generation</a:t>
            </a:r>
            <a:endParaRPr sz="1200">
              <a:solidFill>
                <a:schemeClr val="lt1"/>
              </a:solidFill>
              <a:latin typeface="Times New Roman"/>
              <a:ea typeface="Times New Roman"/>
              <a:cs typeface="Times New Roman"/>
              <a:sym typeface="Times New Roman"/>
            </a:endParaRPr>
          </a:p>
          <a:p>
            <a:pPr indent="0" lvl="0" marL="457200" rtl="0" algn="l">
              <a:lnSpc>
                <a:spcPct val="140000"/>
              </a:lnSpc>
              <a:spcBef>
                <a:spcPts val="1500"/>
              </a:spcBef>
              <a:spcAft>
                <a:spcPts val="1500"/>
              </a:spcAft>
              <a:buNone/>
            </a:pPr>
            <a:r>
              <a:rPr lang="en-US" sz="1500">
                <a:solidFill>
                  <a:schemeClr val="lt1"/>
                </a:solidFill>
                <a:latin typeface="Times New Roman"/>
                <a:ea typeface="Times New Roman"/>
                <a:cs typeface="Times New Roman"/>
                <a:sym typeface="Times New Roman"/>
              </a:rPr>
              <a:t> </a:t>
            </a:r>
            <a:endParaRPr>
              <a:solidFill>
                <a:srgbClr val="AFA9EC"/>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175" name="Shape 175"/>
        <p:cNvGrpSpPr/>
        <p:nvPr/>
      </p:nvGrpSpPr>
      <p:grpSpPr>
        <a:xfrm>
          <a:off x="0" y="0"/>
          <a:ext cx="0" cy="0"/>
          <a:chOff x="0" y="0"/>
          <a:chExt cx="0" cy="0"/>
        </a:xfrm>
      </p:grpSpPr>
      <p:sp>
        <p:nvSpPr>
          <p:cNvPr id="176" name="Google Shape;176;g3e47b6fd3c3_0_74"/>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Response streaming</a:t>
            </a:r>
            <a:endParaRPr b="0" i="0" sz="2800" u="none" cap="none" strike="noStrike">
              <a:solidFill>
                <a:schemeClr val="dk1"/>
              </a:solidFill>
              <a:latin typeface="Calibri"/>
              <a:ea typeface="Calibri"/>
              <a:cs typeface="Calibri"/>
              <a:sym typeface="Calibri"/>
            </a:endParaRPr>
          </a:p>
        </p:txBody>
      </p:sp>
      <p:sp>
        <p:nvSpPr>
          <p:cNvPr id="177" name="Google Shape;177;g3e47b6fd3c3_0_74"/>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178" name="Google Shape;178;g3e47b6fd3c3_0_74"/>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a:p>
            <a:pPr indent="0" lvl="0" marL="457200" rtl="0" algn="l">
              <a:lnSpc>
                <a:spcPct val="140000"/>
              </a:lnSpc>
              <a:spcBef>
                <a:spcPts val="0"/>
              </a:spcBef>
              <a:spcAft>
                <a:spcPts val="0"/>
              </a:spcAft>
              <a:buNone/>
            </a:pPr>
            <a:r>
              <a:rPr lang="en-US" sz="1500">
                <a:solidFill>
                  <a:schemeClr val="lt1"/>
                </a:solidFill>
                <a:latin typeface="Times New Roman"/>
                <a:ea typeface="Times New Roman"/>
                <a:cs typeface="Times New Roman"/>
                <a:sym typeface="Times New Roman"/>
              </a:rPr>
              <a:t>Response streaming lets users see text appear chunk by chunk as Claude generates it, creating a much more responsive feel.</a:t>
            </a:r>
            <a:endParaRPr sz="1500">
              <a:solidFill>
                <a:schemeClr val="lt1"/>
              </a:solidFill>
              <a:latin typeface="Times New Roman"/>
              <a:ea typeface="Times New Roman"/>
              <a:cs typeface="Times New Roman"/>
              <a:sym typeface="Times New Roman"/>
            </a:endParaRPr>
          </a:p>
          <a:p>
            <a:pPr indent="0" lvl="0" marL="457200" rtl="0" algn="l">
              <a:lnSpc>
                <a:spcPct val="140000"/>
              </a:lnSpc>
              <a:spcBef>
                <a:spcPts val="1500"/>
              </a:spcBef>
              <a:spcAft>
                <a:spcPts val="0"/>
              </a:spcAft>
              <a:buNone/>
            </a:pPr>
            <a:r>
              <a:rPr lang="en-US" sz="1500">
                <a:solidFill>
                  <a:schemeClr val="lt1"/>
                </a:solidFill>
                <a:latin typeface="Times New Roman"/>
                <a:ea typeface="Times New Roman"/>
                <a:cs typeface="Times New Roman"/>
                <a:sym typeface="Times New Roman"/>
              </a:rPr>
              <a:t>In a typical chat setup, your server sends a user message to Claude and waits for the complete response before sending anything back to the client. This creates an awkward delay where users have no feedback that anything is happening.</a:t>
            </a:r>
            <a:endParaRPr sz="1500">
              <a:solidFill>
                <a:schemeClr val="lt1"/>
              </a:solidFill>
              <a:latin typeface="Times New Roman"/>
              <a:ea typeface="Times New Roman"/>
              <a:cs typeface="Times New Roman"/>
              <a:sym typeface="Times New Roman"/>
            </a:endParaRPr>
          </a:p>
          <a:p>
            <a:pPr indent="0" lvl="0" marL="457200" rtl="0" algn="l">
              <a:lnSpc>
                <a:spcPct val="140000"/>
              </a:lnSpc>
              <a:spcBef>
                <a:spcPts val="1500"/>
              </a:spcBef>
              <a:spcAft>
                <a:spcPts val="1500"/>
              </a:spcAft>
              <a:buNone/>
            </a:pPr>
            <a:r>
              <a:rPr lang="en-US" sz="1500">
                <a:solidFill>
                  <a:schemeClr val="lt1"/>
                </a:solidFill>
                <a:latin typeface="Times New Roman"/>
                <a:ea typeface="Times New Roman"/>
                <a:cs typeface="Times New Roman"/>
                <a:sym typeface="Times New Roman"/>
              </a:rPr>
              <a:t>With streaming enabled, Claude immediately sends back an initial response indicating it has received your request and is starting to generate text. Then you receive a series of events, each containing a small piece of the overall response.</a:t>
            </a: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183" name="Shape 183"/>
        <p:cNvGrpSpPr/>
        <p:nvPr/>
      </p:nvGrpSpPr>
      <p:grpSpPr>
        <a:xfrm>
          <a:off x="0" y="0"/>
          <a:ext cx="0" cy="0"/>
          <a:chOff x="0" y="0"/>
          <a:chExt cx="0" cy="0"/>
        </a:xfrm>
      </p:grpSpPr>
      <p:sp>
        <p:nvSpPr>
          <p:cNvPr id="184" name="Google Shape;184;g3e47b6fd3c3_0_89"/>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Understanding Stream Events</a:t>
            </a:r>
            <a:endParaRPr b="0" i="0" sz="2800" u="none" cap="none" strike="noStrike">
              <a:solidFill>
                <a:schemeClr val="dk1"/>
              </a:solidFill>
              <a:latin typeface="Calibri"/>
              <a:ea typeface="Calibri"/>
              <a:cs typeface="Calibri"/>
              <a:sym typeface="Calibri"/>
            </a:endParaRPr>
          </a:p>
        </p:txBody>
      </p:sp>
      <p:sp>
        <p:nvSpPr>
          <p:cNvPr id="185" name="Google Shape;185;g3e47b6fd3c3_0_89"/>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186" name="Google Shape;186;g3e47b6fd3c3_0_89"/>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US">
                <a:solidFill>
                  <a:schemeClr val="lt1"/>
                </a:solidFill>
              </a:rPr>
              <a:t>When you enable streaming, Claude sends back several types of events:</a:t>
            </a:r>
            <a:endParaRPr>
              <a:solidFill>
                <a:schemeClr val="lt1"/>
              </a:solidFill>
            </a:endParaRPr>
          </a:p>
          <a:p>
            <a:pPr indent="0" lvl="0" marL="457200" rtl="0" algn="l">
              <a:lnSpc>
                <a:spcPct val="140000"/>
              </a:lnSpc>
              <a:spcBef>
                <a:spcPts val="1500"/>
              </a:spcBef>
              <a:spcAft>
                <a:spcPts val="0"/>
              </a:spcAft>
              <a:buNone/>
            </a:pPr>
            <a:r>
              <a:rPr lang="en-US">
                <a:solidFill>
                  <a:schemeClr val="lt1"/>
                </a:solidFill>
              </a:rPr>
              <a:t>MessageStart - A new message is being sent</a:t>
            </a:r>
            <a:endParaRPr>
              <a:solidFill>
                <a:schemeClr val="lt1"/>
              </a:solidFill>
            </a:endParaRPr>
          </a:p>
          <a:p>
            <a:pPr indent="0" lvl="0" marL="457200" rtl="0" algn="l">
              <a:lnSpc>
                <a:spcPct val="140000"/>
              </a:lnSpc>
              <a:spcBef>
                <a:spcPts val="1500"/>
              </a:spcBef>
              <a:spcAft>
                <a:spcPts val="0"/>
              </a:spcAft>
              <a:buNone/>
            </a:pPr>
            <a:r>
              <a:rPr lang="en-US">
                <a:solidFill>
                  <a:schemeClr val="lt1"/>
                </a:solidFill>
              </a:rPr>
              <a:t>ContentBlockStart - Start of a new block containing text, tool use, or other content</a:t>
            </a:r>
            <a:endParaRPr>
              <a:solidFill>
                <a:schemeClr val="lt1"/>
              </a:solidFill>
            </a:endParaRPr>
          </a:p>
          <a:p>
            <a:pPr indent="0" lvl="0" marL="457200" rtl="0" algn="l">
              <a:lnSpc>
                <a:spcPct val="140000"/>
              </a:lnSpc>
              <a:spcBef>
                <a:spcPts val="1500"/>
              </a:spcBef>
              <a:spcAft>
                <a:spcPts val="0"/>
              </a:spcAft>
              <a:buNone/>
            </a:pPr>
            <a:r>
              <a:rPr lang="en-US">
                <a:solidFill>
                  <a:schemeClr val="lt1"/>
                </a:solidFill>
              </a:rPr>
              <a:t>ContentBlockDelta - Chunks of the actual generated text</a:t>
            </a:r>
            <a:endParaRPr>
              <a:solidFill>
                <a:schemeClr val="lt1"/>
              </a:solidFill>
            </a:endParaRPr>
          </a:p>
          <a:p>
            <a:pPr indent="0" lvl="0" marL="457200" rtl="0" algn="l">
              <a:lnSpc>
                <a:spcPct val="140000"/>
              </a:lnSpc>
              <a:spcBef>
                <a:spcPts val="1500"/>
              </a:spcBef>
              <a:spcAft>
                <a:spcPts val="0"/>
              </a:spcAft>
              <a:buNone/>
            </a:pPr>
            <a:r>
              <a:rPr lang="en-US">
                <a:solidFill>
                  <a:schemeClr val="lt1"/>
                </a:solidFill>
              </a:rPr>
              <a:t>ContentBlockStop - The current content block has been completed</a:t>
            </a:r>
            <a:endParaRPr>
              <a:solidFill>
                <a:schemeClr val="lt1"/>
              </a:solidFill>
            </a:endParaRPr>
          </a:p>
          <a:p>
            <a:pPr indent="0" lvl="0" marL="457200" rtl="0" algn="l">
              <a:lnSpc>
                <a:spcPct val="140000"/>
              </a:lnSpc>
              <a:spcBef>
                <a:spcPts val="1500"/>
              </a:spcBef>
              <a:spcAft>
                <a:spcPts val="0"/>
              </a:spcAft>
              <a:buNone/>
            </a:pPr>
            <a:r>
              <a:rPr lang="en-US">
                <a:solidFill>
                  <a:schemeClr val="lt1"/>
                </a:solidFill>
              </a:rPr>
              <a:t>MessageDelta - The current message is complete</a:t>
            </a:r>
            <a:endParaRPr>
              <a:solidFill>
                <a:schemeClr val="lt1"/>
              </a:solidFill>
            </a:endParaRPr>
          </a:p>
          <a:p>
            <a:pPr indent="0" lvl="0" marL="457200" rtl="0" algn="l">
              <a:lnSpc>
                <a:spcPct val="140000"/>
              </a:lnSpc>
              <a:spcBef>
                <a:spcPts val="1500"/>
              </a:spcBef>
              <a:spcAft>
                <a:spcPts val="1500"/>
              </a:spcAft>
              <a:buNone/>
            </a:pPr>
            <a:r>
              <a:rPr lang="en-US">
                <a:solidFill>
                  <a:schemeClr val="lt1"/>
                </a:solidFill>
              </a:rPr>
              <a:t>MessageStop - End of information about the current message</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191" name="Shape 191"/>
        <p:cNvGrpSpPr/>
        <p:nvPr/>
      </p:nvGrpSpPr>
      <p:grpSpPr>
        <a:xfrm>
          <a:off x="0" y="0"/>
          <a:ext cx="0" cy="0"/>
          <a:chOff x="0" y="0"/>
          <a:chExt cx="0" cy="0"/>
        </a:xfrm>
      </p:grpSpPr>
      <p:sp>
        <p:nvSpPr>
          <p:cNvPr id="192" name="Google Shape;192;g3e47b6fd3c3_0_96"/>
          <p:cNvSpPr/>
          <p:nvPr/>
        </p:nvSpPr>
        <p:spPr>
          <a:xfrm>
            <a:off x="378500" y="34081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Understanding Stream Events</a:t>
            </a:r>
            <a:endParaRPr b="0" i="0" sz="2800" u="none" cap="none" strike="noStrike">
              <a:solidFill>
                <a:schemeClr val="dk1"/>
              </a:solidFill>
              <a:latin typeface="Calibri"/>
              <a:ea typeface="Calibri"/>
              <a:cs typeface="Calibri"/>
              <a:sym typeface="Calibri"/>
            </a:endParaRPr>
          </a:p>
        </p:txBody>
      </p:sp>
      <p:sp>
        <p:nvSpPr>
          <p:cNvPr id="193" name="Google Shape;193;g3e47b6fd3c3_0_96"/>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pic>
        <p:nvPicPr>
          <p:cNvPr id="194" name="Google Shape;194;g3e47b6fd3c3_0_96"/>
          <p:cNvPicPr preferRelativeResize="0"/>
          <p:nvPr/>
        </p:nvPicPr>
        <p:blipFill rotWithShape="1">
          <a:blip r:embed="rId3">
            <a:alphaModFix/>
          </a:blip>
          <a:srcRect b="9155" l="11384" r="6121" t="4227"/>
          <a:stretch/>
        </p:blipFill>
        <p:spPr>
          <a:xfrm>
            <a:off x="1439850" y="935100"/>
            <a:ext cx="6179352" cy="3649749"/>
          </a:xfrm>
          <a:prstGeom prst="rect">
            <a:avLst/>
          </a:prstGeom>
          <a:solidFill>
            <a:srgbClr val="243050"/>
          </a:solidFill>
          <a:ln cap="flat" cmpd="sng" w="12700">
            <a:solidFill>
              <a:srgbClr val="2E4070"/>
            </a:solidFill>
            <a:prstDash val="solid"/>
            <a:round/>
            <a:headEnd len="sm" w="sm" type="none"/>
            <a:tailEnd len="sm" w="sm" type="none"/>
          </a:ln>
        </p:spPr>
      </p:pic>
      <p:sp>
        <p:nvSpPr>
          <p:cNvPr id="195" name="Google Shape;195;g3e47b6fd3c3_0_96"/>
          <p:cNvSpPr txBox="1"/>
          <p:nvPr/>
        </p:nvSpPr>
        <p:spPr>
          <a:xfrm>
            <a:off x="398425" y="4583400"/>
            <a:ext cx="86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lt1"/>
                </a:solidFill>
              </a:rPr>
              <a:t>The ContentBlockDelta events contain the actual generated text that you'll want to display to users.</a:t>
            </a:r>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00" name="Shape 200"/>
        <p:cNvGrpSpPr/>
        <p:nvPr/>
      </p:nvGrpSpPr>
      <p:grpSpPr>
        <a:xfrm>
          <a:off x="0" y="0"/>
          <a:ext cx="0" cy="0"/>
          <a:chOff x="0" y="0"/>
          <a:chExt cx="0" cy="0"/>
        </a:xfrm>
      </p:grpSpPr>
      <p:sp>
        <p:nvSpPr>
          <p:cNvPr id="201" name="Google Shape;201;g3e47b6fd3c3_0_113"/>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Structured Data </a:t>
            </a:r>
            <a:endParaRPr b="0" i="0" sz="2800" u="none" cap="none" strike="noStrike">
              <a:solidFill>
                <a:schemeClr val="dk1"/>
              </a:solidFill>
              <a:latin typeface="Calibri"/>
              <a:ea typeface="Calibri"/>
              <a:cs typeface="Calibri"/>
              <a:sym typeface="Calibri"/>
            </a:endParaRPr>
          </a:p>
        </p:txBody>
      </p:sp>
      <p:sp>
        <p:nvSpPr>
          <p:cNvPr id="202" name="Google Shape;202;g3e47b6fd3c3_0_113"/>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03" name="Google Shape;203;g3e47b6fd3c3_0_113"/>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US">
                <a:solidFill>
                  <a:schemeClr val="lt1"/>
                </a:solidFill>
              </a:rPr>
              <a:t>When you need Claude to generate structured data like JSON, Python code, or bulleted lists, you'll often run into a common problem: Claude wants to be helpful and add explanatory text around your content. While this is usually great, sometimes you need just the raw data with nothing else.</a:t>
            </a:r>
            <a:endParaRPr>
              <a:solidFill>
                <a:schemeClr val="lt1"/>
              </a:solidFill>
            </a:endParaRPr>
          </a:p>
          <a:p>
            <a:pPr indent="0" lvl="0" marL="457200" rtl="0" algn="l">
              <a:lnSpc>
                <a:spcPct val="140000"/>
              </a:lnSpc>
              <a:spcBef>
                <a:spcPts val="1500"/>
              </a:spcBef>
              <a:spcAft>
                <a:spcPts val="0"/>
              </a:spcAft>
              <a:buNone/>
            </a:pPr>
            <a:r>
              <a:rPr lang="en-US">
                <a:solidFill>
                  <a:schemeClr val="lt1"/>
                </a:solidFill>
              </a:rPr>
              <a:t>The Solution is Assistant Message Prefilling + Stop Sequences. You can combine assistant message prefilling with stop sequences to get exactly the content you want. Here's how it works:</a:t>
            </a:r>
            <a:endParaRPr>
              <a:solidFill>
                <a:schemeClr val="lt1"/>
              </a:solidFill>
            </a:endParaRPr>
          </a:p>
          <a:p>
            <a:pPr indent="-317500" lvl="0" marL="914400" rtl="0" algn="l">
              <a:lnSpc>
                <a:spcPct val="140000"/>
              </a:lnSpc>
              <a:spcBef>
                <a:spcPts val="1500"/>
              </a:spcBef>
              <a:spcAft>
                <a:spcPts val="0"/>
              </a:spcAft>
              <a:buClr>
                <a:schemeClr val="lt1"/>
              </a:buClr>
              <a:buSzPts val="1400"/>
              <a:buChar char="●"/>
            </a:pPr>
            <a:r>
              <a:rPr lang="en-US">
                <a:solidFill>
                  <a:schemeClr val="lt1"/>
                </a:solidFill>
              </a:rPr>
              <a:t>messages = []</a:t>
            </a:r>
            <a:endParaRPr>
              <a:solidFill>
                <a:schemeClr val="lt1"/>
              </a:solidFill>
            </a:endParaRPr>
          </a:p>
          <a:p>
            <a:pPr indent="-317500" lvl="0" marL="914400" rtl="0" algn="l">
              <a:lnSpc>
                <a:spcPct val="140000"/>
              </a:lnSpc>
              <a:spcBef>
                <a:spcPts val="0"/>
              </a:spcBef>
              <a:spcAft>
                <a:spcPts val="0"/>
              </a:spcAft>
              <a:buClr>
                <a:schemeClr val="lt1"/>
              </a:buClr>
              <a:buSzPts val="1400"/>
              <a:buChar char="●"/>
            </a:pPr>
            <a:r>
              <a:rPr lang="en-US">
                <a:solidFill>
                  <a:schemeClr val="lt1"/>
                </a:solidFill>
              </a:rPr>
              <a:t>add_user_message(messages, "Generate a very short event bridge rule as json")</a:t>
            </a:r>
            <a:endParaRPr>
              <a:solidFill>
                <a:schemeClr val="lt1"/>
              </a:solidFill>
            </a:endParaRPr>
          </a:p>
          <a:p>
            <a:pPr indent="-317500" lvl="0" marL="914400" rtl="0" algn="l">
              <a:lnSpc>
                <a:spcPct val="140000"/>
              </a:lnSpc>
              <a:spcBef>
                <a:spcPts val="0"/>
              </a:spcBef>
              <a:spcAft>
                <a:spcPts val="0"/>
              </a:spcAft>
              <a:buClr>
                <a:schemeClr val="lt1"/>
              </a:buClr>
              <a:buSzPts val="1400"/>
              <a:buChar char="●"/>
            </a:pPr>
            <a:r>
              <a:rPr lang="en-US">
                <a:solidFill>
                  <a:schemeClr val="lt1"/>
                </a:solidFill>
              </a:rPr>
              <a:t>add_assistant_message(messages, "```json")</a:t>
            </a:r>
            <a:endParaRPr>
              <a:solidFill>
                <a:schemeClr val="lt1"/>
              </a:solidFill>
            </a:endParaRPr>
          </a:p>
          <a:p>
            <a:pPr indent="-317500" lvl="0" marL="914400" rtl="0" algn="l">
              <a:lnSpc>
                <a:spcPct val="140000"/>
              </a:lnSpc>
              <a:spcBef>
                <a:spcPts val="0"/>
              </a:spcBef>
              <a:spcAft>
                <a:spcPts val="0"/>
              </a:spcAft>
              <a:buClr>
                <a:schemeClr val="lt1"/>
              </a:buClr>
              <a:buSzPts val="1400"/>
              <a:buChar char="●"/>
            </a:pPr>
            <a:r>
              <a:rPr lang="en-US">
                <a:solidFill>
                  <a:schemeClr val="lt1"/>
                </a:solidFill>
              </a:rPr>
              <a:t>text = chat(messages, stop_sequences=["```"])</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08" name="Shape 208"/>
        <p:cNvGrpSpPr/>
        <p:nvPr/>
      </p:nvGrpSpPr>
      <p:grpSpPr>
        <a:xfrm>
          <a:off x="0" y="0"/>
          <a:ext cx="0" cy="0"/>
          <a:chOff x="0" y="0"/>
          <a:chExt cx="0" cy="0"/>
        </a:xfrm>
      </p:grpSpPr>
      <p:sp>
        <p:nvSpPr>
          <p:cNvPr id="209" name="Google Shape;209;g3e47b6fd3c3_0_158"/>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Structured Data </a:t>
            </a:r>
            <a:endParaRPr b="0" i="0" sz="2800" u="none" cap="none" strike="noStrike">
              <a:solidFill>
                <a:schemeClr val="dk1"/>
              </a:solidFill>
              <a:latin typeface="Calibri"/>
              <a:ea typeface="Calibri"/>
              <a:cs typeface="Calibri"/>
              <a:sym typeface="Calibri"/>
            </a:endParaRPr>
          </a:p>
        </p:txBody>
      </p:sp>
      <p:sp>
        <p:nvSpPr>
          <p:cNvPr id="210" name="Google Shape;210;g3e47b6fd3c3_0_158"/>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11" name="Google Shape;211;g3e47b6fd3c3_0_158"/>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This technique works by:</a:t>
            </a:r>
            <a:endParaRPr>
              <a:solidFill>
                <a:schemeClr val="lt1"/>
              </a:solidFill>
            </a:endParaRPr>
          </a:p>
          <a:p>
            <a:pPr indent="-317500" lvl="0" marL="914400" rtl="0" algn="l">
              <a:lnSpc>
                <a:spcPct val="140000"/>
              </a:lnSpc>
              <a:spcBef>
                <a:spcPts val="1500"/>
              </a:spcBef>
              <a:spcAft>
                <a:spcPts val="0"/>
              </a:spcAft>
              <a:buClr>
                <a:schemeClr val="lt1"/>
              </a:buClr>
              <a:buSzPts val="1400"/>
              <a:buChar char="●"/>
            </a:pPr>
            <a:r>
              <a:rPr lang="en-US">
                <a:solidFill>
                  <a:schemeClr val="lt1"/>
                </a:solidFill>
              </a:rPr>
              <a:t>The user message tells Claude what to generate</a:t>
            </a:r>
            <a:endParaRPr>
              <a:solidFill>
                <a:schemeClr val="lt1"/>
              </a:solidFill>
            </a:endParaRPr>
          </a:p>
          <a:p>
            <a:pPr indent="-317500" lvl="0" marL="914400" rtl="0" algn="l">
              <a:lnSpc>
                <a:spcPct val="140000"/>
              </a:lnSpc>
              <a:spcBef>
                <a:spcPts val="0"/>
              </a:spcBef>
              <a:spcAft>
                <a:spcPts val="0"/>
              </a:spcAft>
              <a:buClr>
                <a:schemeClr val="lt1"/>
              </a:buClr>
              <a:buSzPts val="1400"/>
              <a:buChar char="●"/>
            </a:pPr>
            <a:r>
              <a:rPr lang="en-US">
                <a:solidFill>
                  <a:schemeClr val="lt1"/>
                </a:solidFill>
              </a:rPr>
              <a:t>The prefilled assistant message makes Claude think it already started a markdown code block</a:t>
            </a:r>
            <a:endParaRPr>
              <a:solidFill>
                <a:schemeClr val="lt1"/>
              </a:solidFill>
            </a:endParaRPr>
          </a:p>
          <a:p>
            <a:pPr indent="-317500" lvl="0" marL="914400" rtl="0" algn="l">
              <a:lnSpc>
                <a:spcPct val="140000"/>
              </a:lnSpc>
              <a:spcBef>
                <a:spcPts val="0"/>
              </a:spcBef>
              <a:spcAft>
                <a:spcPts val="0"/>
              </a:spcAft>
              <a:buClr>
                <a:schemeClr val="lt1"/>
              </a:buClr>
              <a:buSzPts val="1400"/>
              <a:buChar char="●"/>
            </a:pPr>
            <a:r>
              <a:rPr lang="en-US">
                <a:solidFill>
                  <a:schemeClr val="lt1"/>
                </a:solidFill>
              </a:rPr>
              <a:t>Claude continues by writing just the JSON content</a:t>
            </a:r>
            <a:endParaRPr>
              <a:solidFill>
                <a:schemeClr val="lt1"/>
              </a:solidFill>
            </a:endParaRPr>
          </a:p>
          <a:p>
            <a:pPr indent="-317500" lvl="0" marL="914400" rtl="0" algn="l">
              <a:lnSpc>
                <a:spcPct val="140000"/>
              </a:lnSpc>
              <a:spcBef>
                <a:spcPts val="0"/>
              </a:spcBef>
              <a:spcAft>
                <a:spcPts val="0"/>
              </a:spcAft>
              <a:buClr>
                <a:schemeClr val="lt1"/>
              </a:buClr>
              <a:buSzPts val="1400"/>
              <a:buChar char="●"/>
            </a:pPr>
            <a:r>
              <a:rPr lang="en-US">
                <a:solidFill>
                  <a:schemeClr val="lt1"/>
                </a:solidFill>
              </a:rPr>
              <a:t>When Claude tries to close the code block with ```, the stop sequence immediately ends generation</a:t>
            </a:r>
            <a:endParaRPr>
              <a:solidFill>
                <a:schemeClr val="lt1"/>
              </a:solidFill>
            </a:endParaRPr>
          </a:p>
          <a:p>
            <a:pPr indent="0" lvl="0" marL="0" rtl="0" algn="l">
              <a:lnSpc>
                <a:spcPct val="140000"/>
              </a:lnSpc>
              <a:spcBef>
                <a:spcPts val="1500"/>
              </a:spcBef>
              <a:spcAft>
                <a:spcPts val="1500"/>
              </a:spcAft>
              <a:buNone/>
            </a:pPr>
            <a:r>
              <a:t/>
            </a:r>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16" name="Shape 216"/>
        <p:cNvGrpSpPr/>
        <p:nvPr/>
      </p:nvGrpSpPr>
      <p:grpSpPr>
        <a:xfrm>
          <a:off x="0" y="0"/>
          <a:ext cx="0" cy="0"/>
          <a:chOff x="0" y="0"/>
          <a:chExt cx="0" cy="0"/>
        </a:xfrm>
      </p:grpSpPr>
      <p:sp>
        <p:nvSpPr>
          <p:cNvPr id="217" name="Google Shape;217;g3e47b6fd3c3_0_120"/>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Prompt Evaluation</a:t>
            </a:r>
            <a:endParaRPr b="0" i="0" sz="2800" u="none" cap="none" strike="noStrike">
              <a:solidFill>
                <a:schemeClr val="dk1"/>
              </a:solidFill>
              <a:latin typeface="Calibri"/>
              <a:ea typeface="Calibri"/>
              <a:cs typeface="Calibri"/>
              <a:sym typeface="Calibri"/>
            </a:endParaRPr>
          </a:p>
        </p:txBody>
      </p:sp>
      <p:sp>
        <p:nvSpPr>
          <p:cNvPr id="218" name="Google Shape;218;g3e47b6fd3c3_0_120"/>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19" name="Google Shape;219;g3e47b6fd3c3_0_120"/>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40000"/>
              </a:lnSpc>
              <a:spcBef>
                <a:spcPts val="0"/>
              </a:spcBef>
              <a:spcAft>
                <a:spcPts val="0"/>
              </a:spcAft>
              <a:buNone/>
            </a:pPr>
            <a:r>
              <a:rPr lang="en-US">
                <a:solidFill>
                  <a:schemeClr val="lt1"/>
                </a:solidFill>
              </a:rPr>
              <a:t>Prompt evaluation helps you measure how well those prompts actually work.</a:t>
            </a:r>
            <a:endParaRPr>
              <a:solidFill>
                <a:schemeClr val="lt1"/>
              </a:solidFill>
            </a:endParaRPr>
          </a:p>
          <a:p>
            <a:pPr indent="0" lvl="0" marL="457200" rtl="0" algn="l">
              <a:lnSpc>
                <a:spcPct val="140000"/>
              </a:lnSpc>
              <a:spcBef>
                <a:spcPts val="1500"/>
              </a:spcBef>
              <a:spcAft>
                <a:spcPts val="0"/>
              </a:spcAft>
              <a:buNone/>
            </a:pPr>
            <a:r>
              <a:rPr lang="en-US">
                <a:solidFill>
                  <a:schemeClr val="lt1"/>
                </a:solidFill>
              </a:rPr>
              <a:t>Prompt evaluation takes a different approach. Instead of focusing on how to write prompts, it's about measuring their effectiveness through automated testing. You can:</a:t>
            </a:r>
            <a:endParaRPr>
              <a:solidFill>
                <a:schemeClr val="lt1"/>
              </a:solidFill>
            </a:endParaRPr>
          </a:p>
          <a:p>
            <a:pPr indent="-317500" lvl="0" marL="457200" rtl="0" algn="l">
              <a:lnSpc>
                <a:spcPct val="140000"/>
              </a:lnSpc>
              <a:spcBef>
                <a:spcPts val="1500"/>
              </a:spcBef>
              <a:spcAft>
                <a:spcPts val="0"/>
              </a:spcAft>
              <a:buClr>
                <a:schemeClr val="lt1"/>
              </a:buClr>
              <a:buSzPts val="1400"/>
              <a:buChar char="●"/>
            </a:pPr>
            <a:r>
              <a:rPr lang="en-US">
                <a:solidFill>
                  <a:schemeClr val="lt1"/>
                </a:solidFill>
              </a:rPr>
              <a:t>Test against expected answers</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Compare different versions of the same prompt</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Review outputs for errors</a:t>
            </a:r>
            <a:endParaRPr>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24" name="Shape 224"/>
        <p:cNvGrpSpPr/>
        <p:nvPr/>
      </p:nvGrpSpPr>
      <p:grpSpPr>
        <a:xfrm>
          <a:off x="0" y="0"/>
          <a:ext cx="0" cy="0"/>
          <a:chOff x="0" y="0"/>
          <a:chExt cx="0" cy="0"/>
        </a:xfrm>
      </p:grpSpPr>
      <p:sp>
        <p:nvSpPr>
          <p:cNvPr id="225" name="Google Shape;225;g3e47b6fd3c3_0_127"/>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Three Paths After Writing a Prompt</a:t>
            </a:r>
            <a:endParaRPr b="0" i="0" sz="2800" u="none" cap="none" strike="noStrike">
              <a:solidFill>
                <a:schemeClr val="dk1"/>
              </a:solidFill>
              <a:latin typeface="Calibri"/>
              <a:ea typeface="Calibri"/>
              <a:cs typeface="Calibri"/>
              <a:sym typeface="Calibri"/>
            </a:endParaRPr>
          </a:p>
        </p:txBody>
      </p:sp>
      <p:sp>
        <p:nvSpPr>
          <p:cNvPr id="226" name="Google Shape;226;g3e47b6fd3c3_0_127"/>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27" name="Google Shape;227;g3e47b6fd3c3_0_127"/>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Once you've drafted a prompt, you typically face three options for what to do next:</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Option 1: Test the prompt once and decide it's good enough. This carries a significant risk of breaking in production when users provide unexpected inputs.</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Option 2: Test the prompt a few times and tweak it to handle a corner case or two. While better than option 1, users will often provide very unexpected outputs that you haven't considered.</a:t>
            </a:r>
            <a:endParaRPr>
              <a:solidFill>
                <a:schemeClr val="lt1"/>
              </a:solidFill>
            </a:endParaRPr>
          </a:p>
          <a:p>
            <a:pPr indent="0" lvl="0" marL="0" rtl="0" algn="l">
              <a:lnSpc>
                <a:spcPct val="140000"/>
              </a:lnSpc>
              <a:spcBef>
                <a:spcPts val="1500"/>
              </a:spcBef>
              <a:spcAft>
                <a:spcPts val="1500"/>
              </a:spcAft>
              <a:buNone/>
            </a:pPr>
            <a:r>
              <a:rPr lang="en-US">
                <a:solidFill>
                  <a:schemeClr val="lt1"/>
                </a:solidFill>
              </a:rPr>
              <a:t>Option 3: Run the prompt through an evaluation pipeline to score it, then iterate on the prompt based on objective metrics. This approach requires more work and cost, but gives you much more confidence in your prompt's reliability.</a:t>
            </a:r>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32" name="Shape 232"/>
        <p:cNvGrpSpPr/>
        <p:nvPr/>
      </p:nvGrpSpPr>
      <p:grpSpPr>
        <a:xfrm>
          <a:off x="0" y="0"/>
          <a:ext cx="0" cy="0"/>
          <a:chOff x="0" y="0"/>
          <a:chExt cx="0" cy="0"/>
        </a:xfrm>
      </p:grpSpPr>
      <p:sp>
        <p:nvSpPr>
          <p:cNvPr id="233" name="Google Shape;233;g3e47b6fd3c3_0_134"/>
          <p:cNvSpPr/>
          <p:nvPr/>
        </p:nvSpPr>
        <p:spPr>
          <a:xfrm>
            <a:off x="457200" y="5943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The Evaluation-First Approach</a:t>
            </a:r>
            <a:endParaRPr b="0" i="0" sz="2800" u="none" cap="none" strike="noStrike">
              <a:solidFill>
                <a:schemeClr val="dk1"/>
              </a:solidFill>
              <a:latin typeface="Calibri"/>
              <a:ea typeface="Calibri"/>
              <a:cs typeface="Calibri"/>
              <a:sym typeface="Calibri"/>
            </a:endParaRPr>
          </a:p>
        </p:txBody>
      </p:sp>
      <p:sp>
        <p:nvSpPr>
          <p:cNvPr id="234" name="Google Shape;234;g3e47b6fd3c3_0_134"/>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35" name="Google Shape;235;g3e47b6fd3c3_0_134"/>
          <p:cNvSpPr/>
          <p:nvPr/>
        </p:nvSpPr>
        <p:spPr>
          <a:xfrm>
            <a:off x="457200" y="1122875"/>
            <a:ext cx="8229600" cy="3687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Option 3 represents a more systematic approach to prompt development. By running your prompt through an evaluation pipeline, you get objective metrics about its performance across a broader range of test cases. This data-driven approach lets you:</a:t>
            </a:r>
            <a:endParaRPr>
              <a:solidFill>
                <a:schemeClr val="lt1"/>
              </a:solidFill>
            </a:endParaRPr>
          </a:p>
          <a:p>
            <a:pPr indent="-317500" lvl="0" marL="457200" rtl="0" algn="l">
              <a:lnSpc>
                <a:spcPct val="140000"/>
              </a:lnSpc>
              <a:spcBef>
                <a:spcPts val="1500"/>
              </a:spcBef>
              <a:spcAft>
                <a:spcPts val="0"/>
              </a:spcAft>
              <a:buClr>
                <a:schemeClr val="lt1"/>
              </a:buClr>
              <a:buSzPts val="1400"/>
              <a:buChar char="●"/>
            </a:pPr>
            <a:r>
              <a:rPr lang="en-US">
                <a:solidFill>
                  <a:schemeClr val="lt1"/>
                </a:solidFill>
              </a:rPr>
              <a:t>Identify weaknesses before they become production issues</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Compare different prompt versions objectively</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Iterate with confidence based on measurable improvements</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Build more reliable AI applications</a:t>
            </a:r>
            <a:endParaRPr>
              <a:solidFill>
                <a:schemeClr val="lt1"/>
              </a:solidFill>
            </a:endParaRPr>
          </a:p>
          <a:p>
            <a:pPr indent="0" lvl="0" marL="0" rtl="0" algn="l">
              <a:lnSpc>
                <a:spcPct val="140000"/>
              </a:lnSpc>
              <a:spcBef>
                <a:spcPts val="1500"/>
              </a:spcBef>
              <a:spcAft>
                <a:spcPts val="1500"/>
              </a:spcAft>
              <a:buNone/>
            </a:pPr>
            <a:r>
              <a:rPr lang="en-US">
                <a:solidFill>
                  <a:schemeClr val="lt1"/>
                </a:solidFill>
              </a:rPr>
              <a:t>While this approach requires more upfront investment in time and testing infrastructure, it pays dividends in the reliability and robustness of your final application. The goal is to catch problems during development rather than after your users encounter them.</a:t>
            </a:r>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40" name="Shape 240"/>
        <p:cNvGrpSpPr/>
        <p:nvPr/>
      </p:nvGrpSpPr>
      <p:grpSpPr>
        <a:xfrm>
          <a:off x="0" y="0"/>
          <a:ext cx="0" cy="0"/>
          <a:chOff x="0" y="0"/>
          <a:chExt cx="0" cy="0"/>
        </a:xfrm>
      </p:grpSpPr>
      <p:sp>
        <p:nvSpPr>
          <p:cNvPr id="241" name="Google Shape;241;g3e47b6fd3c3_0_141"/>
          <p:cNvSpPr/>
          <p:nvPr/>
        </p:nvSpPr>
        <p:spPr>
          <a:xfrm>
            <a:off x="457200" y="6011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Evaluation Workflow</a:t>
            </a:r>
            <a:endParaRPr b="0" i="0" sz="2800" u="none" cap="none" strike="noStrike">
              <a:solidFill>
                <a:schemeClr val="dk1"/>
              </a:solidFill>
              <a:latin typeface="Calibri"/>
              <a:ea typeface="Calibri"/>
              <a:cs typeface="Calibri"/>
              <a:sym typeface="Calibri"/>
            </a:endParaRPr>
          </a:p>
        </p:txBody>
      </p:sp>
      <p:sp>
        <p:nvSpPr>
          <p:cNvPr id="242" name="Google Shape;242;g3e47b6fd3c3_0_141"/>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43" name="Google Shape;243;g3e47b6fd3c3_0_141"/>
          <p:cNvSpPr/>
          <p:nvPr/>
        </p:nvSpPr>
        <p:spPr>
          <a:xfrm>
            <a:off x="217325" y="579550"/>
            <a:ext cx="8693400" cy="4404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Step 1: Draft a Prompt: This initial prompt draft serves as the baseline for testing and improvement.</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Step 2: Create an Eval Dataset: The evaluation dataset contains sample inputs that represent the types of questions or requests your prompt will handle in production. The dataset should include questions that will be interpolated into your prompt template.</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Step 3: Feed Through Claude: Take each question from your dataset and merge it with your prompt template to create complete prompts. Then send each one to Claude to get responses.</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Step 4: Feed Through a Grader: The grader evaluates the quality of Claude's responses by examining both the original question and Claude's answer. This step provides objective scoring, typically on a scale from 1 to 10, where 10 represents a perfect answer and lower scores indicate room for improvement.</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Step 5: Change Prompt and Repeat: Now that you have a baseline score, you can modify your prompt and run the entire process again to see if your changes improve performance.</a:t>
            </a:r>
            <a:endParaRPr>
              <a:solidFill>
                <a:schemeClr val="lt1"/>
              </a:solidFill>
            </a:endParaRPr>
          </a:p>
          <a:p>
            <a:pPr indent="0" lvl="0" marL="0" rtl="0" algn="l">
              <a:lnSpc>
                <a:spcPct val="140000"/>
              </a:lnSpc>
              <a:spcBef>
                <a:spcPts val="1500"/>
              </a:spcBef>
              <a:spcAft>
                <a:spcPts val="1500"/>
              </a:spcAft>
              <a:buNone/>
            </a:pPr>
            <a:r>
              <a:t/>
            </a:r>
            <a:endParaRPr>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48" name="Shape 248"/>
        <p:cNvGrpSpPr/>
        <p:nvPr/>
      </p:nvGrpSpPr>
      <p:grpSpPr>
        <a:xfrm>
          <a:off x="0" y="0"/>
          <a:ext cx="0" cy="0"/>
          <a:chOff x="0" y="0"/>
          <a:chExt cx="0" cy="0"/>
        </a:xfrm>
      </p:grpSpPr>
      <p:sp>
        <p:nvSpPr>
          <p:cNvPr id="249" name="Google Shape;249;g3e47b6fd3c3_0_165"/>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Types of Graders</a:t>
            </a:r>
            <a:endParaRPr b="0" i="0" sz="2800" u="none" cap="none" strike="noStrike">
              <a:solidFill>
                <a:schemeClr val="dk1"/>
              </a:solidFill>
              <a:latin typeface="Calibri"/>
              <a:ea typeface="Calibri"/>
              <a:cs typeface="Calibri"/>
              <a:sym typeface="Calibri"/>
            </a:endParaRPr>
          </a:p>
        </p:txBody>
      </p:sp>
      <p:sp>
        <p:nvSpPr>
          <p:cNvPr id="250" name="Google Shape;250;g3e47b6fd3c3_0_165"/>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51" name="Google Shape;251;g3e47b6fd3c3_0_165"/>
          <p:cNvSpPr/>
          <p:nvPr/>
        </p:nvSpPr>
        <p:spPr>
          <a:xfrm>
            <a:off x="217325" y="950825"/>
            <a:ext cx="8693400" cy="40326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There are three main approaches to grading model outputs:</a:t>
            </a:r>
            <a:endParaRPr>
              <a:solidFill>
                <a:schemeClr val="lt1"/>
              </a:solidFill>
            </a:endParaRPr>
          </a:p>
          <a:p>
            <a:pPr indent="-317500" lvl="0" marL="457200" rtl="0" algn="l">
              <a:lnSpc>
                <a:spcPct val="140000"/>
              </a:lnSpc>
              <a:spcBef>
                <a:spcPts val="1500"/>
              </a:spcBef>
              <a:spcAft>
                <a:spcPts val="0"/>
              </a:spcAft>
              <a:buClr>
                <a:schemeClr val="lt1"/>
              </a:buClr>
              <a:buSzPts val="1400"/>
              <a:buChar char="●"/>
            </a:pPr>
            <a:r>
              <a:rPr lang="en-US">
                <a:solidFill>
                  <a:schemeClr val="lt1"/>
                </a:solidFill>
              </a:rPr>
              <a:t>Code graders - let you implement any programmatic check you can imagine, such as Checking output length, Syntax validation for JSON, Python, or regex, and Readability scores.</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Model graders - feed your original output into another API call for evaluation. This approach offers tremendous flexibility for assessing the Response quality, Completeness, Helpfulness, and Safety.</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Human graders - Human graders provide the most flexibility but are time-consuming and tedious. They're useful for evaluating: General response quality, Comprehensiveness, Depth, Conciseness, and Relevance.</a:t>
            </a:r>
            <a:endParaRPr>
              <a:solidFill>
                <a:schemeClr val="lt1"/>
              </a:solidFill>
            </a:endParaRPr>
          </a:p>
          <a:p>
            <a:pPr indent="0" lvl="0" marL="0" rtl="0" algn="l">
              <a:lnSpc>
                <a:spcPct val="140000"/>
              </a:lnSpc>
              <a:spcBef>
                <a:spcPts val="1500"/>
              </a:spcBef>
              <a:spcAft>
                <a:spcPts val="1500"/>
              </a:spcAft>
              <a:buNone/>
            </a:pPr>
            <a:r>
              <a:t/>
            </a:r>
            <a:endParaRPr>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56" name="Shape 256"/>
        <p:cNvGrpSpPr/>
        <p:nvPr/>
      </p:nvGrpSpPr>
      <p:grpSpPr>
        <a:xfrm>
          <a:off x="0" y="0"/>
          <a:ext cx="0" cy="0"/>
          <a:chOff x="0" y="0"/>
          <a:chExt cx="0" cy="0"/>
        </a:xfrm>
      </p:grpSpPr>
      <p:sp>
        <p:nvSpPr>
          <p:cNvPr id="257" name="Google Shape;257;g3e47b6fd3c3_0_172"/>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Defining Evaluation Criteria</a:t>
            </a:r>
            <a:endParaRPr b="0" i="0" sz="2800" u="none" cap="none" strike="noStrike">
              <a:solidFill>
                <a:schemeClr val="dk1"/>
              </a:solidFill>
              <a:latin typeface="Calibri"/>
              <a:ea typeface="Calibri"/>
              <a:cs typeface="Calibri"/>
              <a:sym typeface="Calibri"/>
            </a:endParaRPr>
          </a:p>
        </p:txBody>
      </p:sp>
      <p:sp>
        <p:nvSpPr>
          <p:cNvPr id="258" name="Google Shape;258;g3e47b6fd3c3_0_172"/>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59" name="Google Shape;259;g3e47b6fd3c3_0_172"/>
          <p:cNvSpPr/>
          <p:nvPr/>
        </p:nvSpPr>
        <p:spPr>
          <a:xfrm>
            <a:off x="217325" y="950825"/>
            <a:ext cx="8693400" cy="40326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Before implementing any grader, you need clear evaluation criteria. For a code generation prompt, you might focus on:</a:t>
            </a:r>
            <a:endParaRPr>
              <a:solidFill>
                <a:schemeClr val="lt1"/>
              </a:solidFill>
            </a:endParaRPr>
          </a:p>
          <a:p>
            <a:pPr indent="-317500" lvl="0" marL="457200" rtl="0" algn="l">
              <a:lnSpc>
                <a:spcPct val="140000"/>
              </a:lnSpc>
              <a:spcBef>
                <a:spcPts val="1500"/>
              </a:spcBef>
              <a:spcAft>
                <a:spcPts val="0"/>
              </a:spcAft>
              <a:buClr>
                <a:schemeClr val="lt1"/>
              </a:buClr>
              <a:buSzPts val="1400"/>
              <a:buChar char="●"/>
            </a:pPr>
            <a:r>
              <a:rPr lang="en-US">
                <a:solidFill>
                  <a:schemeClr val="lt1"/>
                </a:solidFill>
              </a:rPr>
              <a:t>Format - Should return only Python, JSON, or Regex without explanation</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Valid Syntax - Produced code should have valid syntax</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Task Following - Response should directly address the user's task with accurate code</a:t>
            </a:r>
            <a:endParaRPr>
              <a:solidFill>
                <a:schemeClr val="lt1"/>
              </a:solidFill>
            </a:endParaRPr>
          </a:p>
          <a:p>
            <a:pPr indent="0" lvl="0" marL="0" rtl="0" algn="l">
              <a:lnSpc>
                <a:spcPct val="140000"/>
              </a:lnSpc>
              <a:spcBef>
                <a:spcPts val="1500"/>
              </a:spcBef>
              <a:spcAft>
                <a:spcPts val="1500"/>
              </a:spcAft>
              <a:buNone/>
            </a:pPr>
            <a:r>
              <a:rPr lang="en-US">
                <a:solidFill>
                  <a:schemeClr val="lt1"/>
                </a:solidFill>
              </a:rPr>
              <a:t>The first two criteria work well with code graders, while task following is better suited for model graders due to their flexibility.</a:t>
            </a:r>
            <a:endParaRPr>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64" name="Shape 264"/>
        <p:cNvGrpSpPr/>
        <p:nvPr/>
      </p:nvGrpSpPr>
      <p:grpSpPr>
        <a:xfrm>
          <a:off x="0" y="0"/>
          <a:ext cx="0" cy="0"/>
          <a:chOff x="0" y="0"/>
          <a:chExt cx="0" cy="0"/>
        </a:xfrm>
      </p:grpSpPr>
      <p:sp>
        <p:nvSpPr>
          <p:cNvPr id="265" name="Google Shape;265;g3e47b6fd3c3_0_179"/>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Prompt Engineering Technique</a:t>
            </a:r>
            <a:endParaRPr b="0" i="0" sz="2800" u="none" cap="none" strike="noStrike">
              <a:solidFill>
                <a:schemeClr val="dk1"/>
              </a:solidFill>
              <a:latin typeface="Calibri"/>
              <a:ea typeface="Calibri"/>
              <a:cs typeface="Calibri"/>
              <a:sym typeface="Calibri"/>
            </a:endParaRPr>
          </a:p>
        </p:txBody>
      </p:sp>
      <p:sp>
        <p:nvSpPr>
          <p:cNvPr id="266" name="Google Shape;266;g3e47b6fd3c3_0_179"/>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67" name="Google Shape;267;g3e47b6fd3c3_0_179"/>
          <p:cNvSpPr/>
          <p:nvPr/>
        </p:nvSpPr>
        <p:spPr>
          <a:xfrm>
            <a:off x="217325" y="950825"/>
            <a:ext cx="8693400" cy="40326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Prompt engineering is about taking a prompt you've written and improving it to get more reliable, higher-quality outputs. This process involves iterative refinement - starting with a basic prompt, evaluating its performance, then systematically applying engineering techniques to improve it.</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The Iterative Improvement Process</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The approach follows a clear cycle that you can repeat until you achieve your desired results:</a:t>
            </a:r>
            <a:endParaRPr>
              <a:solidFill>
                <a:schemeClr val="lt1"/>
              </a:solidFill>
            </a:endParaRPr>
          </a:p>
          <a:p>
            <a:pPr indent="-317500" lvl="0" marL="457200" rtl="0" algn="l">
              <a:lnSpc>
                <a:spcPct val="140000"/>
              </a:lnSpc>
              <a:spcBef>
                <a:spcPts val="1500"/>
              </a:spcBef>
              <a:spcAft>
                <a:spcPts val="0"/>
              </a:spcAft>
              <a:buClr>
                <a:schemeClr val="lt1"/>
              </a:buClr>
              <a:buSzPts val="1400"/>
              <a:buChar char="●"/>
            </a:pPr>
            <a:r>
              <a:rPr lang="en-US">
                <a:solidFill>
                  <a:schemeClr val="lt1"/>
                </a:solidFill>
              </a:rPr>
              <a:t>Set a goal - Define what you want your prompt to accomplish</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Write an initial prompt - Create a basic first attempt</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Evaluate the prompt - Test it against your criteria</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Apply prompt engineering techniques - Use specific methods to improve performance</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Re-evaluate - Verify that your changes actually improved the results</a:t>
            </a:r>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72" name="Shape 272"/>
        <p:cNvGrpSpPr/>
        <p:nvPr/>
      </p:nvGrpSpPr>
      <p:grpSpPr>
        <a:xfrm>
          <a:off x="0" y="0"/>
          <a:ext cx="0" cy="0"/>
          <a:chOff x="0" y="0"/>
          <a:chExt cx="0" cy="0"/>
        </a:xfrm>
      </p:grpSpPr>
      <p:sp>
        <p:nvSpPr>
          <p:cNvPr id="273" name="Google Shape;273;g3e47b6fd3c3_0_186"/>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Prompt Engineering Technique</a:t>
            </a:r>
            <a:endParaRPr b="0" i="0" sz="2800" u="none" cap="none" strike="noStrike">
              <a:solidFill>
                <a:schemeClr val="dk1"/>
              </a:solidFill>
              <a:latin typeface="Calibri"/>
              <a:ea typeface="Calibri"/>
              <a:cs typeface="Calibri"/>
              <a:sym typeface="Calibri"/>
            </a:endParaRPr>
          </a:p>
        </p:txBody>
      </p:sp>
      <p:sp>
        <p:nvSpPr>
          <p:cNvPr id="274" name="Google Shape;274;g3e47b6fd3c3_0_186"/>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75" name="Google Shape;275;g3e47b6fd3c3_0_186"/>
          <p:cNvSpPr/>
          <p:nvPr/>
        </p:nvSpPr>
        <p:spPr>
          <a:xfrm>
            <a:off x="217325" y="950825"/>
            <a:ext cx="3875700" cy="28524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lnSpc>
                <a:spcPct val="140000"/>
              </a:lnSpc>
              <a:spcBef>
                <a:spcPts val="0"/>
              </a:spcBef>
              <a:spcAft>
                <a:spcPts val="0"/>
              </a:spcAft>
              <a:buClr>
                <a:schemeClr val="lt1"/>
              </a:buClr>
              <a:buSzPts val="1400"/>
              <a:buChar char="●"/>
            </a:pPr>
            <a:r>
              <a:rPr b="1" lang="en-US">
                <a:solidFill>
                  <a:schemeClr val="lt1"/>
                </a:solidFill>
              </a:rPr>
              <a:t>Being Clear and Direct : </a:t>
            </a:r>
            <a:r>
              <a:rPr lang="en-US">
                <a:solidFill>
                  <a:schemeClr val="lt1"/>
                </a:solidFill>
              </a:rPr>
              <a:t>When crafting that crucial first line, you want to focus on two key principles: clarity and directness. This means using simple language that leaves no room for ambiguity about what you want Claude to do.</a:t>
            </a:r>
            <a:endParaRPr>
              <a:solidFill>
                <a:schemeClr val="lt1"/>
              </a:solidFill>
            </a:endParaRPr>
          </a:p>
        </p:txBody>
      </p:sp>
      <p:pic>
        <p:nvPicPr>
          <p:cNvPr id="276" name="Google Shape;276;g3e47b6fd3c3_0_186"/>
          <p:cNvPicPr preferRelativeResize="0"/>
          <p:nvPr/>
        </p:nvPicPr>
        <p:blipFill rotWithShape="1">
          <a:blip r:embed="rId3">
            <a:alphaModFix/>
          </a:blip>
          <a:srcRect b="10031" l="12669" r="13590" t="0"/>
          <a:stretch/>
        </p:blipFill>
        <p:spPr>
          <a:xfrm>
            <a:off x="4201725" y="913050"/>
            <a:ext cx="4382825" cy="3007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81" name="Shape 281"/>
        <p:cNvGrpSpPr/>
        <p:nvPr/>
      </p:nvGrpSpPr>
      <p:grpSpPr>
        <a:xfrm>
          <a:off x="0" y="0"/>
          <a:ext cx="0" cy="0"/>
          <a:chOff x="0" y="0"/>
          <a:chExt cx="0" cy="0"/>
        </a:xfrm>
      </p:grpSpPr>
      <p:sp>
        <p:nvSpPr>
          <p:cNvPr id="282" name="Google Shape;282;g3e47b6fd3c3_0_195"/>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Prompt Engineering Technique</a:t>
            </a:r>
            <a:endParaRPr b="0" i="0" sz="2800" u="none" cap="none" strike="noStrike">
              <a:solidFill>
                <a:schemeClr val="dk1"/>
              </a:solidFill>
              <a:latin typeface="Calibri"/>
              <a:ea typeface="Calibri"/>
              <a:cs typeface="Calibri"/>
              <a:sym typeface="Calibri"/>
            </a:endParaRPr>
          </a:p>
        </p:txBody>
      </p:sp>
      <p:sp>
        <p:nvSpPr>
          <p:cNvPr id="283" name="Google Shape;283;g3e47b6fd3c3_0_195"/>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84" name="Google Shape;284;g3e47b6fd3c3_0_195"/>
          <p:cNvSpPr/>
          <p:nvPr/>
        </p:nvSpPr>
        <p:spPr>
          <a:xfrm>
            <a:off x="217325" y="950825"/>
            <a:ext cx="3875700" cy="27711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lnSpc>
                <a:spcPct val="140000"/>
              </a:lnSpc>
              <a:spcBef>
                <a:spcPts val="0"/>
              </a:spcBef>
              <a:spcAft>
                <a:spcPts val="0"/>
              </a:spcAft>
              <a:buClr>
                <a:schemeClr val="lt1"/>
              </a:buClr>
              <a:buSzPts val="1400"/>
              <a:buChar char="●"/>
            </a:pPr>
            <a:r>
              <a:rPr b="1" lang="en-US">
                <a:solidFill>
                  <a:schemeClr val="lt1"/>
                </a:solidFill>
              </a:rPr>
              <a:t>Be </a:t>
            </a:r>
            <a:r>
              <a:rPr b="1" lang="en-US">
                <a:solidFill>
                  <a:schemeClr val="lt1"/>
                </a:solidFill>
              </a:rPr>
              <a:t>S</a:t>
            </a:r>
            <a:r>
              <a:rPr b="1" lang="en-US">
                <a:solidFill>
                  <a:schemeClr val="lt1"/>
                </a:solidFill>
              </a:rPr>
              <a:t>pecific</a:t>
            </a:r>
            <a:r>
              <a:rPr b="1" lang="en-US">
                <a:solidFill>
                  <a:schemeClr val="lt1"/>
                </a:solidFill>
              </a:rPr>
              <a:t>: </a:t>
            </a:r>
            <a:r>
              <a:rPr lang="en-US">
                <a:solidFill>
                  <a:schemeClr val="lt1"/>
                </a:solidFill>
              </a:rPr>
              <a:t>When working with Claude, one of the most effective ways to improve your results is to be specific about what you want. Instead of leaving everything up to the model's interpretation, you can provide clear guidelines or steps that direct Claude toward the kind of output you're looking for.</a:t>
            </a:r>
            <a:endParaRPr>
              <a:solidFill>
                <a:schemeClr val="lt1"/>
              </a:solidFill>
            </a:endParaRPr>
          </a:p>
        </p:txBody>
      </p:sp>
      <p:pic>
        <p:nvPicPr>
          <p:cNvPr id="285" name="Google Shape;285;g3e47b6fd3c3_0_195"/>
          <p:cNvPicPr preferRelativeResize="0"/>
          <p:nvPr/>
        </p:nvPicPr>
        <p:blipFill rotWithShape="1">
          <a:blip r:embed="rId3">
            <a:alphaModFix/>
          </a:blip>
          <a:srcRect b="9804" l="0" r="0" t="0"/>
          <a:stretch/>
        </p:blipFill>
        <p:spPr>
          <a:xfrm>
            <a:off x="4245425" y="996951"/>
            <a:ext cx="4746173" cy="24079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90" name="Shape 290"/>
        <p:cNvGrpSpPr/>
        <p:nvPr/>
      </p:nvGrpSpPr>
      <p:grpSpPr>
        <a:xfrm>
          <a:off x="0" y="0"/>
          <a:ext cx="0" cy="0"/>
          <a:chOff x="0" y="0"/>
          <a:chExt cx="0" cy="0"/>
        </a:xfrm>
      </p:grpSpPr>
      <p:sp>
        <p:nvSpPr>
          <p:cNvPr id="291" name="Google Shape;291;g3e47b6fd3c3_0_208"/>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Two Types of Guidelines</a:t>
            </a:r>
            <a:endParaRPr b="0" i="0" sz="2800" u="none" cap="none" strike="noStrike">
              <a:solidFill>
                <a:schemeClr val="dk1"/>
              </a:solidFill>
              <a:latin typeface="Calibri"/>
              <a:ea typeface="Calibri"/>
              <a:cs typeface="Calibri"/>
              <a:sym typeface="Calibri"/>
            </a:endParaRPr>
          </a:p>
        </p:txBody>
      </p:sp>
      <p:sp>
        <p:nvSpPr>
          <p:cNvPr id="292" name="Google Shape;292;g3e47b6fd3c3_0_208"/>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293" name="Google Shape;293;g3e47b6fd3c3_0_208"/>
          <p:cNvSpPr/>
          <p:nvPr/>
        </p:nvSpPr>
        <p:spPr>
          <a:xfrm>
            <a:off x="217325" y="950825"/>
            <a:ext cx="3875700" cy="40329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lnSpc>
                <a:spcPct val="140000"/>
              </a:lnSpc>
              <a:spcBef>
                <a:spcPts val="0"/>
              </a:spcBef>
              <a:spcAft>
                <a:spcPts val="0"/>
              </a:spcAft>
              <a:buClr>
                <a:schemeClr val="lt1"/>
              </a:buClr>
              <a:buSzPts val="1400"/>
              <a:buChar char="●"/>
            </a:pPr>
            <a:r>
              <a:rPr b="1" lang="en-US">
                <a:solidFill>
                  <a:schemeClr val="lt1"/>
                </a:solidFill>
              </a:rPr>
              <a:t>Output Quality Guidelines: The first type focuses on listing qualities that your output should have. These guidelines help you control: Length of the response, Structure and format</a:t>
            </a:r>
            <a:endParaRPr b="1">
              <a:solidFill>
                <a:schemeClr val="lt1"/>
              </a:solidFill>
            </a:endParaRPr>
          </a:p>
          <a:p>
            <a:pPr indent="-317500" lvl="0" marL="457200" rtl="0" algn="l">
              <a:lnSpc>
                <a:spcPct val="140000"/>
              </a:lnSpc>
              <a:spcBef>
                <a:spcPts val="0"/>
              </a:spcBef>
              <a:spcAft>
                <a:spcPts val="0"/>
              </a:spcAft>
              <a:buClr>
                <a:schemeClr val="lt1"/>
              </a:buClr>
              <a:buSzPts val="1400"/>
              <a:buChar char="●"/>
            </a:pPr>
            <a:r>
              <a:rPr b="1" lang="en-US">
                <a:solidFill>
                  <a:schemeClr val="lt1"/>
                </a:solidFill>
              </a:rPr>
              <a:t>Process Steps: The second type provides specific steps for Claude to follow. This approach is particularly useful when you want Claude to think through a problem systematically or consider multiple perspectives before arriving at a final answer.</a:t>
            </a:r>
            <a:endParaRPr b="1">
              <a:solidFill>
                <a:schemeClr val="lt1"/>
              </a:solidFill>
            </a:endParaRPr>
          </a:p>
        </p:txBody>
      </p:sp>
      <p:pic>
        <p:nvPicPr>
          <p:cNvPr id="294" name="Google Shape;294;g3e47b6fd3c3_0_208"/>
          <p:cNvPicPr preferRelativeResize="0"/>
          <p:nvPr/>
        </p:nvPicPr>
        <p:blipFill>
          <a:blip r:embed="rId3">
            <a:alphaModFix/>
          </a:blip>
          <a:stretch>
            <a:fillRect/>
          </a:stretch>
        </p:blipFill>
        <p:spPr>
          <a:xfrm>
            <a:off x="4163250" y="1027625"/>
            <a:ext cx="4797875" cy="2698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299" name="Shape 299"/>
        <p:cNvGrpSpPr/>
        <p:nvPr/>
      </p:nvGrpSpPr>
      <p:grpSpPr>
        <a:xfrm>
          <a:off x="0" y="0"/>
          <a:ext cx="0" cy="0"/>
          <a:chOff x="0" y="0"/>
          <a:chExt cx="0" cy="0"/>
        </a:xfrm>
      </p:grpSpPr>
      <p:sp>
        <p:nvSpPr>
          <p:cNvPr id="300" name="Google Shape;300;g3e47b6fd3c3_0_226"/>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Two Types of Guidelines: When to Use Each Approach</a:t>
            </a:r>
            <a:endParaRPr b="0" i="0" sz="2800" u="none" cap="none" strike="noStrike">
              <a:solidFill>
                <a:schemeClr val="dk1"/>
              </a:solidFill>
              <a:latin typeface="Calibri"/>
              <a:ea typeface="Calibri"/>
              <a:cs typeface="Calibri"/>
              <a:sym typeface="Calibri"/>
            </a:endParaRPr>
          </a:p>
        </p:txBody>
      </p:sp>
      <p:sp>
        <p:nvSpPr>
          <p:cNvPr id="301" name="Google Shape;301;g3e47b6fd3c3_0_226"/>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302" name="Google Shape;302;g3e47b6fd3c3_0_226"/>
          <p:cNvSpPr/>
          <p:nvPr/>
        </p:nvSpPr>
        <p:spPr>
          <a:xfrm>
            <a:off x="217325" y="950825"/>
            <a:ext cx="8385300" cy="40329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lnSpc>
                <a:spcPct val="140000"/>
              </a:lnSpc>
              <a:spcBef>
                <a:spcPts val="0"/>
              </a:spcBef>
              <a:spcAft>
                <a:spcPts val="0"/>
              </a:spcAft>
              <a:buClr>
                <a:schemeClr val="lt1"/>
              </a:buClr>
              <a:buSzPts val="1400"/>
              <a:buChar char="●"/>
            </a:pPr>
            <a:r>
              <a:rPr lang="en-US">
                <a:solidFill>
                  <a:schemeClr val="lt1"/>
                </a:solidFill>
              </a:rPr>
              <a:t>Always Use Output Guidelines: You should include quality guidelines in almost every prompt you write. They're your safety net for getting consistent, useful results.</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Use Process Steps For Complex Problems such as Add step-by-step instructions when you're dealing with: Troubleshooting complex problems, Decision-making scenarios, Critical thinking tasks, Any situation where you want Claude to consider multiple angles.</a:t>
            </a:r>
            <a:endParaRPr>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307" name="Shape 307"/>
        <p:cNvGrpSpPr/>
        <p:nvPr/>
      </p:nvGrpSpPr>
      <p:grpSpPr>
        <a:xfrm>
          <a:off x="0" y="0"/>
          <a:ext cx="0" cy="0"/>
          <a:chOff x="0" y="0"/>
          <a:chExt cx="0" cy="0"/>
        </a:xfrm>
      </p:grpSpPr>
      <p:sp>
        <p:nvSpPr>
          <p:cNvPr id="308" name="Google Shape;308;g3e47b6fd3c3_0_234"/>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Structure with XML Tag</a:t>
            </a:r>
            <a:endParaRPr b="0" i="0" sz="2800" u="none" cap="none" strike="noStrike">
              <a:solidFill>
                <a:schemeClr val="dk1"/>
              </a:solidFill>
              <a:latin typeface="Calibri"/>
              <a:ea typeface="Calibri"/>
              <a:cs typeface="Calibri"/>
              <a:sym typeface="Calibri"/>
            </a:endParaRPr>
          </a:p>
        </p:txBody>
      </p:sp>
      <p:sp>
        <p:nvSpPr>
          <p:cNvPr id="309" name="Google Shape;309;g3e47b6fd3c3_0_234"/>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310" name="Google Shape;310;g3e47b6fd3c3_0_234"/>
          <p:cNvSpPr/>
          <p:nvPr/>
        </p:nvSpPr>
        <p:spPr>
          <a:xfrm>
            <a:off x="217325" y="950825"/>
            <a:ext cx="3794400" cy="40329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lnSpc>
                <a:spcPct val="140000"/>
              </a:lnSpc>
              <a:spcBef>
                <a:spcPts val="0"/>
              </a:spcBef>
              <a:spcAft>
                <a:spcPts val="0"/>
              </a:spcAft>
              <a:buClr>
                <a:schemeClr val="lt1"/>
              </a:buClr>
              <a:buSzPts val="1400"/>
              <a:buChar char="●"/>
            </a:pPr>
            <a:r>
              <a:rPr lang="en-US">
                <a:solidFill>
                  <a:schemeClr val="lt1"/>
                </a:solidFill>
              </a:rPr>
              <a:t>When you're building prompts that include a lot of content, Claude can sometimes struggle to understand which pieces of text belong together or what different sections are supposed to represent. XML tags provide a simple way to add structure and clarity to your prompts, especially when you're interpolating large amounts of data. </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t/>
            </a:r>
            <a:endParaRPr>
              <a:solidFill>
                <a:schemeClr val="lt1"/>
              </a:solidFill>
            </a:endParaRPr>
          </a:p>
        </p:txBody>
      </p:sp>
      <p:pic>
        <p:nvPicPr>
          <p:cNvPr id="311" name="Google Shape;311;g3e47b6fd3c3_0_234"/>
          <p:cNvPicPr preferRelativeResize="0"/>
          <p:nvPr/>
        </p:nvPicPr>
        <p:blipFill rotWithShape="1">
          <a:blip r:embed="rId3">
            <a:alphaModFix/>
          </a:blip>
          <a:srcRect b="0" l="45277" r="0" t="0"/>
          <a:stretch/>
        </p:blipFill>
        <p:spPr>
          <a:xfrm>
            <a:off x="4165125" y="900127"/>
            <a:ext cx="3881600" cy="39898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316" name="Shape 316"/>
        <p:cNvGrpSpPr/>
        <p:nvPr/>
      </p:nvGrpSpPr>
      <p:grpSpPr>
        <a:xfrm>
          <a:off x="0" y="0"/>
          <a:ext cx="0" cy="0"/>
          <a:chOff x="0" y="0"/>
          <a:chExt cx="0" cy="0"/>
        </a:xfrm>
      </p:grpSpPr>
      <p:sp>
        <p:nvSpPr>
          <p:cNvPr id="317" name="Google Shape;317;g3e47b6fd3c3_0_218"/>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Structured XML Tags</a:t>
            </a:r>
            <a:endParaRPr b="0" i="0" sz="2800" u="none" cap="none" strike="noStrike">
              <a:solidFill>
                <a:schemeClr val="dk1"/>
              </a:solidFill>
              <a:latin typeface="Calibri"/>
              <a:ea typeface="Calibri"/>
              <a:cs typeface="Calibri"/>
              <a:sym typeface="Calibri"/>
            </a:endParaRPr>
          </a:p>
        </p:txBody>
      </p:sp>
      <p:sp>
        <p:nvSpPr>
          <p:cNvPr id="318" name="Google Shape;318;g3e47b6fd3c3_0_218"/>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319" name="Google Shape;319;g3e47b6fd3c3_0_218"/>
          <p:cNvSpPr/>
          <p:nvPr/>
        </p:nvSpPr>
        <p:spPr>
          <a:xfrm>
            <a:off x="217325" y="950825"/>
            <a:ext cx="3875700" cy="27711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b="1" lang="en-US">
                <a:solidFill>
                  <a:schemeClr val="lt1"/>
                </a:solidFill>
              </a:rPr>
              <a:t>The "Not Great" version makes it nearly impossible to tell what's code versus documentation. The "Better" version uses &lt;my_code&gt; and &lt;docs&gt; tags to create clear boundaries.</a:t>
            </a:r>
            <a:endParaRPr b="1">
              <a:solidFill>
                <a:schemeClr val="lt1"/>
              </a:solidFill>
            </a:endParaRPr>
          </a:p>
          <a:p>
            <a:pPr indent="0" lvl="0" marL="914400" rtl="0" algn="l">
              <a:lnSpc>
                <a:spcPct val="140000"/>
              </a:lnSpc>
              <a:spcBef>
                <a:spcPts val="1500"/>
              </a:spcBef>
              <a:spcAft>
                <a:spcPts val="1500"/>
              </a:spcAft>
              <a:buNone/>
            </a:pPr>
            <a:r>
              <a:t/>
            </a:r>
            <a:endParaRPr b="1">
              <a:solidFill>
                <a:schemeClr val="lt1"/>
              </a:solidFill>
            </a:endParaRPr>
          </a:p>
        </p:txBody>
      </p:sp>
      <p:pic>
        <p:nvPicPr>
          <p:cNvPr id="320" name="Google Shape;320;g3e47b6fd3c3_0_218"/>
          <p:cNvPicPr preferRelativeResize="0"/>
          <p:nvPr/>
        </p:nvPicPr>
        <p:blipFill rotWithShape="1">
          <a:blip r:embed="rId3">
            <a:alphaModFix/>
          </a:blip>
          <a:srcRect b="10842" l="0" r="0" t="0"/>
          <a:stretch/>
        </p:blipFill>
        <p:spPr>
          <a:xfrm>
            <a:off x="4019575" y="887500"/>
            <a:ext cx="5073775" cy="2897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325" name="Shape 325"/>
        <p:cNvGrpSpPr/>
        <p:nvPr/>
      </p:nvGrpSpPr>
      <p:grpSpPr>
        <a:xfrm>
          <a:off x="0" y="0"/>
          <a:ext cx="0" cy="0"/>
          <a:chOff x="0" y="0"/>
          <a:chExt cx="0" cy="0"/>
        </a:xfrm>
      </p:grpSpPr>
      <p:sp>
        <p:nvSpPr>
          <p:cNvPr id="326" name="Google Shape;326;g3e47b6fd3c3_0_266"/>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Structured XML Tags - Custom Tag Names</a:t>
            </a:r>
            <a:endParaRPr b="0" i="0" sz="2800" u="none" cap="none" strike="noStrike">
              <a:solidFill>
                <a:schemeClr val="dk1"/>
              </a:solidFill>
              <a:latin typeface="Calibri"/>
              <a:ea typeface="Calibri"/>
              <a:cs typeface="Calibri"/>
              <a:sym typeface="Calibri"/>
            </a:endParaRPr>
          </a:p>
        </p:txBody>
      </p:sp>
      <p:sp>
        <p:nvSpPr>
          <p:cNvPr id="327" name="Google Shape;327;g3e47b6fd3c3_0_266"/>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328" name="Google Shape;328;g3e47b6fd3c3_0_266"/>
          <p:cNvSpPr/>
          <p:nvPr/>
        </p:nvSpPr>
        <p:spPr>
          <a:xfrm>
            <a:off x="217325" y="950825"/>
            <a:ext cx="8149800" cy="3939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914400" rtl="0" algn="l">
              <a:lnSpc>
                <a:spcPct val="140000"/>
              </a:lnSpc>
              <a:spcBef>
                <a:spcPts val="0"/>
              </a:spcBef>
              <a:spcAft>
                <a:spcPts val="0"/>
              </a:spcAft>
              <a:buNone/>
            </a:pPr>
            <a:r>
              <a:t/>
            </a:r>
            <a:endParaRPr b="1">
              <a:solidFill>
                <a:schemeClr val="lt1"/>
              </a:solidFill>
            </a:endParaRPr>
          </a:p>
          <a:p>
            <a:pPr indent="0" lvl="0" marL="914400" rtl="0" algn="l">
              <a:lnSpc>
                <a:spcPct val="140000"/>
              </a:lnSpc>
              <a:spcBef>
                <a:spcPts val="1500"/>
              </a:spcBef>
              <a:spcAft>
                <a:spcPts val="0"/>
              </a:spcAft>
              <a:buNone/>
            </a:pPr>
            <a:r>
              <a:rPr b="1" lang="en-US">
                <a:solidFill>
                  <a:schemeClr val="lt1"/>
                </a:solidFill>
              </a:rPr>
              <a:t>You don't need to use official XML tags. Create descriptive names that make sense for your content:</a:t>
            </a:r>
            <a:endParaRPr b="1">
              <a:solidFill>
                <a:schemeClr val="lt1"/>
              </a:solidFill>
            </a:endParaRPr>
          </a:p>
          <a:p>
            <a:pPr indent="0" lvl="0" marL="914400" rtl="0" algn="l">
              <a:lnSpc>
                <a:spcPct val="140000"/>
              </a:lnSpc>
              <a:spcBef>
                <a:spcPts val="1500"/>
              </a:spcBef>
              <a:spcAft>
                <a:spcPts val="0"/>
              </a:spcAft>
              <a:buNone/>
            </a:pPr>
            <a:r>
              <a:rPr b="1" lang="en-US">
                <a:solidFill>
                  <a:schemeClr val="lt1"/>
                </a:solidFill>
              </a:rPr>
              <a:t>&lt;sales_records&gt; is better than &lt;data&gt;</a:t>
            </a:r>
            <a:endParaRPr b="1">
              <a:solidFill>
                <a:schemeClr val="lt1"/>
              </a:solidFill>
            </a:endParaRPr>
          </a:p>
          <a:p>
            <a:pPr indent="0" lvl="0" marL="914400" rtl="0" algn="l">
              <a:lnSpc>
                <a:spcPct val="140000"/>
              </a:lnSpc>
              <a:spcBef>
                <a:spcPts val="1500"/>
              </a:spcBef>
              <a:spcAft>
                <a:spcPts val="0"/>
              </a:spcAft>
              <a:buNone/>
            </a:pPr>
            <a:r>
              <a:rPr b="1" lang="en-US">
                <a:solidFill>
                  <a:schemeClr val="lt1"/>
                </a:solidFill>
              </a:rPr>
              <a:t>&lt;athlete_information&gt; clearly identifies user details</a:t>
            </a:r>
            <a:endParaRPr b="1">
              <a:solidFill>
                <a:schemeClr val="lt1"/>
              </a:solidFill>
            </a:endParaRPr>
          </a:p>
          <a:p>
            <a:pPr indent="0" lvl="0" marL="914400" rtl="0" algn="l">
              <a:lnSpc>
                <a:spcPct val="140000"/>
              </a:lnSpc>
              <a:spcBef>
                <a:spcPts val="1500"/>
              </a:spcBef>
              <a:spcAft>
                <a:spcPts val="0"/>
              </a:spcAft>
              <a:buNone/>
            </a:pPr>
            <a:r>
              <a:rPr b="1" lang="en-US">
                <a:solidFill>
                  <a:schemeClr val="lt1"/>
                </a:solidFill>
              </a:rPr>
              <a:t>&lt;my_code&gt; and &lt;docs&gt; separate different types of content</a:t>
            </a:r>
            <a:endParaRPr b="1">
              <a:solidFill>
                <a:schemeClr val="lt1"/>
              </a:solidFill>
            </a:endParaRPr>
          </a:p>
          <a:p>
            <a:pPr indent="0" lvl="0" marL="914400" rtl="0" algn="l">
              <a:lnSpc>
                <a:spcPct val="140000"/>
              </a:lnSpc>
              <a:spcBef>
                <a:spcPts val="1500"/>
              </a:spcBef>
              <a:spcAft>
                <a:spcPts val="0"/>
              </a:spcAft>
              <a:buNone/>
            </a:pPr>
            <a:r>
              <a:rPr b="1" lang="en-US">
                <a:solidFill>
                  <a:schemeClr val="lt1"/>
                </a:solidFill>
              </a:rPr>
              <a:t>The more specific and descriptive your tag names, the better Claude can understand the purpose of each section.</a:t>
            </a:r>
            <a:endParaRPr b="1">
              <a:solidFill>
                <a:schemeClr val="lt1"/>
              </a:solidFill>
            </a:endParaRPr>
          </a:p>
          <a:p>
            <a:pPr indent="0" lvl="0" marL="914400" rtl="0" algn="l">
              <a:lnSpc>
                <a:spcPct val="140000"/>
              </a:lnSpc>
              <a:spcBef>
                <a:spcPts val="1500"/>
              </a:spcBef>
              <a:spcAft>
                <a:spcPts val="1500"/>
              </a:spcAft>
              <a:buNone/>
            </a:pPr>
            <a:r>
              <a:t/>
            </a:r>
            <a:endParaRPr b="1">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333" name="Shape 333"/>
        <p:cNvGrpSpPr/>
        <p:nvPr/>
      </p:nvGrpSpPr>
      <p:grpSpPr>
        <a:xfrm>
          <a:off x="0" y="0"/>
          <a:ext cx="0" cy="0"/>
          <a:chOff x="0" y="0"/>
          <a:chExt cx="0" cy="0"/>
        </a:xfrm>
      </p:grpSpPr>
      <p:sp>
        <p:nvSpPr>
          <p:cNvPr id="334" name="Google Shape;334;g3e47b6fd3c3_0_274"/>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Structured XML Tags - </a:t>
            </a:r>
            <a:r>
              <a:rPr b="1" lang="en-US" sz="2800">
                <a:solidFill>
                  <a:srgbClr val="FFFFFF"/>
                </a:solidFill>
                <a:latin typeface="Calibri"/>
                <a:ea typeface="Calibri"/>
                <a:cs typeface="Calibri"/>
                <a:sym typeface="Calibri"/>
              </a:rPr>
              <a:t>When to Use XML Tags</a:t>
            </a:r>
            <a:endParaRPr b="0" i="0" sz="2800" u="none" cap="none" strike="noStrike">
              <a:solidFill>
                <a:schemeClr val="dk1"/>
              </a:solidFill>
              <a:latin typeface="Calibri"/>
              <a:ea typeface="Calibri"/>
              <a:cs typeface="Calibri"/>
              <a:sym typeface="Calibri"/>
            </a:endParaRPr>
          </a:p>
        </p:txBody>
      </p:sp>
      <p:sp>
        <p:nvSpPr>
          <p:cNvPr id="335" name="Google Shape;335;g3e47b6fd3c3_0_274"/>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336" name="Google Shape;336;g3e47b6fd3c3_0_274"/>
          <p:cNvSpPr/>
          <p:nvPr/>
        </p:nvSpPr>
        <p:spPr>
          <a:xfrm>
            <a:off x="217325" y="950825"/>
            <a:ext cx="8149800" cy="3939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914400" rtl="0" algn="l">
              <a:lnSpc>
                <a:spcPct val="140000"/>
              </a:lnSpc>
              <a:spcBef>
                <a:spcPts val="0"/>
              </a:spcBef>
              <a:spcAft>
                <a:spcPts val="0"/>
              </a:spcAft>
              <a:buNone/>
            </a:pPr>
            <a:r>
              <a:t/>
            </a:r>
            <a:endParaRPr b="1">
              <a:solidFill>
                <a:schemeClr val="lt1"/>
              </a:solidFill>
            </a:endParaRPr>
          </a:p>
          <a:p>
            <a:pPr indent="0" lvl="0" marL="0" rtl="0" algn="l">
              <a:lnSpc>
                <a:spcPct val="140000"/>
              </a:lnSpc>
              <a:spcBef>
                <a:spcPts val="1500"/>
              </a:spcBef>
              <a:spcAft>
                <a:spcPts val="0"/>
              </a:spcAft>
              <a:buNone/>
            </a:pPr>
            <a:r>
              <a:rPr b="1" lang="en-US">
                <a:solidFill>
                  <a:schemeClr val="lt1"/>
                </a:solidFill>
              </a:rPr>
              <a:t>XML tags are most useful when:</a:t>
            </a:r>
            <a:endParaRPr b="1">
              <a:solidFill>
                <a:schemeClr val="lt1"/>
              </a:solidFill>
            </a:endParaRPr>
          </a:p>
          <a:p>
            <a:pPr indent="-317500" lvl="0" marL="914400" rtl="0" algn="l">
              <a:lnSpc>
                <a:spcPct val="140000"/>
              </a:lnSpc>
              <a:spcBef>
                <a:spcPts val="1500"/>
              </a:spcBef>
              <a:spcAft>
                <a:spcPts val="0"/>
              </a:spcAft>
              <a:buClr>
                <a:schemeClr val="lt1"/>
              </a:buClr>
              <a:buSzPts val="1400"/>
              <a:buChar char="●"/>
            </a:pPr>
            <a:r>
              <a:rPr b="1" lang="en-US">
                <a:solidFill>
                  <a:schemeClr val="lt1"/>
                </a:solidFill>
              </a:rPr>
              <a:t>Including large amounts of context or data</a:t>
            </a:r>
            <a:endParaRPr b="1">
              <a:solidFill>
                <a:schemeClr val="lt1"/>
              </a:solidFill>
            </a:endParaRPr>
          </a:p>
          <a:p>
            <a:pPr indent="-317500" lvl="0" marL="914400" rtl="0" algn="l">
              <a:lnSpc>
                <a:spcPct val="140000"/>
              </a:lnSpc>
              <a:spcBef>
                <a:spcPts val="0"/>
              </a:spcBef>
              <a:spcAft>
                <a:spcPts val="0"/>
              </a:spcAft>
              <a:buClr>
                <a:schemeClr val="lt1"/>
              </a:buClr>
              <a:buSzPts val="1400"/>
              <a:buChar char="●"/>
            </a:pPr>
            <a:r>
              <a:rPr b="1" lang="en-US">
                <a:solidFill>
                  <a:schemeClr val="lt1"/>
                </a:solidFill>
              </a:rPr>
              <a:t>Mixing different types of content (code, documentation, data)</a:t>
            </a:r>
            <a:endParaRPr b="1">
              <a:solidFill>
                <a:schemeClr val="lt1"/>
              </a:solidFill>
            </a:endParaRPr>
          </a:p>
          <a:p>
            <a:pPr indent="-317500" lvl="0" marL="914400" rtl="0" algn="l">
              <a:lnSpc>
                <a:spcPct val="140000"/>
              </a:lnSpc>
              <a:spcBef>
                <a:spcPts val="0"/>
              </a:spcBef>
              <a:spcAft>
                <a:spcPts val="0"/>
              </a:spcAft>
              <a:buClr>
                <a:schemeClr val="lt1"/>
              </a:buClr>
              <a:buSzPts val="1400"/>
              <a:buChar char="●"/>
            </a:pPr>
            <a:r>
              <a:rPr b="1" lang="en-US">
                <a:solidFill>
                  <a:schemeClr val="lt1"/>
                </a:solidFill>
              </a:rPr>
              <a:t>You want to be extra clear about content boundaries</a:t>
            </a:r>
            <a:endParaRPr b="1">
              <a:solidFill>
                <a:schemeClr val="lt1"/>
              </a:solidFill>
            </a:endParaRPr>
          </a:p>
          <a:p>
            <a:pPr indent="-317500" lvl="0" marL="914400" rtl="0" algn="l">
              <a:lnSpc>
                <a:spcPct val="140000"/>
              </a:lnSpc>
              <a:spcBef>
                <a:spcPts val="0"/>
              </a:spcBef>
              <a:spcAft>
                <a:spcPts val="0"/>
              </a:spcAft>
              <a:buClr>
                <a:schemeClr val="lt1"/>
              </a:buClr>
              <a:buSzPts val="1400"/>
              <a:buChar char="●"/>
            </a:pPr>
            <a:r>
              <a:rPr b="1" lang="en-US">
                <a:solidFill>
                  <a:schemeClr val="lt1"/>
                </a:solidFill>
              </a:rPr>
              <a:t>Working with complex prompts that interpolate multiple variables</a:t>
            </a:r>
            <a:endParaRPr b="1">
              <a:solidFill>
                <a:schemeClr val="lt1"/>
              </a:solidFill>
            </a:endParaRPr>
          </a:p>
          <a:p>
            <a:pPr indent="0" lvl="0" marL="0" rtl="0" algn="l">
              <a:lnSpc>
                <a:spcPct val="140000"/>
              </a:lnSpc>
              <a:spcBef>
                <a:spcPts val="1500"/>
              </a:spcBef>
              <a:spcAft>
                <a:spcPts val="0"/>
              </a:spcAft>
              <a:buNone/>
            </a:pPr>
            <a:r>
              <a:rPr b="1" lang="en-US">
                <a:solidFill>
                  <a:schemeClr val="lt1"/>
                </a:solidFill>
              </a:rPr>
              <a:t>Even for shorter content, XML tags can help serve as delimiters that make your prompt structure more obvious to Claude.</a:t>
            </a:r>
            <a:endParaRPr b="1">
              <a:solidFill>
                <a:schemeClr val="lt1"/>
              </a:solidFill>
            </a:endParaRPr>
          </a:p>
          <a:p>
            <a:pPr indent="0" lvl="0" marL="914400" rtl="0" algn="l">
              <a:lnSpc>
                <a:spcPct val="140000"/>
              </a:lnSpc>
              <a:spcBef>
                <a:spcPts val="1500"/>
              </a:spcBef>
              <a:spcAft>
                <a:spcPts val="1500"/>
              </a:spcAft>
              <a:buNone/>
            </a:pPr>
            <a:r>
              <a:t/>
            </a:r>
            <a:endParaRPr b="1">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341" name="Shape 341"/>
        <p:cNvGrpSpPr/>
        <p:nvPr/>
      </p:nvGrpSpPr>
      <p:grpSpPr>
        <a:xfrm>
          <a:off x="0" y="0"/>
          <a:ext cx="0" cy="0"/>
          <a:chOff x="0" y="0"/>
          <a:chExt cx="0" cy="0"/>
        </a:xfrm>
      </p:grpSpPr>
      <p:sp>
        <p:nvSpPr>
          <p:cNvPr id="342" name="Google Shape;342;g3e47b6fd3c3_0_281"/>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Providing Examples</a:t>
            </a:r>
            <a:endParaRPr b="0" i="0" sz="2800" u="none" cap="none" strike="noStrike">
              <a:solidFill>
                <a:schemeClr val="dk1"/>
              </a:solidFill>
              <a:latin typeface="Calibri"/>
              <a:ea typeface="Calibri"/>
              <a:cs typeface="Calibri"/>
              <a:sym typeface="Calibri"/>
            </a:endParaRPr>
          </a:p>
        </p:txBody>
      </p:sp>
      <p:sp>
        <p:nvSpPr>
          <p:cNvPr id="343" name="Google Shape;343;g3e47b6fd3c3_0_281"/>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344" name="Google Shape;344;g3e47b6fd3c3_0_281"/>
          <p:cNvSpPr/>
          <p:nvPr/>
        </p:nvSpPr>
        <p:spPr>
          <a:xfrm>
            <a:off x="217325" y="950825"/>
            <a:ext cx="8149800" cy="3939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914400" rtl="0" algn="l">
              <a:lnSpc>
                <a:spcPct val="140000"/>
              </a:lnSpc>
              <a:spcBef>
                <a:spcPts val="0"/>
              </a:spcBef>
              <a:spcAft>
                <a:spcPts val="0"/>
              </a:spcAft>
              <a:buNone/>
            </a:pPr>
            <a:r>
              <a:rPr b="1" lang="en-US">
                <a:solidFill>
                  <a:schemeClr val="lt1"/>
                </a:solidFill>
              </a:rPr>
              <a:t>Providing examples in your prompts is one of the most effective prompt engineering techniques you'll use. This approach, known as "one-shot" or "multi-shot" prompting, involves giving Claude sample input/output pairs to guide its responses.</a:t>
            </a:r>
            <a:endParaRPr b="1">
              <a:solidFill>
                <a:schemeClr val="lt1"/>
              </a:solidFill>
            </a:endParaRPr>
          </a:p>
          <a:p>
            <a:pPr indent="0" lvl="0" marL="914400" rtl="0" algn="l">
              <a:lnSpc>
                <a:spcPct val="140000"/>
              </a:lnSpc>
              <a:spcBef>
                <a:spcPts val="1500"/>
              </a:spcBef>
              <a:spcAft>
                <a:spcPts val="0"/>
              </a:spcAft>
              <a:buNone/>
            </a:pPr>
            <a:r>
              <a:rPr b="1" lang="en-US">
                <a:solidFill>
                  <a:schemeClr val="lt1"/>
                </a:solidFill>
              </a:rPr>
              <a:t>Let's look at a sentiment analysis example. Say you want Claude to categorize whether a tweet is positive or negative:</a:t>
            </a:r>
            <a:endParaRPr b="1">
              <a:solidFill>
                <a:schemeClr val="lt1"/>
              </a:solidFill>
            </a:endParaRPr>
          </a:p>
          <a:p>
            <a:pPr indent="0" lvl="0" marL="914400" rtl="0" algn="l">
              <a:lnSpc>
                <a:spcPct val="140000"/>
              </a:lnSpc>
              <a:spcBef>
                <a:spcPts val="1500"/>
              </a:spcBef>
              <a:spcAft>
                <a:spcPts val="1500"/>
              </a:spcAft>
              <a:buNone/>
            </a:pPr>
            <a:r>
              <a:t/>
            </a:r>
            <a:endParaRPr b="1">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349" name="Shape 349"/>
        <p:cNvGrpSpPr/>
        <p:nvPr/>
      </p:nvGrpSpPr>
      <p:grpSpPr>
        <a:xfrm>
          <a:off x="0" y="0"/>
          <a:ext cx="0" cy="0"/>
          <a:chOff x="0" y="0"/>
          <a:chExt cx="0" cy="0"/>
        </a:xfrm>
      </p:grpSpPr>
      <p:sp>
        <p:nvSpPr>
          <p:cNvPr id="350" name="Google Shape;350;g3e47b6fd3c3_0_288"/>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Providing Examples</a:t>
            </a:r>
            <a:endParaRPr b="0" i="0" sz="2800" u="none" cap="none" strike="noStrike">
              <a:solidFill>
                <a:schemeClr val="dk1"/>
              </a:solidFill>
              <a:latin typeface="Calibri"/>
              <a:ea typeface="Calibri"/>
              <a:cs typeface="Calibri"/>
              <a:sym typeface="Calibri"/>
            </a:endParaRPr>
          </a:p>
        </p:txBody>
      </p:sp>
      <p:sp>
        <p:nvSpPr>
          <p:cNvPr id="351" name="Google Shape;351;g3e47b6fd3c3_0_288"/>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352" name="Google Shape;352;g3e47b6fd3c3_0_288"/>
          <p:cNvSpPr/>
          <p:nvPr/>
        </p:nvSpPr>
        <p:spPr>
          <a:xfrm>
            <a:off x="217325" y="950825"/>
            <a:ext cx="8149800" cy="3939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914400" rtl="0" algn="l">
              <a:lnSpc>
                <a:spcPct val="140000"/>
              </a:lnSpc>
              <a:spcBef>
                <a:spcPts val="0"/>
              </a:spcBef>
              <a:spcAft>
                <a:spcPts val="1500"/>
              </a:spcAft>
              <a:buNone/>
            </a:pPr>
            <a:r>
              <a:t/>
            </a:r>
            <a:endParaRPr b="1">
              <a:solidFill>
                <a:schemeClr val="lt1"/>
              </a:solidFill>
            </a:endParaRPr>
          </a:p>
        </p:txBody>
      </p:sp>
      <p:pic>
        <p:nvPicPr>
          <p:cNvPr id="353" name="Google Shape;353;g3e47b6fd3c3_0_288"/>
          <p:cNvPicPr preferRelativeResize="0"/>
          <p:nvPr/>
        </p:nvPicPr>
        <p:blipFill rotWithShape="1">
          <a:blip r:embed="rId3">
            <a:alphaModFix/>
          </a:blip>
          <a:srcRect b="11925" l="0" r="0" t="0"/>
          <a:stretch/>
        </p:blipFill>
        <p:spPr>
          <a:xfrm>
            <a:off x="541775" y="1135025"/>
            <a:ext cx="7207227" cy="3570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358" name="Shape 358"/>
        <p:cNvGrpSpPr/>
        <p:nvPr/>
      </p:nvGrpSpPr>
      <p:grpSpPr>
        <a:xfrm>
          <a:off x="0" y="0"/>
          <a:ext cx="0" cy="0"/>
          <a:chOff x="0" y="0"/>
          <a:chExt cx="0" cy="0"/>
        </a:xfrm>
      </p:grpSpPr>
      <p:sp>
        <p:nvSpPr>
          <p:cNvPr id="359" name="Google Shape;359;g3e47b6fd3c3_0_297"/>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Providing Examples</a:t>
            </a:r>
            <a:endParaRPr b="0" i="0" sz="2800" u="none" cap="none" strike="noStrike">
              <a:solidFill>
                <a:schemeClr val="dk1"/>
              </a:solidFill>
              <a:latin typeface="Calibri"/>
              <a:ea typeface="Calibri"/>
              <a:cs typeface="Calibri"/>
              <a:sym typeface="Calibri"/>
            </a:endParaRPr>
          </a:p>
        </p:txBody>
      </p:sp>
      <p:sp>
        <p:nvSpPr>
          <p:cNvPr id="360" name="Google Shape;360;g3e47b6fd3c3_0_297"/>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361" name="Google Shape;361;g3e47b6fd3c3_0_297"/>
          <p:cNvSpPr/>
          <p:nvPr/>
        </p:nvSpPr>
        <p:spPr>
          <a:xfrm>
            <a:off x="217325" y="844550"/>
            <a:ext cx="8149800" cy="42174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Finding Good Examples from Evaluations</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When running prompt evaluations, look for your highest-scoring outputs to use as examples. Find responses that scored 10 (or your highest available score) and use those input/output pairs as examples in your prompt. This helps Claude understand what "perfect" output looks like for your specific use case.</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Don't just provide the input/output pair - explain why the output is good:</a:t>
            </a:r>
            <a:endParaRPr>
              <a:solidFill>
                <a:schemeClr val="lt1"/>
              </a:solidFill>
            </a:endParaRPr>
          </a:p>
          <a:p>
            <a:pPr indent="-317500" lvl="0" marL="457200" rtl="0" algn="l">
              <a:lnSpc>
                <a:spcPct val="140000"/>
              </a:lnSpc>
              <a:spcBef>
                <a:spcPts val="1500"/>
              </a:spcBef>
              <a:spcAft>
                <a:spcPts val="0"/>
              </a:spcAft>
              <a:buClr>
                <a:schemeClr val="lt1"/>
              </a:buClr>
              <a:buSzPts val="1400"/>
              <a:buChar char="●"/>
            </a:pPr>
            <a:r>
              <a:rPr lang="en-US">
                <a:solidFill>
                  <a:schemeClr val="lt1"/>
                </a:solidFill>
              </a:rPr>
              <a:t>&lt;ideal_output&gt; [Your example output here]</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&lt;/ideal_output&gt;</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This example is well-structured, provides detailed information on food choices and quantities, and aligns with the athlete's </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goals and restrictions. </a:t>
            </a:r>
            <a:endParaRPr>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366" name="Shape 366"/>
        <p:cNvGrpSpPr/>
        <p:nvPr/>
      </p:nvGrpSpPr>
      <p:grpSpPr>
        <a:xfrm>
          <a:off x="0" y="0"/>
          <a:ext cx="0" cy="0"/>
          <a:chOff x="0" y="0"/>
          <a:chExt cx="0" cy="0"/>
        </a:xfrm>
      </p:grpSpPr>
      <p:sp>
        <p:nvSpPr>
          <p:cNvPr id="367" name="Google Shape;367;p5"/>
          <p:cNvSpPr/>
          <p:nvPr/>
        </p:nvSpPr>
        <p:spPr>
          <a:xfrm>
            <a:off x="457200" y="5943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Few-Shot &amp; In-Context Learning</a:t>
            </a:r>
            <a:endParaRPr b="0" i="0" sz="2800" u="none" cap="none" strike="noStrike">
              <a:solidFill>
                <a:schemeClr val="dk1"/>
              </a:solidFill>
              <a:latin typeface="Calibri"/>
              <a:ea typeface="Calibri"/>
              <a:cs typeface="Calibri"/>
              <a:sym typeface="Calibri"/>
            </a:endParaRPr>
          </a:p>
        </p:txBody>
      </p:sp>
      <p:sp>
        <p:nvSpPr>
          <p:cNvPr id="368" name="Google Shape;368;p5"/>
          <p:cNvSpPr/>
          <p:nvPr/>
        </p:nvSpPr>
        <p:spPr>
          <a:xfrm>
            <a:off x="457200" y="118872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1300"/>
              <a:buFont typeface="Calibri"/>
              <a:buNone/>
            </a:pPr>
            <a:r>
              <a:rPr b="0" i="0" lang="en-US" sz="1300" u="none" cap="none" strike="noStrike">
                <a:solidFill>
                  <a:srgbClr val="8FA3C8"/>
                </a:solidFill>
                <a:latin typeface="Calibri"/>
                <a:ea typeface="Calibri"/>
                <a:cs typeface="Calibri"/>
                <a:sym typeface="Calibri"/>
              </a:rPr>
              <a:t>Teaching Claude by demonstration — not by description</a:t>
            </a:r>
            <a:endParaRPr b="0" i="0" sz="1300" u="none" cap="none" strike="noStrike">
              <a:solidFill>
                <a:schemeClr val="dk1"/>
              </a:solidFill>
              <a:latin typeface="Calibri"/>
              <a:ea typeface="Calibri"/>
              <a:cs typeface="Calibri"/>
              <a:sym typeface="Calibri"/>
            </a:endParaRPr>
          </a:p>
        </p:txBody>
      </p:sp>
      <p:sp>
        <p:nvSpPr>
          <p:cNvPr id="369" name="Google Shape;369;p5"/>
          <p:cNvSpPr/>
          <p:nvPr/>
        </p:nvSpPr>
        <p:spPr>
          <a:xfrm>
            <a:off x="8046720" y="4800600"/>
            <a:ext cx="9144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5 / 12</a:t>
            </a:r>
            <a:endParaRPr b="0" i="0" sz="900" u="none" cap="none" strike="noStrike">
              <a:solidFill>
                <a:schemeClr val="dk1"/>
              </a:solidFill>
              <a:latin typeface="Calibri"/>
              <a:ea typeface="Calibri"/>
              <a:cs typeface="Calibri"/>
              <a:sym typeface="Calibri"/>
            </a:endParaRPr>
          </a:p>
        </p:txBody>
      </p:sp>
      <p:sp>
        <p:nvSpPr>
          <p:cNvPr id="370" name="Google Shape;370;p5"/>
          <p:cNvSpPr/>
          <p:nvPr/>
        </p:nvSpPr>
        <p:spPr>
          <a:xfrm>
            <a:off x="457200" y="1572768"/>
            <a:ext cx="2624328" cy="201168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
          <p:cNvSpPr/>
          <p:nvPr/>
        </p:nvSpPr>
        <p:spPr>
          <a:xfrm>
            <a:off x="457200" y="1572768"/>
            <a:ext cx="2624328" cy="329184"/>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
          <p:cNvSpPr/>
          <p:nvPr/>
        </p:nvSpPr>
        <p:spPr>
          <a:xfrm>
            <a:off x="566928" y="1572768"/>
            <a:ext cx="240487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Zero-shot</a:t>
            </a:r>
            <a:endParaRPr b="0" i="0" sz="1200" u="none" cap="none" strike="noStrike">
              <a:solidFill>
                <a:schemeClr val="dk1"/>
              </a:solidFill>
              <a:latin typeface="Calibri"/>
              <a:ea typeface="Calibri"/>
              <a:cs typeface="Calibri"/>
              <a:sym typeface="Calibri"/>
            </a:endParaRPr>
          </a:p>
        </p:txBody>
      </p:sp>
      <p:sp>
        <p:nvSpPr>
          <p:cNvPr id="373" name="Google Shape;373;p5"/>
          <p:cNvSpPr/>
          <p:nvPr/>
        </p:nvSpPr>
        <p:spPr>
          <a:xfrm>
            <a:off x="566928" y="1993392"/>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E80"/>
              </a:buClr>
              <a:buSzPts val="1050"/>
              <a:buFont typeface="Calibri"/>
              <a:buNone/>
            </a:pPr>
            <a:r>
              <a:rPr b="1" i="0" lang="en-US" sz="1050" u="none" cap="none" strike="noStrike">
                <a:solidFill>
                  <a:srgbClr val="4A5E80"/>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Instructions only</a:t>
            </a:r>
            <a:endParaRPr b="0" i="0" sz="1050" u="none" cap="none" strike="noStrike">
              <a:solidFill>
                <a:schemeClr val="dk1"/>
              </a:solidFill>
              <a:latin typeface="Calibri"/>
              <a:ea typeface="Calibri"/>
              <a:cs typeface="Calibri"/>
              <a:sym typeface="Calibri"/>
            </a:endParaRPr>
          </a:p>
        </p:txBody>
      </p:sp>
      <p:sp>
        <p:nvSpPr>
          <p:cNvPr id="374" name="Google Shape;374;p5"/>
          <p:cNvSpPr/>
          <p:nvPr/>
        </p:nvSpPr>
        <p:spPr>
          <a:xfrm>
            <a:off x="566928" y="2322576"/>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E80"/>
              </a:buClr>
              <a:buSzPts val="1050"/>
              <a:buFont typeface="Calibri"/>
              <a:buNone/>
            </a:pPr>
            <a:r>
              <a:rPr b="1" i="0" lang="en-US" sz="1050" u="none" cap="none" strike="noStrike">
                <a:solidFill>
                  <a:srgbClr val="4A5E80"/>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Simple, well-defined tasks</a:t>
            </a:r>
            <a:endParaRPr b="0" i="0" sz="1050" u="none" cap="none" strike="noStrike">
              <a:solidFill>
                <a:schemeClr val="dk1"/>
              </a:solidFill>
              <a:latin typeface="Calibri"/>
              <a:ea typeface="Calibri"/>
              <a:cs typeface="Calibri"/>
              <a:sym typeface="Calibri"/>
            </a:endParaRPr>
          </a:p>
        </p:txBody>
      </p:sp>
      <p:sp>
        <p:nvSpPr>
          <p:cNvPr id="375" name="Google Shape;375;p5"/>
          <p:cNvSpPr/>
          <p:nvPr/>
        </p:nvSpPr>
        <p:spPr>
          <a:xfrm>
            <a:off x="566928" y="2651760"/>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E80"/>
              </a:buClr>
              <a:buSzPts val="1050"/>
              <a:buFont typeface="Calibri"/>
              <a:buNone/>
            </a:pPr>
            <a:r>
              <a:rPr b="1" i="0" lang="en-US" sz="1050" u="none" cap="none" strike="noStrike">
                <a:solidFill>
                  <a:srgbClr val="4A5E80"/>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Unreliable for format</a:t>
            </a:r>
            <a:endParaRPr b="0" i="0" sz="1050" u="none" cap="none" strike="noStrike">
              <a:solidFill>
                <a:schemeClr val="dk1"/>
              </a:solidFill>
              <a:latin typeface="Calibri"/>
              <a:ea typeface="Calibri"/>
              <a:cs typeface="Calibri"/>
              <a:sym typeface="Calibri"/>
            </a:endParaRPr>
          </a:p>
        </p:txBody>
      </p:sp>
      <p:sp>
        <p:nvSpPr>
          <p:cNvPr id="376" name="Google Shape;376;p5"/>
          <p:cNvSpPr/>
          <p:nvPr/>
        </p:nvSpPr>
        <p:spPr>
          <a:xfrm>
            <a:off x="566928" y="3264408"/>
            <a:ext cx="1920240" cy="210312"/>
          </a:xfrm>
          <a:prstGeom prst="roundRect">
            <a:avLst>
              <a:gd fmla="val 17391" name="adj"/>
            </a:avLst>
          </a:prstGeom>
          <a:solidFill>
            <a:srgbClr val="243050"/>
          </a:solidFill>
          <a:ln cap="flat" cmpd="sng" w="12700">
            <a:solidFill>
              <a:srgbClr val="24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
          <p:cNvSpPr/>
          <p:nvPr/>
        </p:nvSpPr>
        <p:spPr>
          <a:xfrm>
            <a:off x="566928" y="3264408"/>
            <a:ext cx="1920240"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3C8"/>
              </a:buClr>
              <a:buSzPts val="800"/>
              <a:buFont typeface="Calibri"/>
              <a:buNone/>
            </a:pPr>
            <a:r>
              <a:rPr b="1" i="0" lang="en-US" sz="800" u="none" cap="none" strike="noStrike">
                <a:solidFill>
                  <a:srgbClr val="8FA3C8"/>
                </a:solidFill>
                <a:latin typeface="Calibri"/>
                <a:ea typeface="Calibri"/>
                <a:cs typeface="Calibri"/>
                <a:sym typeface="Calibri"/>
              </a:rPr>
              <a:t>Low reliability</a:t>
            </a:r>
            <a:endParaRPr b="0" i="0" sz="800" u="none" cap="none" strike="noStrike">
              <a:solidFill>
                <a:schemeClr val="dk1"/>
              </a:solidFill>
              <a:latin typeface="Calibri"/>
              <a:ea typeface="Calibri"/>
              <a:cs typeface="Calibri"/>
              <a:sym typeface="Calibri"/>
            </a:endParaRPr>
          </a:p>
        </p:txBody>
      </p:sp>
      <p:sp>
        <p:nvSpPr>
          <p:cNvPr id="378" name="Google Shape;378;p5"/>
          <p:cNvSpPr/>
          <p:nvPr/>
        </p:nvSpPr>
        <p:spPr>
          <a:xfrm>
            <a:off x="3264408" y="1572768"/>
            <a:ext cx="2624328" cy="201168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
          <p:cNvSpPr/>
          <p:nvPr/>
        </p:nvSpPr>
        <p:spPr>
          <a:xfrm>
            <a:off x="3264408" y="1572768"/>
            <a:ext cx="2624328" cy="329184"/>
          </a:xfrm>
          <a:prstGeom prst="rect">
            <a:avLst/>
          </a:prstGeom>
          <a:solidFill>
            <a:srgbClr val="1D9E75"/>
          </a:solidFill>
          <a:ln cap="flat" cmpd="sng" w="12700">
            <a:solidFill>
              <a:srgbClr val="1D9E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
          <p:cNvSpPr/>
          <p:nvPr/>
        </p:nvSpPr>
        <p:spPr>
          <a:xfrm>
            <a:off x="3374136" y="1572768"/>
            <a:ext cx="240487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Few-shot  2–5</a:t>
            </a:r>
            <a:endParaRPr b="0" i="0" sz="1200" u="none" cap="none" strike="noStrike">
              <a:solidFill>
                <a:schemeClr val="dk1"/>
              </a:solidFill>
              <a:latin typeface="Calibri"/>
              <a:ea typeface="Calibri"/>
              <a:cs typeface="Calibri"/>
              <a:sym typeface="Calibri"/>
            </a:endParaRPr>
          </a:p>
        </p:txBody>
      </p:sp>
      <p:sp>
        <p:nvSpPr>
          <p:cNvPr id="381" name="Google Shape;381;p5"/>
          <p:cNvSpPr/>
          <p:nvPr/>
        </p:nvSpPr>
        <p:spPr>
          <a:xfrm>
            <a:off x="3374136" y="1993392"/>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50"/>
              <a:buFont typeface="Calibri"/>
              <a:buNone/>
            </a:pPr>
            <a:r>
              <a:rPr b="1" i="0" lang="en-US" sz="1050" u="none" cap="none" strike="noStrike">
                <a:solidFill>
                  <a:srgbClr val="1D9E75"/>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Show format + reasoning</a:t>
            </a:r>
            <a:endParaRPr b="0" i="0" sz="1050" u="none" cap="none" strike="noStrike">
              <a:solidFill>
                <a:schemeClr val="dk1"/>
              </a:solidFill>
              <a:latin typeface="Calibri"/>
              <a:ea typeface="Calibri"/>
              <a:cs typeface="Calibri"/>
              <a:sym typeface="Calibri"/>
            </a:endParaRPr>
          </a:p>
        </p:txBody>
      </p:sp>
      <p:sp>
        <p:nvSpPr>
          <p:cNvPr id="382" name="Google Shape;382;p5"/>
          <p:cNvSpPr/>
          <p:nvPr/>
        </p:nvSpPr>
        <p:spPr>
          <a:xfrm>
            <a:off x="3374136" y="2322576"/>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50"/>
              <a:buFont typeface="Calibri"/>
              <a:buNone/>
            </a:pPr>
            <a:r>
              <a:rPr b="1" i="0" lang="en-US" sz="1050" u="none" cap="none" strike="noStrike">
                <a:solidFill>
                  <a:srgbClr val="1D9E75"/>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Optimal for most tasks</a:t>
            </a:r>
            <a:endParaRPr b="0" i="0" sz="1050" u="none" cap="none" strike="noStrike">
              <a:solidFill>
                <a:schemeClr val="dk1"/>
              </a:solidFill>
              <a:latin typeface="Calibri"/>
              <a:ea typeface="Calibri"/>
              <a:cs typeface="Calibri"/>
              <a:sym typeface="Calibri"/>
            </a:endParaRPr>
          </a:p>
        </p:txBody>
      </p:sp>
      <p:sp>
        <p:nvSpPr>
          <p:cNvPr id="383" name="Google Shape;383;p5"/>
          <p:cNvSpPr/>
          <p:nvPr/>
        </p:nvSpPr>
        <p:spPr>
          <a:xfrm>
            <a:off x="3374136" y="2651760"/>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50"/>
              <a:buFont typeface="Calibri"/>
              <a:buNone/>
            </a:pPr>
            <a:r>
              <a:rPr b="1" i="0" lang="en-US" sz="1050" u="none" cap="none" strike="noStrike">
                <a:solidFill>
                  <a:srgbClr val="1D9E75"/>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Best cost-to-quality ratio</a:t>
            </a:r>
            <a:endParaRPr b="0" i="0" sz="1050" u="none" cap="none" strike="noStrike">
              <a:solidFill>
                <a:schemeClr val="dk1"/>
              </a:solidFill>
              <a:latin typeface="Calibri"/>
              <a:ea typeface="Calibri"/>
              <a:cs typeface="Calibri"/>
              <a:sym typeface="Calibri"/>
            </a:endParaRPr>
          </a:p>
        </p:txBody>
      </p:sp>
      <p:sp>
        <p:nvSpPr>
          <p:cNvPr id="384" name="Google Shape;384;p5"/>
          <p:cNvSpPr/>
          <p:nvPr/>
        </p:nvSpPr>
        <p:spPr>
          <a:xfrm>
            <a:off x="3374136" y="3264408"/>
            <a:ext cx="1920240" cy="210312"/>
          </a:xfrm>
          <a:prstGeom prst="roundRect">
            <a:avLst>
              <a:gd fmla="val 17391" name="adj"/>
            </a:avLst>
          </a:prstGeom>
          <a:solidFill>
            <a:srgbClr val="0F6E56"/>
          </a:solidFill>
          <a:ln cap="flat" cmpd="sng" w="12700">
            <a:solidFill>
              <a:srgbClr val="0F6E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
          <p:cNvSpPr/>
          <p:nvPr/>
        </p:nvSpPr>
        <p:spPr>
          <a:xfrm>
            <a:off x="3374136" y="3264408"/>
            <a:ext cx="1920240"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 Recommended</a:t>
            </a:r>
            <a:endParaRPr b="0" i="0" sz="800" u="none" cap="none" strike="noStrike">
              <a:solidFill>
                <a:schemeClr val="dk1"/>
              </a:solidFill>
              <a:latin typeface="Calibri"/>
              <a:ea typeface="Calibri"/>
              <a:cs typeface="Calibri"/>
              <a:sym typeface="Calibri"/>
            </a:endParaRPr>
          </a:p>
        </p:txBody>
      </p:sp>
      <p:sp>
        <p:nvSpPr>
          <p:cNvPr id="386" name="Google Shape;386;p5"/>
          <p:cNvSpPr/>
          <p:nvPr/>
        </p:nvSpPr>
        <p:spPr>
          <a:xfrm>
            <a:off x="6071616" y="1572768"/>
            <a:ext cx="2624328" cy="201168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
          <p:cNvSpPr/>
          <p:nvPr/>
        </p:nvSpPr>
        <p:spPr>
          <a:xfrm>
            <a:off x="6071616" y="1572768"/>
            <a:ext cx="2624328" cy="329184"/>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
          <p:cNvSpPr/>
          <p:nvPr/>
        </p:nvSpPr>
        <p:spPr>
          <a:xfrm>
            <a:off x="6181344" y="1572768"/>
            <a:ext cx="240487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Many-shot  20+</a:t>
            </a:r>
            <a:endParaRPr b="0" i="0" sz="1200" u="none" cap="none" strike="noStrike">
              <a:solidFill>
                <a:schemeClr val="dk1"/>
              </a:solidFill>
              <a:latin typeface="Calibri"/>
              <a:ea typeface="Calibri"/>
              <a:cs typeface="Calibri"/>
              <a:sym typeface="Calibri"/>
            </a:endParaRPr>
          </a:p>
        </p:txBody>
      </p:sp>
      <p:sp>
        <p:nvSpPr>
          <p:cNvPr id="389" name="Google Shape;389;p5"/>
          <p:cNvSpPr/>
          <p:nvPr/>
        </p:nvSpPr>
        <p:spPr>
          <a:xfrm>
            <a:off x="6181344" y="1993392"/>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7517"/>
              </a:buClr>
              <a:buSzPts val="1050"/>
              <a:buFont typeface="Calibri"/>
              <a:buNone/>
            </a:pPr>
            <a:r>
              <a:rPr b="1" i="0" lang="en-US" sz="1050" u="none" cap="none" strike="noStrike">
                <a:solidFill>
                  <a:srgbClr val="BA751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Highly variable inputs</a:t>
            </a:r>
            <a:endParaRPr b="0" i="0" sz="1050" u="none" cap="none" strike="noStrike">
              <a:solidFill>
                <a:schemeClr val="dk1"/>
              </a:solidFill>
              <a:latin typeface="Calibri"/>
              <a:ea typeface="Calibri"/>
              <a:cs typeface="Calibri"/>
              <a:sym typeface="Calibri"/>
            </a:endParaRPr>
          </a:p>
        </p:txBody>
      </p:sp>
      <p:sp>
        <p:nvSpPr>
          <p:cNvPr id="390" name="Google Shape;390;p5"/>
          <p:cNvSpPr/>
          <p:nvPr/>
        </p:nvSpPr>
        <p:spPr>
          <a:xfrm>
            <a:off x="6181344" y="2322576"/>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7517"/>
              </a:buClr>
              <a:buSzPts val="1050"/>
              <a:buFont typeface="Calibri"/>
              <a:buNone/>
            </a:pPr>
            <a:r>
              <a:rPr b="1" i="0" lang="en-US" sz="1050" u="none" cap="none" strike="noStrike">
                <a:solidFill>
                  <a:srgbClr val="BA751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Quality control critical</a:t>
            </a:r>
            <a:endParaRPr b="0" i="0" sz="1050" u="none" cap="none" strike="noStrike">
              <a:solidFill>
                <a:schemeClr val="dk1"/>
              </a:solidFill>
              <a:latin typeface="Calibri"/>
              <a:ea typeface="Calibri"/>
              <a:cs typeface="Calibri"/>
              <a:sym typeface="Calibri"/>
            </a:endParaRPr>
          </a:p>
        </p:txBody>
      </p:sp>
      <p:sp>
        <p:nvSpPr>
          <p:cNvPr id="391" name="Google Shape;391;p5"/>
          <p:cNvSpPr/>
          <p:nvPr/>
        </p:nvSpPr>
        <p:spPr>
          <a:xfrm>
            <a:off x="6181344" y="2651760"/>
            <a:ext cx="24048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7517"/>
              </a:buClr>
              <a:buSzPts val="1050"/>
              <a:buFont typeface="Calibri"/>
              <a:buNone/>
            </a:pPr>
            <a:r>
              <a:rPr b="1" i="0" lang="en-US" sz="1050" u="none" cap="none" strike="noStrike">
                <a:solidFill>
                  <a:srgbClr val="BA7517"/>
                </a:solidFill>
                <a:latin typeface="Calibri"/>
                <a:ea typeface="Calibri"/>
                <a:cs typeface="Calibri"/>
                <a:sym typeface="Calibri"/>
              </a:rPr>
              <a:t>·  </a:t>
            </a:r>
            <a:r>
              <a:rPr b="0" i="0" lang="en-US" sz="1050" u="none" cap="none" strike="noStrike">
                <a:solidFill>
                  <a:srgbClr val="E8EDF8"/>
                </a:solidFill>
                <a:latin typeface="Calibri"/>
                <a:ea typeface="Calibri"/>
                <a:cs typeface="Calibri"/>
                <a:sym typeface="Calibri"/>
              </a:rPr>
              <a:t>Bad examples hurt performance</a:t>
            </a:r>
            <a:endParaRPr b="0" i="0" sz="1050" u="none" cap="none" strike="noStrike">
              <a:solidFill>
                <a:schemeClr val="dk1"/>
              </a:solidFill>
              <a:latin typeface="Calibri"/>
              <a:ea typeface="Calibri"/>
              <a:cs typeface="Calibri"/>
              <a:sym typeface="Calibri"/>
            </a:endParaRPr>
          </a:p>
        </p:txBody>
      </p:sp>
      <p:sp>
        <p:nvSpPr>
          <p:cNvPr id="392" name="Google Shape;392;p5"/>
          <p:cNvSpPr/>
          <p:nvPr/>
        </p:nvSpPr>
        <p:spPr>
          <a:xfrm>
            <a:off x="6181344" y="3264408"/>
            <a:ext cx="1920240" cy="210312"/>
          </a:xfrm>
          <a:prstGeom prst="roundRect">
            <a:avLst>
              <a:gd fmla="val 17391" name="adj"/>
            </a:avLst>
          </a:prstGeom>
          <a:solidFill>
            <a:srgbClr val="243050"/>
          </a:solidFill>
          <a:ln cap="flat" cmpd="sng" w="12700">
            <a:solidFill>
              <a:srgbClr val="24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
          <p:cNvSpPr/>
          <p:nvPr/>
        </p:nvSpPr>
        <p:spPr>
          <a:xfrm>
            <a:off x="6181344" y="3264408"/>
            <a:ext cx="1920240"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A3C8"/>
              </a:buClr>
              <a:buSzPts val="800"/>
              <a:buFont typeface="Calibri"/>
              <a:buNone/>
            </a:pPr>
            <a:r>
              <a:rPr b="1" i="0" lang="en-US" sz="800" u="none" cap="none" strike="noStrike">
                <a:solidFill>
                  <a:srgbClr val="8FA3C8"/>
                </a:solidFill>
                <a:latin typeface="Calibri"/>
                <a:ea typeface="Calibri"/>
                <a:cs typeface="Calibri"/>
                <a:sym typeface="Calibri"/>
              </a:rPr>
              <a:t>Use with caution</a:t>
            </a:r>
            <a:endParaRPr b="0" i="0" sz="800" u="none" cap="none" strike="noStrike">
              <a:solidFill>
                <a:schemeClr val="dk1"/>
              </a:solidFill>
              <a:latin typeface="Calibri"/>
              <a:ea typeface="Calibri"/>
              <a:cs typeface="Calibri"/>
              <a:sym typeface="Calibri"/>
            </a:endParaRPr>
          </a:p>
        </p:txBody>
      </p:sp>
      <p:sp>
        <p:nvSpPr>
          <p:cNvPr id="394" name="Google Shape;394;p5"/>
          <p:cNvSpPr/>
          <p:nvPr/>
        </p:nvSpPr>
        <p:spPr>
          <a:xfrm>
            <a:off x="457200" y="3703320"/>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9EC"/>
              </a:buClr>
              <a:buSzPts val="1200"/>
              <a:buFont typeface="Calibri"/>
              <a:buNone/>
            </a:pPr>
            <a:r>
              <a:rPr b="1" i="0" lang="en-US" sz="1200" u="none" cap="none" strike="noStrike">
                <a:solidFill>
                  <a:srgbClr val="AFA9EC"/>
                </a:solidFill>
                <a:latin typeface="Calibri"/>
                <a:ea typeface="Calibri"/>
                <a:cs typeface="Calibri"/>
                <a:sym typeface="Calibri"/>
              </a:rPr>
              <a:t>5 Design Principles</a:t>
            </a:r>
            <a:endParaRPr b="0" i="0" sz="1200" u="none" cap="none" strike="noStrike">
              <a:solidFill>
                <a:schemeClr val="dk1"/>
              </a:solidFill>
              <a:latin typeface="Calibri"/>
              <a:ea typeface="Calibri"/>
              <a:cs typeface="Calibri"/>
              <a:sym typeface="Calibri"/>
            </a:endParaRPr>
          </a:p>
        </p:txBody>
      </p:sp>
      <p:sp>
        <p:nvSpPr>
          <p:cNvPr id="395" name="Google Shape;395;p5"/>
          <p:cNvSpPr/>
          <p:nvPr/>
        </p:nvSpPr>
        <p:spPr>
          <a:xfrm>
            <a:off x="457200" y="4005072"/>
            <a:ext cx="41148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9EC"/>
              </a:buClr>
              <a:buSzPts val="1000"/>
              <a:buFont typeface="Calibri"/>
              <a:buNone/>
            </a:pPr>
            <a:r>
              <a:rPr b="1" i="0" lang="en-US" sz="1000" u="none" cap="none" strike="noStrike">
                <a:solidFill>
                  <a:srgbClr val="AFA9EC"/>
                </a:solidFill>
                <a:latin typeface="Calibri"/>
                <a:ea typeface="Calibri"/>
                <a:cs typeface="Calibri"/>
                <a:sym typeface="Calibri"/>
              </a:rPr>
              <a:t>1.  </a:t>
            </a:r>
            <a:r>
              <a:rPr b="0" i="0" lang="en-US" sz="1000" u="none" cap="none" strike="noStrike">
                <a:solidFill>
                  <a:srgbClr val="E8EDF8"/>
                </a:solidFill>
                <a:latin typeface="Calibri"/>
                <a:ea typeface="Calibri"/>
                <a:cs typeface="Calibri"/>
                <a:sym typeface="Calibri"/>
              </a:rPr>
              <a:t>Format consistency — every example uses identical structure</a:t>
            </a:r>
            <a:endParaRPr b="0" i="0" sz="1000" u="none" cap="none" strike="noStrike">
              <a:solidFill>
                <a:schemeClr val="dk1"/>
              </a:solidFill>
              <a:latin typeface="Calibri"/>
              <a:ea typeface="Calibri"/>
              <a:cs typeface="Calibri"/>
              <a:sym typeface="Calibri"/>
            </a:endParaRPr>
          </a:p>
        </p:txBody>
      </p:sp>
      <p:sp>
        <p:nvSpPr>
          <p:cNvPr id="396" name="Google Shape;396;p5"/>
          <p:cNvSpPr/>
          <p:nvPr/>
        </p:nvSpPr>
        <p:spPr>
          <a:xfrm>
            <a:off x="457200" y="4279392"/>
            <a:ext cx="41148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9EC"/>
              </a:buClr>
              <a:buSzPts val="1000"/>
              <a:buFont typeface="Calibri"/>
              <a:buNone/>
            </a:pPr>
            <a:r>
              <a:rPr b="1" i="0" lang="en-US" sz="1000" u="none" cap="none" strike="noStrike">
                <a:solidFill>
                  <a:srgbClr val="AFA9EC"/>
                </a:solidFill>
                <a:latin typeface="Calibri"/>
                <a:ea typeface="Calibri"/>
                <a:cs typeface="Calibri"/>
                <a:sym typeface="Calibri"/>
              </a:rPr>
              <a:t>2.  </a:t>
            </a:r>
            <a:r>
              <a:rPr b="0" i="0" lang="en-US" sz="1000" u="none" cap="none" strike="noStrike">
                <a:solidFill>
                  <a:srgbClr val="E8EDF8"/>
                </a:solidFill>
                <a:latin typeface="Calibri"/>
                <a:ea typeface="Calibri"/>
                <a:cs typeface="Calibri"/>
                <a:sym typeface="Calibri"/>
              </a:rPr>
              <a:t>Cover the distribution — span the range of inputs Claude will encounter</a:t>
            </a:r>
            <a:endParaRPr b="0" i="0" sz="1000" u="none" cap="none" strike="noStrike">
              <a:solidFill>
                <a:schemeClr val="dk1"/>
              </a:solidFill>
              <a:latin typeface="Calibri"/>
              <a:ea typeface="Calibri"/>
              <a:cs typeface="Calibri"/>
              <a:sym typeface="Calibri"/>
            </a:endParaRPr>
          </a:p>
        </p:txBody>
      </p:sp>
      <p:sp>
        <p:nvSpPr>
          <p:cNvPr id="397" name="Google Shape;397;p5"/>
          <p:cNvSpPr/>
          <p:nvPr/>
        </p:nvSpPr>
        <p:spPr>
          <a:xfrm>
            <a:off x="457200" y="4553712"/>
            <a:ext cx="41148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9EC"/>
              </a:buClr>
              <a:buSzPts val="1000"/>
              <a:buFont typeface="Calibri"/>
              <a:buNone/>
            </a:pPr>
            <a:r>
              <a:rPr b="1" i="0" lang="en-US" sz="1000" u="none" cap="none" strike="noStrike">
                <a:solidFill>
                  <a:srgbClr val="AFA9EC"/>
                </a:solidFill>
                <a:latin typeface="Calibri"/>
                <a:ea typeface="Calibri"/>
                <a:cs typeface="Calibri"/>
                <a:sym typeface="Calibri"/>
              </a:rPr>
              <a:t>3.  </a:t>
            </a:r>
            <a:r>
              <a:rPr b="0" i="0" lang="en-US" sz="1000" u="none" cap="none" strike="noStrike">
                <a:solidFill>
                  <a:srgbClr val="E8EDF8"/>
                </a:solidFill>
                <a:latin typeface="Calibri"/>
                <a:ea typeface="Calibri"/>
                <a:cs typeface="Calibri"/>
                <a:sym typeface="Calibri"/>
              </a:rPr>
              <a:t>Include edge cases — show how to handle ambiguous or multi-intent inputs</a:t>
            </a:r>
            <a:endParaRPr b="0" i="0" sz="1000" u="none" cap="none" strike="noStrike">
              <a:solidFill>
                <a:schemeClr val="dk1"/>
              </a:solidFill>
              <a:latin typeface="Calibri"/>
              <a:ea typeface="Calibri"/>
              <a:cs typeface="Calibri"/>
              <a:sym typeface="Calibri"/>
            </a:endParaRPr>
          </a:p>
        </p:txBody>
      </p:sp>
      <p:sp>
        <p:nvSpPr>
          <p:cNvPr id="398" name="Google Shape;398;p5"/>
          <p:cNvSpPr/>
          <p:nvPr/>
        </p:nvSpPr>
        <p:spPr>
          <a:xfrm>
            <a:off x="4754880" y="4005072"/>
            <a:ext cx="41148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9EC"/>
              </a:buClr>
              <a:buSzPts val="1000"/>
              <a:buFont typeface="Calibri"/>
              <a:buNone/>
            </a:pPr>
            <a:r>
              <a:rPr b="1" i="0" lang="en-US" sz="1000" u="none" cap="none" strike="noStrike">
                <a:solidFill>
                  <a:srgbClr val="AFA9EC"/>
                </a:solidFill>
                <a:latin typeface="Calibri"/>
                <a:ea typeface="Calibri"/>
                <a:cs typeface="Calibri"/>
                <a:sym typeface="Calibri"/>
              </a:rPr>
              <a:t>4.  </a:t>
            </a:r>
            <a:r>
              <a:rPr b="0" i="0" lang="en-US" sz="1000" u="none" cap="none" strike="noStrike">
                <a:solidFill>
                  <a:srgbClr val="E8EDF8"/>
                </a:solidFill>
                <a:latin typeface="Calibri"/>
                <a:ea typeface="Calibri"/>
                <a:cs typeface="Calibri"/>
                <a:sym typeface="Calibri"/>
              </a:rPr>
              <a:t>Quality over quantity — 3 perfect examples beat 20 mediocre ones</a:t>
            </a:r>
            <a:endParaRPr b="0" i="0" sz="1000" u="none" cap="none" strike="noStrike">
              <a:solidFill>
                <a:schemeClr val="dk1"/>
              </a:solidFill>
              <a:latin typeface="Calibri"/>
              <a:ea typeface="Calibri"/>
              <a:cs typeface="Calibri"/>
              <a:sym typeface="Calibri"/>
            </a:endParaRPr>
          </a:p>
        </p:txBody>
      </p:sp>
      <p:sp>
        <p:nvSpPr>
          <p:cNvPr id="399" name="Google Shape;399;p5"/>
          <p:cNvSpPr/>
          <p:nvPr/>
        </p:nvSpPr>
        <p:spPr>
          <a:xfrm>
            <a:off x="4754880" y="4279392"/>
            <a:ext cx="41148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9EC"/>
              </a:buClr>
              <a:buSzPts val="1000"/>
              <a:buFont typeface="Calibri"/>
              <a:buNone/>
            </a:pPr>
            <a:r>
              <a:rPr b="1" i="0" lang="en-US" sz="1000" u="none" cap="none" strike="noStrike">
                <a:solidFill>
                  <a:srgbClr val="AFA9EC"/>
                </a:solidFill>
                <a:latin typeface="Calibri"/>
                <a:ea typeface="Calibri"/>
                <a:cs typeface="Calibri"/>
                <a:sym typeface="Calibri"/>
              </a:rPr>
              <a:t>5.  </a:t>
            </a:r>
            <a:r>
              <a:rPr b="0" i="0" lang="en-US" sz="1000" u="none" cap="none" strike="noStrike">
                <a:solidFill>
                  <a:srgbClr val="E8EDF8"/>
                </a:solidFill>
                <a:latin typeface="Calibri"/>
                <a:ea typeface="Calibri"/>
                <a:cs typeface="Calibri"/>
                <a:sym typeface="Calibri"/>
              </a:rPr>
              <a:t>Place in system prompt — cache them; don't repeat in every user message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404" name="Shape 404"/>
        <p:cNvGrpSpPr/>
        <p:nvPr/>
      </p:nvGrpSpPr>
      <p:grpSpPr>
        <a:xfrm>
          <a:off x="0" y="0"/>
          <a:ext cx="0" cy="0"/>
          <a:chOff x="0" y="0"/>
          <a:chExt cx="0" cy="0"/>
        </a:xfrm>
      </p:grpSpPr>
      <p:sp>
        <p:nvSpPr>
          <p:cNvPr id="405" name="Google Shape;405;p8"/>
          <p:cNvSpPr/>
          <p:nvPr/>
        </p:nvSpPr>
        <p:spPr>
          <a:xfrm>
            <a:off x="457200" y="5943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Prompt Caching — Design &amp; Cost Model</a:t>
            </a:r>
            <a:endParaRPr b="0" i="0" sz="2800" u="none" cap="none" strike="noStrike">
              <a:solidFill>
                <a:schemeClr val="dk1"/>
              </a:solidFill>
              <a:latin typeface="Calibri"/>
              <a:ea typeface="Calibri"/>
              <a:cs typeface="Calibri"/>
              <a:sym typeface="Calibri"/>
            </a:endParaRPr>
          </a:p>
        </p:txBody>
      </p:sp>
      <p:sp>
        <p:nvSpPr>
          <p:cNvPr id="406" name="Google Shape;406;p8"/>
          <p:cNvSpPr/>
          <p:nvPr/>
        </p:nvSpPr>
        <p:spPr>
          <a:xfrm>
            <a:off x="457200" y="118872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1300"/>
              <a:buFont typeface="Calibri"/>
              <a:buNone/>
            </a:pPr>
            <a:r>
              <a:rPr b="0" i="0" lang="en-US" sz="1300" u="none" cap="none" strike="noStrike">
                <a:solidFill>
                  <a:srgbClr val="8FA3C8"/>
                </a:solidFill>
                <a:latin typeface="Calibri"/>
                <a:ea typeface="Calibri"/>
                <a:cs typeface="Calibri"/>
                <a:sym typeface="Calibri"/>
              </a:rPr>
              <a:t>cache_control: ephemeral  ·  Static content costs ~10% on reads</a:t>
            </a:r>
            <a:endParaRPr b="0" i="0" sz="1300" u="none" cap="none" strike="noStrike">
              <a:solidFill>
                <a:schemeClr val="dk1"/>
              </a:solidFill>
              <a:latin typeface="Calibri"/>
              <a:ea typeface="Calibri"/>
              <a:cs typeface="Calibri"/>
              <a:sym typeface="Calibri"/>
            </a:endParaRPr>
          </a:p>
        </p:txBody>
      </p:sp>
      <p:sp>
        <p:nvSpPr>
          <p:cNvPr id="407" name="Google Shape;407;p8"/>
          <p:cNvSpPr/>
          <p:nvPr/>
        </p:nvSpPr>
        <p:spPr>
          <a:xfrm>
            <a:off x="8046720" y="4800600"/>
            <a:ext cx="9144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8 / 12</a:t>
            </a:r>
            <a:endParaRPr b="0" i="0" sz="900" u="none" cap="none" strike="noStrike">
              <a:solidFill>
                <a:schemeClr val="dk1"/>
              </a:solidFill>
              <a:latin typeface="Calibri"/>
              <a:ea typeface="Calibri"/>
              <a:cs typeface="Calibri"/>
              <a:sym typeface="Calibri"/>
            </a:endParaRPr>
          </a:p>
        </p:txBody>
      </p:sp>
      <p:sp>
        <p:nvSpPr>
          <p:cNvPr id="408" name="Google Shape;408;p8"/>
          <p:cNvSpPr/>
          <p:nvPr/>
        </p:nvSpPr>
        <p:spPr>
          <a:xfrm>
            <a:off x="457200" y="1508760"/>
            <a:ext cx="2624328" cy="109728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8"/>
          <p:cNvSpPr/>
          <p:nvPr/>
        </p:nvSpPr>
        <p:spPr>
          <a:xfrm>
            <a:off x="566928" y="1572768"/>
            <a:ext cx="2404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7517"/>
              </a:buClr>
              <a:buSzPts val="900"/>
              <a:buFont typeface="Calibri"/>
              <a:buNone/>
            </a:pPr>
            <a:r>
              <a:rPr b="1" i="0" lang="en-US" sz="900" u="none" cap="none" strike="noStrike">
                <a:solidFill>
                  <a:srgbClr val="BA7517"/>
                </a:solidFill>
                <a:latin typeface="Calibri"/>
                <a:ea typeface="Calibri"/>
                <a:cs typeface="Calibri"/>
                <a:sym typeface="Calibri"/>
              </a:rPr>
              <a:t>WRITE</a:t>
            </a:r>
            <a:endParaRPr b="0" i="0" sz="900" u="none" cap="none" strike="noStrike">
              <a:solidFill>
                <a:schemeClr val="dk1"/>
              </a:solidFill>
              <a:latin typeface="Calibri"/>
              <a:ea typeface="Calibri"/>
              <a:cs typeface="Calibri"/>
              <a:sym typeface="Calibri"/>
            </a:endParaRPr>
          </a:p>
        </p:txBody>
      </p:sp>
      <p:sp>
        <p:nvSpPr>
          <p:cNvPr id="410" name="Google Shape;410;p8"/>
          <p:cNvSpPr/>
          <p:nvPr/>
        </p:nvSpPr>
        <p:spPr>
          <a:xfrm>
            <a:off x="566928" y="1847088"/>
            <a:ext cx="240487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125%</a:t>
            </a:r>
            <a:endParaRPr b="0" i="0" sz="3200" u="none" cap="none" strike="noStrike">
              <a:solidFill>
                <a:schemeClr val="dk1"/>
              </a:solidFill>
              <a:latin typeface="Calibri"/>
              <a:ea typeface="Calibri"/>
              <a:cs typeface="Calibri"/>
              <a:sym typeface="Calibri"/>
            </a:endParaRPr>
          </a:p>
        </p:txBody>
      </p:sp>
      <p:sp>
        <p:nvSpPr>
          <p:cNvPr id="411" name="Google Shape;411;p8"/>
          <p:cNvSpPr/>
          <p:nvPr/>
        </p:nvSpPr>
        <p:spPr>
          <a:xfrm>
            <a:off x="566928" y="2322576"/>
            <a:ext cx="240487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b="0" i="0" lang="en-US" sz="950" u="none" cap="none" strike="noStrike">
                <a:solidFill>
                  <a:srgbClr val="8FA3C8"/>
                </a:solidFill>
                <a:latin typeface="Calibri"/>
                <a:ea typeface="Calibri"/>
                <a:cs typeface="Calibri"/>
                <a:sym typeface="Calibri"/>
              </a:rPr>
              <a:t>of normal token price on first call</a:t>
            </a:r>
            <a:endParaRPr b="0" i="0" sz="950" u="none" cap="none" strike="noStrike">
              <a:solidFill>
                <a:schemeClr val="dk1"/>
              </a:solidFill>
              <a:latin typeface="Calibri"/>
              <a:ea typeface="Calibri"/>
              <a:cs typeface="Calibri"/>
              <a:sym typeface="Calibri"/>
            </a:endParaRPr>
          </a:p>
        </p:txBody>
      </p:sp>
      <p:sp>
        <p:nvSpPr>
          <p:cNvPr id="412" name="Google Shape;412;p8"/>
          <p:cNvSpPr/>
          <p:nvPr/>
        </p:nvSpPr>
        <p:spPr>
          <a:xfrm>
            <a:off x="3264408" y="1508760"/>
            <a:ext cx="2624328" cy="109728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8"/>
          <p:cNvSpPr/>
          <p:nvPr/>
        </p:nvSpPr>
        <p:spPr>
          <a:xfrm>
            <a:off x="3374136" y="1572768"/>
            <a:ext cx="2404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900"/>
              <a:buFont typeface="Calibri"/>
              <a:buNone/>
            </a:pPr>
            <a:r>
              <a:rPr b="1" i="0" lang="en-US" sz="900" u="none" cap="none" strike="noStrike">
                <a:solidFill>
                  <a:srgbClr val="1D9E75"/>
                </a:solidFill>
                <a:latin typeface="Calibri"/>
                <a:ea typeface="Calibri"/>
                <a:cs typeface="Calibri"/>
                <a:sym typeface="Calibri"/>
              </a:rPr>
              <a:t>READ</a:t>
            </a:r>
            <a:endParaRPr b="0" i="0" sz="900" u="none" cap="none" strike="noStrike">
              <a:solidFill>
                <a:schemeClr val="dk1"/>
              </a:solidFill>
              <a:latin typeface="Calibri"/>
              <a:ea typeface="Calibri"/>
              <a:cs typeface="Calibri"/>
              <a:sym typeface="Calibri"/>
            </a:endParaRPr>
          </a:p>
        </p:txBody>
      </p:sp>
      <p:sp>
        <p:nvSpPr>
          <p:cNvPr id="414" name="Google Shape;414;p8"/>
          <p:cNvSpPr/>
          <p:nvPr/>
        </p:nvSpPr>
        <p:spPr>
          <a:xfrm>
            <a:off x="3374136" y="1847088"/>
            <a:ext cx="240487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~10%</a:t>
            </a:r>
            <a:endParaRPr b="0" i="0" sz="3200" u="none" cap="none" strike="noStrike">
              <a:solidFill>
                <a:schemeClr val="dk1"/>
              </a:solidFill>
              <a:latin typeface="Calibri"/>
              <a:ea typeface="Calibri"/>
              <a:cs typeface="Calibri"/>
              <a:sym typeface="Calibri"/>
            </a:endParaRPr>
          </a:p>
        </p:txBody>
      </p:sp>
      <p:sp>
        <p:nvSpPr>
          <p:cNvPr id="415" name="Google Shape;415;p8"/>
          <p:cNvSpPr/>
          <p:nvPr/>
        </p:nvSpPr>
        <p:spPr>
          <a:xfrm>
            <a:off x="3374136" y="2322576"/>
            <a:ext cx="240487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b="0" i="0" lang="en-US" sz="950" u="none" cap="none" strike="noStrike">
                <a:solidFill>
                  <a:srgbClr val="8FA3C8"/>
                </a:solidFill>
                <a:latin typeface="Calibri"/>
                <a:ea typeface="Calibri"/>
                <a:cs typeface="Calibri"/>
                <a:sym typeface="Calibri"/>
              </a:rPr>
              <a:t>of normal token price on calls 2+</a:t>
            </a:r>
            <a:endParaRPr b="0" i="0" sz="950" u="none" cap="none" strike="noStrike">
              <a:solidFill>
                <a:schemeClr val="dk1"/>
              </a:solidFill>
              <a:latin typeface="Calibri"/>
              <a:ea typeface="Calibri"/>
              <a:cs typeface="Calibri"/>
              <a:sym typeface="Calibri"/>
            </a:endParaRPr>
          </a:p>
        </p:txBody>
      </p:sp>
      <p:sp>
        <p:nvSpPr>
          <p:cNvPr id="416" name="Google Shape;416;p8"/>
          <p:cNvSpPr/>
          <p:nvPr/>
        </p:nvSpPr>
        <p:spPr>
          <a:xfrm>
            <a:off x="6071616" y="1508760"/>
            <a:ext cx="2624328" cy="1097280"/>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8"/>
          <p:cNvSpPr/>
          <p:nvPr/>
        </p:nvSpPr>
        <p:spPr>
          <a:xfrm>
            <a:off x="6181344" y="1572768"/>
            <a:ext cx="2404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4AB7"/>
              </a:buClr>
              <a:buSzPts val="900"/>
              <a:buFont typeface="Calibri"/>
              <a:buNone/>
            </a:pPr>
            <a:r>
              <a:rPr b="1" i="0" lang="en-US" sz="900" u="none" cap="none" strike="noStrike">
                <a:solidFill>
                  <a:srgbClr val="534AB7"/>
                </a:solidFill>
                <a:latin typeface="Calibri"/>
                <a:ea typeface="Calibri"/>
                <a:cs typeface="Calibri"/>
                <a:sym typeface="Calibri"/>
              </a:rPr>
              <a:t>SAVE</a:t>
            </a:r>
            <a:endParaRPr b="0" i="0" sz="900" u="none" cap="none" strike="noStrike">
              <a:solidFill>
                <a:schemeClr val="dk1"/>
              </a:solidFill>
              <a:latin typeface="Calibri"/>
              <a:ea typeface="Calibri"/>
              <a:cs typeface="Calibri"/>
              <a:sym typeface="Calibri"/>
            </a:endParaRPr>
          </a:p>
        </p:txBody>
      </p:sp>
      <p:sp>
        <p:nvSpPr>
          <p:cNvPr id="418" name="Google Shape;418;p8"/>
          <p:cNvSpPr/>
          <p:nvPr/>
        </p:nvSpPr>
        <p:spPr>
          <a:xfrm>
            <a:off x="6181344" y="1847088"/>
            <a:ext cx="240487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~90%</a:t>
            </a:r>
            <a:endParaRPr b="0" i="0" sz="3200" u="none" cap="none" strike="noStrike">
              <a:solidFill>
                <a:schemeClr val="dk1"/>
              </a:solidFill>
              <a:latin typeface="Calibri"/>
              <a:ea typeface="Calibri"/>
              <a:cs typeface="Calibri"/>
              <a:sym typeface="Calibri"/>
            </a:endParaRPr>
          </a:p>
        </p:txBody>
      </p:sp>
      <p:sp>
        <p:nvSpPr>
          <p:cNvPr id="419" name="Google Shape;419;p8"/>
          <p:cNvSpPr/>
          <p:nvPr/>
        </p:nvSpPr>
        <p:spPr>
          <a:xfrm>
            <a:off x="6181344" y="2322576"/>
            <a:ext cx="240487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950"/>
              <a:buFont typeface="Calibri"/>
              <a:buNone/>
            </a:pPr>
            <a:r>
              <a:rPr b="0" i="0" lang="en-US" sz="950" u="none" cap="none" strike="noStrike">
                <a:solidFill>
                  <a:srgbClr val="8FA3C8"/>
                </a:solidFill>
                <a:latin typeface="Calibri"/>
                <a:ea typeface="Calibri"/>
                <a:cs typeface="Calibri"/>
                <a:sym typeface="Calibri"/>
              </a:rPr>
              <a:t>reduction on cached token portion</a:t>
            </a:r>
            <a:endParaRPr b="0" i="0" sz="950" u="none" cap="none" strike="noStrike">
              <a:solidFill>
                <a:schemeClr val="dk1"/>
              </a:solidFill>
              <a:latin typeface="Calibri"/>
              <a:ea typeface="Calibri"/>
              <a:cs typeface="Calibri"/>
              <a:sym typeface="Calibri"/>
            </a:endParaRPr>
          </a:p>
        </p:txBody>
      </p:sp>
      <p:sp>
        <p:nvSpPr>
          <p:cNvPr id="420" name="Google Shape;420;p8"/>
          <p:cNvSpPr/>
          <p:nvPr/>
        </p:nvSpPr>
        <p:spPr>
          <a:xfrm>
            <a:off x="457200" y="2761488"/>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1100"/>
              <a:buFont typeface="Calibri"/>
              <a:buNone/>
            </a:pPr>
            <a:r>
              <a:rPr b="1" i="0" lang="en-US" sz="1100" u="none" cap="none" strike="noStrike">
                <a:solidFill>
                  <a:srgbClr val="5DCAA5"/>
                </a:solidFill>
                <a:latin typeface="Calibri"/>
                <a:ea typeface="Calibri"/>
                <a:cs typeface="Calibri"/>
                <a:sym typeface="Calibri"/>
              </a:rPr>
              <a:t>What to cache</a:t>
            </a:r>
            <a:endParaRPr b="0" i="0" sz="1100" u="none" cap="none" strike="noStrike">
              <a:solidFill>
                <a:schemeClr val="dk1"/>
              </a:solidFill>
              <a:latin typeface="Calibri"/>
              <a:ea typeface="Calibri"/>
              <a:cs typeface="Calibri"/>
              <a:sym typeface="Calibri"/>
            </a:endParaRPr>
          </a:p>
        </p:txBody>
      </p:sp>
      <p:sp>
        <p:nvSpPr>
          <p:cNvPr id="421" name="Google Shape;421;p8"/>
          <p:cNvSpPr/>
          <p:nvPr/>
        </p:nvSpPr>
        <p:spPr>
          <a:xfrm>
            <a:off x="4663440" y="2761488"/>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100"/>
              <a:buFont typeface="Calibri"/>
              <a:buNone/>
            </a:pPr>
            <a:r>
              <a:rPr b="1" i="0" lang="en-US" sz="1100" u="none" cap="none" strike="noStrike">
                <a:solidFill>
                  <a:srgbClr val="D85A30"/>
                </a:solidFill>
                <a:latin typeface="Calibri"/>
                <a:ea typeface="Calibri"/>
                <a:cs typeface="Calibri"/>
                <a:sym typeface="Calibri"/>
              </a:rPr>
              <a:t>Do NOT cache</a:t>
            </a:r>
            <a:endParaRPr b="0" i="0" sz="1100" u="none" cap="none" strike="noStrike">
              <a:solidFill>
                <a:schemeClr val="dk1"/>
              </a:solidFill>
              <a:latin typeface="Calibri"/>
              <a:ea typeface="Calibri"/>
              <a:cs typeface="Calibri"/>
              <a:sym typeface="Calibri"/>
            </a:endParaRPr>
          </a:p>
        </p:txBody>
      </p:sp>
      <p:sp>
        <p:nvSpPr>
          <p:cNvPr id="422" name="Google Shape;422;p8"/>
          <p:cNvSpPr/>
          <p:nvPr/>
        </p:nvSpPr>
        <p:spPr>
          <a:xfrm>
            <a:off x="457200" y="3035808"/>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00"/>
              <a:buFont typeface="Calibri"/>
              <a:buNone/>
            </a:pPr>
            <a:r>
              <a:rPr b="1" i="0" lang="en-US" sz="1000" u="none" cap="none" strike="noStrike">
                <a:solidFill>
                  <a:srgbClr val="1D9E75"/>
                </a:solidFill>
                <a:latin typeface="Calibri"/>
                <a:ea typeface="Calibri"/>
                <a:cs typeface="Calibri"/>
                <a:sym typeface="Calibri"/>
              </a:rPr>
              <a:t>✓  </a:t>
            </a:r>
            <a:r>
              <a:rPr b="0" i="0" lang="en-US" sz="1000" u="none" cap="none" strike="noStrike">
                <a:solidFill>
                  <a:srgbClr val="E8EDF8"/>
                </a:solidFill>
                <a:latin typeface="Calibri"/>
                <a:ea typeface="Calibri"/>
                <a:cs typeface="Calibri"/>
                <a:sym typeface="Calibri"/>
              </a:rPr>
              <a:t>System prompt (role, context, rules, format)</a:t>
            </a:r>
            <a:endParaRPr b="0" i="0" sz="1000" u="none" cap="none" strike="noStrike">
              <a:solidFill>
                <a:schemeClr val="dk1"/>
              </a:solidFill>
              <a:latin typeface="Calibri"/>
              <a:ea typeface="Calibri"/>
              <a:cs typeface="Calibri"/>
              <a:sym typeface="Calibri"/>
            </a:endParaRPr>
          </a:p>
        </p:txBody>
      </p:sp>
      <p:sp>
        <p:nvSpPr>
          <p:cNvPr id="423" name="Google Shape;423;p8"/>
          <p:cNvSpPr/>
          <p:nvPr/>
        </p:nvSpPr>
        <p:spPr>
          <a:xfrm>
            <a:off x="457200" y="3291840"/>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00"/>
              <a:buFont typeface="Calibri"/>
              <a:buNone/>
            </a:pPr>
            <a:r>
              <a:rPr b="1" i="0" lang="en-US" sz="1000" u="none" cap="none" strike="noStrike">
                <a:solidFill>
                  <a:srgbClr val="1D9E75"/>
                </a:solidFill>
                <a:latin typeface="Calibri"/>
                <a:ea typeface="Calibri"/>
                <a:cs typeface="Calibri"/>
                <a:sym typeface="Calibri"/>
              </a:rPr>
              <a:t>✓  </a:t>
            </a:r>
            <a:r>
              <a:rPr b="0" i="0" lang="en-US" sz="1000" u="none" cap="none" strike="noStrike">
                <a:solidFill>
                  <a:srgbClr val="E8EDF8"/>
                </a:solidFill>
                <a:latin typeface="Calibri"/>
                <a:ea typeface="Calibri"/>
                <a:cs typeface="Calibri"/>
                <a:sym typeface="Calibri"/>
              </a:rPr>
              <a:t>Few-shot examples (3–5 demonstrations)</a:t>
            </a:r>
            <a:endParaRPr b="0" i="0" sz="1000" u="none" cap="none" strike="noStrike">
              <a:solidFill>
                <a:schemeClr val="dk1"/>
              </a:solidFill>
              <a:latin typeface="Calibri"/>
              <a:ea typeface="Calibri"/>
              <a:cs typeface="Calibri"/>
              <a:sym typeface="Calibri"/>
            </a:endParaRPr>
          </a:p>
        </p:txBody>
      </p:sp>
      <p:sp>
        <p:nvSpPr>
          <p:cNvPr id="424" name="Google Shape;424;p8"/>
          <p:cNvSpPr/>
          <p:nvPr/>
        </p:nvSpPr>
        <p:spPr>
          <a:xfrm>
            <a:off x="457200" y="3547872"/>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00"/>
              <a:buFont typeface="Calibri"/>
              <a:buNone/>
            </a:pPr>
            <a:r>
              <a:rPr b="1" i="0" lang="en-US" sz="1000" u="none" cap="none" strike="noStrike">
                <a:solidFill>
                  <a:srgbClr val="1D9E75"/>
                </a:solidFill>
                <a:latin typeface="Calibri"/>
                <a:ea typeface="Calibri"/>
                <a:cs typeface="Calibri"/>
                <a:sym typeface="Calibri"/>
              </a:rPr>
              <a:t>✓  </a:t>
            </a:r>
            <a:r>
              <a:rPr b="0" i="0" lang="en-US" sz="1000" u="none" cap="none" strike="noStrike">
                <a:solidFill>
                  <a:srgbClr val="E8EDF8"/>
                </a:solidFill>
                <a:latin typeface="Calibri"/>
                <a:ea typeface="Calibri"/>
                <a:cs typeface="Calibri"/>
                <a:sym typeface="Calibri"/>
              </a:rPr>
              <a:t>Long reference documents in system</a:t>
            </a:r>
            <a:endParaRPr b="0" i="0" sz="1000" u="none" cap="none" strike="noStrike">
              <a:solidFill>
                <a:schemeClr val="dk1"/>
              </a:solidFill>
              <a:latin typeface="Calibri"/>
              <a:ea typeface="Calibri"/>
              <a:cs typeface="Calibri"/>
              <a:sym typeface="Calibri"/>
            </a:endParaRPr>
          </a:p>
        </p:txBody>
      </p:sp>
      <p:sp>
        <p:nvSpPr>
          <p:cNvPr id="425" name="Google Shape;425;p8"/>
          <p:cNvSpPr/>
          <p:nvPr/>
        </p:nvSpPr>
        <p:spPr>
          <a:xfrm>
            <a:off x="457200" y="3803904"/>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9E75"/>
              </a:buClr>
              <a:buSzPts val="1000"/>
              <a:buFont typeface="Calibri"/>
              <a:buNone/>
            </a:pPr>
            <a:r>
              <a:rPr b="1" i="0" lang="en-US" sz="1000" u="none" cap="none" strike="noStrike">
                <a:solidFill>
                  <a:srgbClr val="1D9E75"/>
                </a:solidFill>
                <a:latin typeface="Calibri"/>
                <a:ea typeface="Calibri"/>
                <a:cs typeface="Calibri"/>
                <a:sym typeface="Calibri"/>
              </a:rPr>
              <a:t>✓  </a:t>
            </a:r>
            <a:r>
              <a:rPr b="0" i="0" lang="en-US" sz="1000" u="none" cap="none" strike="noStrike">
                <a:solidFill>
                  <a:srgbClr val="E8EDF8"/>
                </a:solidFill>
                <a:latin typeface="Calibri"/>
                <a:ea typeface="Calibri"/>
                <a:cs typeface="Calibri"/>
                <a:sym typeface="Calibri"/>
              </a:rPr>
              <a:t>Tool definitions in agentic workflows</a:t>
            </a:r>
            <a:endParaRPr b="0" i="0" sz="1000" u="none" cap="none" strike="noStrike">
              <a:solidFill>
                <a:schemeClr val="dk1"/>
              </a:solidFill>
              <a:latin typeface="Calibri"/>
              <a:ea typeface="Calibri"/>
              <a:cs typeface="Calibri"/>
              <a:sym typeface="Calibri"/>
            </a:endParaRPr>
          </a:p>
        </p:txBody>
      </p:sp>
      <p:sp>
        <p:nvSpPr>
          <p:cNvPr id="426" name="Google Shape;426;p8"/>
          <p:cNvSpPr/>
          <p:nvPr/>
        </p:nvSpPr>
        <p:spPr>
          <a:xfrm>
            <a:off x="4663440" y="3035808"/>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000"/>
              <a:buFont typeface="Calibri"/>
              <a:buNone/>
            </a:pPr>
            <a:r>
              <a:rPr b="1" i="0" lang="en-US" sz="1000" u="none" cap="none" strike="noStrike">
                <a:solidFill>
                  <a:srgbClr val="D85A30"/>
                </a:solidFill>
                <a:latin typeface="Calibri"/>
                <a:ea typeface="Calibri"/>
                <a:cs typeface="Calibri"/>
                <a:sym typeface="Calibri"/>
              </a:rPr>
              <a:t>✗  </a:t>
            </a:r>
            <a:r>
              <a:rPr b="0" i="0" lang="en-US" sz="1000" u="none" cap="none" strike="noStrike">
                <a:solidFill>
                  <a:srgbClr val="E8EDF8"/>
                </a:solidFill>
                <a:latin typeface="Calibri"/>
                <a:ea typeface="Calibri"/>
                <a:cs typeface="Calibri"/>
                <a:sym typeface="Calibri"/>
              </a:rPr>
              <a:t>User messages</a:t>
            </a:r>
            <a:endParaRPr b="0" i="0" sz="1000" u="none" cap="none" strike="noStrike">
              <a:solidFill>
                <a:schemeClr val="dk1"/>
              </a:solidFill>
              <a:latin typeface="Calibri"/>
              <a:ea typeface="Calibri"/>
              <a:cs typeface="Calibri"/>
              <a:sym typeface="Calibri"/>
            </a:endParaRPr>
          </a:p>
        </p:txBody>
      </p:sp>
      <p:sp>
        <p:nvSpPr>
          <p:cNvPr id="427" name="Google Shape;427;p8"/>
          <p:cNvSpPr/>
          <p:nvPr/>
        </p:nvSpPr>
        <p:spPr>
          <a:xfrm>
            <a:off x="4663440" y="3291840"/>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000"/>
              <a:buFont typeface="Calibri"/>
              <a:buNone/>
            </a:pPr>
            <a:r>
              <a:rPr b="1" i="0" lang="en-US" sz="1000" u="none" cap="none" strike="noStrike">
                <a:solidFill>
                  <a:srgbClr val="D85A30"/>
                </a:solidFill>
                <a:latin typeface="Calibri"/>
                <a:ea typeface="Calibri"/>
                <a:cs typeface="Calibri"/>
                <a:sym typeface="Calibri"/>
              </a:rPr>
              <a:t>✗  </a:t>
            </a:r>
            <a:r>
              <a:rPr b="0" i="0" lang="en-US" sz="1000" u="none" cap="none" strike="noStrike">
                <a:solidFill>
                  <a:srgbClr val="E8EDF8"/>
                </a:solidFill>
                <a:latin typeface="Calibri"/>
                <a:ea typeface="Calibri"/>
                <a:cs typeface="Calibri"/>
                <a:sym typeface="Calibri"/>
              </a:rPr>
              <a:t>Conversation history</a:t>
            </a:r>
            <a:endParaRPr b="0" i="0" sz="1000" u="none" cap="none" strike="noStrike">
              <a:solidFill>
                <a:schemeClr val="dk1"/>
              </a:solidFill>
              <a:latin typeface="Calibri"/>
              <a:ea typeface="Calibri"/>
              <a:cs typeface="Calibri"/>
              <a:sym typeface="Calibri"/>
            </a:endParaRPr>
          </a:p>
        </p:txBody>
      </p:sp>
      <p:sp>
        <p:nvSpPr>
          <p:cNvPr id="428" name="Google Shape;428;p8"/>
          <p:cNvSpPr/>
          <p:nvPr/>
        </p:nvSpPr>
        <p:spPr>
          <a:xfrm>
            <a:off x="4663440" y="3547872"/>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000"/>
              <a:buFont typeface="Calibri"/>
              <a:buNone/>
            </a:pPr>
            <a:r>
              <a:rPr b="1" i="0" lang="en-US" sz="1000" u="none" cap="none" strike="noStrike">
                <a:solidFill>
                  <a:srgbClr val="D85A30"/>
                </a:solidFill>
                <a:latin typeface="Calibri"/>
                <a:ea typeface="Calibri"/>
                <a:cs typeface="Calibri"/>
                <a:sym typeface="Calibri"/>
              </a:rPr>
              <a:t>✗  </a:t>
            </a:r>
            <a:r>
              <a:rPr b="0" i="0" lang="en-US" sz="1000" u="none" cap="none" strike="noStrike">
                <a:solidFill>
                  <a:srgbClr val="E8EDF8"/>
                </a:solidFill>
                <a:latin typeface="Calibri"/>
                <a:ea typeface="Calibri"/>
                <a:cs typeface="Calibri"/>
                <a:sym typeface="Calibri"/>
              </a:rPr>
              <a:t>Dynamic per-request context</a:t>
            </a:r>
            <a:endParaRPr b="0" i="0" sz="1000" u="none" cap="none" strike="noStrike">
              <a:solidFill>
                <a:schemeClr val="dk1"/>
              </a:solidFill>
              <a:latin typeface="Calibri"/>
              <a:ea typeface="Calibri"/>
              <a:cs typeface="Calibri"/>
              <a:sym typeface="Calibri"/>
            </a:endParaRPr>
          </a:p>
        </p:txBody>
      </p:sp>
      <p:sp>
        <p:nvSpPr>
          <p:cNvPr id="429" name="Google Shape;429;p8"/>
          <p:cNvSpPr/>
          <p:nvPr/>
        </p:nvSpPr>
        <p:spPr>
          <a:xfrm>
            <a:off x="4663440" y="3803904"/>
            <a:ext cx="40233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000"/>
              <a:buFont typeface="Calibri"/>
              <a:buNone/>
            </a:pPr>
            <a:r>
              <a:rPr b="1" i="0" lang="en-US" sz="1000" u="none" cap="none" strike="noStrike">
                <a:solidFill>
                  <a:srgbClr val="D85A30"/>
                </a:solidFill>
                <a:latin typeface="Calibri"/>
                <a:ea typeface="Calibri"/>
                <a:cs typeface="Calibri"/>
                <a:sym typeface="Calibri"/>
              </a:rPr>
              <a:t>✗  </a:t>
            </a:r>
            <a:r>
              <a:rPr b="0" i="0" lang="en-US" sz="1000" u="none" cap="none" strike="noStrike">
                <a:solidFill>
                  <a:srgbClr val="E8EDF8"/>
                </a:solidFill>
                <a:latin typeface="Calibri"/>
                <a:ea typeface="Calibri"/>
                <a:cs typeface="Calibri"/>
                <a:sym typeface="Calibri"/>
              </a:rPr>
              <a:t>Session-specific injected data</a:t>
            </a:r>
            <a:endParaRPr b="0" i="0" sz="1000" u="none" cap="none" strike="noStrike">
              <a:solidFill>
                <a:schemeClr val="dk1"/>
              </a:solidFill>
              <a:latin typeface="Calibri"/>
              <a:ea typeface="Calibri"/>
              <a:cs typeface="Calibri"/>
              <a:sym typeface="Calibri"/>
            </a:endParaRPr>
          </a:p>
        </p:txBody>
      </p:sp>
      <p:cxnSp>
        <p:nvCxnSpPr>
          <p:cNvPr id="430" name="Google Shape;430;p8"/>
          <p:cNvCxnSpPr/>
          <p:nvPr/>
        </p:nvCxnSpPr>
        <p:spPr>
          <a:xfrm>
            <a:off x="4434840" y="2743200"/>
            <a:ext cx="0" cy="1371600"/>
          </a:xfrm>
          <a:prstGeom prst="straightConnector1">
            <a:avLst/>
          </a:prstGeom>
          <a:noFill/>
          <a:ln cap="flat" cmpd="sng" w="9525">
            <a:solidFill>
              <a:srgbClr val="2E4070"/>
            </a:solidFill>
            <a:prstDash val="solid"/>
            <a:round/>
            <a:headEnd len="sm" w="sm" type="none"/>
            <a:tailEnd len="sm" w="sm" type="none"/>
          </a:ln>
        </p:spPr>
      </p:cxnSp>
      <p:sp>
        <p:nvSpPr>
          <p:cNvPr id="431" name="Google Shape;431;p8"/>
          <p:cNvSpPr/>
          <p:nvPr/>
        </p:nvSpPr>
        <p:spPr>
          <a:xfrm>
            <a:off x="0" y="4773168"/>
            <a:ext cx="9144000" cy="365760"/>
          </a:xfrm>
          <a:prstGeom prst="rect">
            <a:avLst/>
          </a:prstGeom>
          <a:solidFill>
            <a:srgbClr val="854F0B"/>
          </a:solidFill>
          <a:ln cap="flat" cmpd="sng" w="12700">
            <a:solidFill>
              <a:srgbClr val="854F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8"/>
          <p:cNvSpPr/>
          <p:nvPr/>
        </p:nvSpPr>
        <p:spPr>
          <a:xfrm>
            <a:off x="365760" y="4791456"/>
            <a:ext cx="8412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EEDA"/>
              </a:buClr>
              <a:buSzPts val="1000"/>
              <a:buFont typeface="Calibri"/>
              <a:buNone/>
            </a:pPr>
            <a:r>
              <a:rPr b="1" i="0" lang="en-US" sz="1000" u="none" cap="none" strike="noStrike">
                <a:solidFill>
                  <a:srgbClr val="FAEEDA"/>
                </a:solidFill>
                <a:latin typeface="Calibri"/>
                <a:ea typeface="Calibri"/>
                <a:cs typeface="Calibri"/>
                <a:sym typeface="Calibri"/>
              </a:rPr>
              <a:t>MINIMUM  </a:t>
            </a:r>
            <a:r>
              <a:rPr b="0" i="0" lang="en-US" sz="1000" u="none" cap="none" strike="noStrike">
                <a:solidFill>
                  <a:srgbClr val="FFFFFF"/>
                </a:solidFill>
                <a:latin typeface="Calibri"/>
                <a:ea typeface="Calibri"/>
                <a:cs typeface="Calibri"/>
                <a:sym typeface="Calibri"/>
              </a:rPr>
              <a:t>1,024 tokens required to cache. Below this the API ignores cache_control. Always check before recommending caching.  |  </a:t>
            </a:r>
            <a:r>
              <a:rPr b="1" i="0" lang="en-US" sz="1000" u="none" cap="none" strike="noStrike">
                <a:solidFill>
                  <a:srgbClr val="FAEEDA"/>
                </a:solidFill>
                <a:latin typeface="Calibri"/>
                <a:ea typeface="Calibri"/>
                <a:cs typeface="Calibri"/>
                <a:sym typeface="Calibri"/>
              </a:rPr>
              <a:t>Lifetime: 5 minutes (ephemeral)</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437" name="Shape 437"/>
        <p:cNvGrpSpPr/>
        <p:nvPr/>
      </p:nvGrpSpPr>
      <p:grpSpPr>
        <a:xfrm>
          <a:off x="0" y="0"/>
          <a:ext cx="0" cy="0"/>
          <a:chOff x="0" y="0"/>
          <a:chExt cx="0" cy="0"/>
        </a:xfrm>
      </p:grpSpPr>
      <p:sp>
        <p:nvSpPr>
          <p:cNvPr id="438" name="Google Shape;438;g3e47b6fd3c3_0_337"/>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2800"/>
              <a:buFont typeface="Calibri"/>
              <a:buNone/>
            </a:pPr>
            <a:r>
              <a:rPr b="1" lang="en-US" sz="2800">
                <a:solidFill>
                  <a:schemeClr val="lt1"/>
                </a:solidFill>
                <a:latin typeface="Calibri"/>
                <a:ea typeface="Calibri"/>
                <a:cs typeface="Calibri"/>
                <a:sym typeface="Calibri"/>
              </a:rPr>
              <a:t>Prompt Caching</a:t>
            </a:r>
            <a:endParaRPr b="0" i="0" sz="2800" u="none" cap="none" strike="noStrike">
              <a:solidFill>
                <a:schemeClr val="dk1"/>
              </a:solidFill>
              <a:latin typeface="Calibri"/>
              <a:ea typeface="Calibri"/>
              <a:cs typeface="Calibri"/>
              <a:sym typeface="Calibri"/>
            </a:endParaRPr>
          </a:p>
        </p:txBody>
      </p:sp>
      <p:sp>
        <p:nvSpPr>
          <p:cNvPr id="439" name="Google Shape;439;g3e47b6fd3c3_0_337"/>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440" name="Google Shape;440;g3e47b6fd3c3_0_337"/>
          <p:cNvSpPr/>
          <p:nvPr/>
        </p:nvSpPr>
        <p:spPr>
          <a:xfrm>
            <a:off x="217325" y="950825"/>
            <a:ext cx="8149800" cy="3939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Prompt caching optimizes API usage by allowing you to resume from specific prefixes in your prompts, significantly reducing processing time and costs for repetitive tasks or prompts with consistent elements.</a:t>
            </a:r>
            <a:endParaRPr>
              <a:solidFill>
                <a:schemeClr val="lt1"/>
              </a:solidFill>
            </a:endParaRPr>
          </a:p>
          <a:p>
            <a:pPr indent="0" lvl="0" marL="0" rtl="0" algn="l">
              <a:lnSpc>
                <a:spcPct val="140000"/>
              </a:lnSpc>
              <a:spcBef>
                <a:spcPts val="1500"/>
              </a:spcBef>
              <a:spcAft>
                <a:spcPts val="0"/>
              </a:spcAft>
              <a:buNone/>
            </a:pPr>
            <a:r>
              <a:rPr b="1" lang="en-US">
                <a:solidFill>
                  <a:schemeClr val="lt1"/>
                </a:solidFill>
              </a:rPr>
              <a:t>How It Works</a:t>
            </a:r>
            <a:endParaRPr b="1">
              <a:solidFill>
                <a:schemeClr val="lt1"/>
              </a:solidFill>
            </a:endParaRPr>
          </a:p>
          <a:p>
            <a:pPr indent="0" lvl="0" marL="0" rtl="0" algn="l">
              <a:lnSpc>
                <a:spcPct val="140000"/>
              </a:lnSpc>
              <a:spcBef>
                <a:spcPts val="1500"/>
              </a:spcBef>
              <a:spcAft>
                <a:spcPts val="0"/>
              </a:spcAft>
              <a:buNone/>
            </a:pPr>
            <a:r>
              <a:rPr lang="en-US">
                <a:solidFill>
                  <a:schemeClr val="lt1"/>
                </a:solidFill>
              </a:rPr>
              <a:t>When you send a request with caching enabled, the system checks if the prompt prefix up to the cache breakpoint is already cached. If found, it uses the cached version. Otherwise, it processes the full prompt and caches the prefix once the response begins. By default, the cache has a 5-minute lifetime, and it's refreshed at no additional cost each time the cached content is used. A 1-hour cache duration is also available at additional cost.</a:t>
            </a:r>
            <a:endParaRPr>
              <a:solidFill>
                <a:schemeClr val="lt1"/>
              </a:solidFill>
            </a:endParaRPr>
          </a:p>
          <a:p>
            <a:pPr indent="0" lvl="0" marL="0" rtl="0" algn="l">
              <a:lnSpc>
                <a:spcPct val="140000"/>
              </a:lnSpc>
              <a:spcBef>
                <a:spcPts val="1500"/>
              </a:spcBef>
              <a:spcAft>
                <a:spcPts val="0"/>
              </a:spcAft>
              <a:buNone/>
            </a:pPr>
            <a:r>
              <a:t/>
            </a:r>
            <a:endParaRPr b="1">
              <a:solidFill>
                <a:schemeClr val="lt1"/>
              </a:solidFill>
            </a:endParaRPr>
          </a:p>
          <a:p>
            <a:pPr indent="0" lvl="0" marL="0" rtl="0" algn="l">
              <a:lnSpc>
                <a:spcPct val="140000"/>
              </a:lnSpc>
              <a:spcBef>
                <a:spcPts val="1500"/>
              </a:spcBef>
              <a:spcAft>
                <a:spcPts val="1500"/>
              </a:spcAft>
              <a:buNone/>
            </a:pPr>
            <a:r>
              <a:t/>
            </a:r>
            <a:endParaRPr b="1">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445" name="Shape 445"/>
        <p:cNvGrpSpPr/>
        <p:nvPr/>
      </p:nvGrpSpPr>
      <p:grpSpPr>
        <a:xfrm>
          <a:off x="0" y="0"/>
          <a:ext cx="0" cy="0"/>
          <a:chOff x="0" y="0"/>
          <a:chExt cx="0" cy="0"/>
        </a:xfrm>
      </p:grpSpPr>
      <p:sp>
        <p:nvSpPr>
          <p:cNvPr id="446" name="Google Shape;446;g3e47b6fd3c3_0_344"/>
          <p:cNvSpPr/>
          <p:nvPr/>
        </p:nvSpPr>
        <p:spPr>
          <a:xfrm>
            <a:off x="449225" y="250260"/>
            <a:ext cx="8229600" cy="59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2800"/>
              <a:buFont typeface="Calibri"/>
              <a:buNone/>
            </a:pPr>
            <a:r>
              <a:rPr b="1" lang="en-US" sz="2800">
                <a:solidFill>
                  <a:schemeClr val="lt1"/>
                </a:solidFill>
                <a:latin typeface="Calibri"/>
                <a:ea typeface="Calibri"/>
                <a:cs typeface="Calibri"/>
                <a:sym typeface="Calibri"/>
              </a:rPr>
              <a:t>Two Ways to Enable It</a:t>
            </a:r>
            <a:endParaRPr b="0" i="0" sz="2800" u="none" cap="none" strike="noStrike">
              <a:solidFill>
                <a:schemeClr val="dk1"/>
              </a:solidFill>
              <a:latin typeface="Calibri"/>
              <a:ea typeface="Calibri"/>
              <a:cs typeface="Calibri"/>
              <a:sym typeface="Calibri"/>
            </a:endParaRPr>
          </a:p>
        </p:txBody>
      </p:sp>
      <p:sp>
        <p:nvSpPr>
          <p:cNvPr id="447" name="Google Shape;447;g3e47b6fd3c3_0_344"/>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448" name="Google Shape;448;g3e47b6fd3c3_0_344"/>
          <p:cNvSpPr/>
          <p:nvPr/>
        </p:nvSpPr>
        <p:spPr>
          <a:xfrm>
            <a:off x="217325" y="950825"/>
            <a:ext cx="8149800" cy="39390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rPr lang="en-US">
                <a:solidFill>
                  <a:schemeClr val="lt1"/>
                </a:solidFill>
              </a:rPr>
              <a:t>1. Automatic Caching (Simplest)</a:t>
            </a:r>
            <a:endParaRPr>
              <a:solidFill>
                <a:schemeClr val="lt1"/>
              </a:solidFill>
            </a:endParaRPr>
          </a:p>
          <a:p>
            <a:pPr indent="0" lvl="0" marL="0" rtl="0" algn="l">
              <a:lnSpc>
                <a:spcPct val="140000"/>
              </a:lnSpc>
              <a:spcBef>
                <a:spcPts val="1500"/>
              </a:spcBef>
              <a:spcAft>
                <a:spcPts val="0"/>
              </a:spcAft>
              <a:buNone/>
            </a:pPr>
            <a:r>
              <a:rPr lang="en-US">
                <a:solidFill>
                  <a:schemeClr val="lt1"/>
                </a:solidFill>
              </a:rPr>
              <a:t>Add a single cache_control field at the top level of your request. The system automatically applies the cache breakpoint and moves it forward as conversations grow. This is ideal for multi-turn chats.</a:t>
            </a:r>
            <a:endParaRPr>
              <a:solidFill>
                <a:schemeClr val="lt1"/>
              </a:solidFill>
            </a:endParaRPr>
          </a:p>
          <a:p>
            <a:pPr indent="-317500" lvl="0" marL="457200" rtl="0" algn="l">
              <a:lnSpc>
                <a:spcPct val="140000"/>
              </a:lnSpc>
              <a:spcBef>
                <a:spcPts val="1500"/>
              </a:spcBef>
              <a:spcAft>
                <a:spcPts val="0"/>
              </a:spcAft>
              <a:buClr>
                <a:schemeClr val="lt1"/>
              </a:buClr>
              <a:buSzPts val="1400"/>
              <a:buChar char="●"/>
            </a:pPr>
            <a:r>
              <a:rPr lang="en-US">
                <a:solidFill>
                  <a:schemeClr val="lt1"/>
                </a:solidFill>
              </a:rPr>
              <a:t>pythonresponse = client.messages.create(</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    model="claude-sonnet-4-6",</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    max_tokens=1024,</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    cache_control={"type": "ephemeral"},  # ← top-level, automatic</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    system="You are an AI assistant...",</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    messages=[{"role": "user", "content": "Your question here"}]</a:t>
            </a:r>
            <a:endParaRPr>
              <a:solidFill>
                <a:schemeClr val="lt1"/>
              </a:solidFill>
            </a:endParaRPr>
          </a:p>
          <a:p>
            <a:pPr indent="-317500" lvl="0" marL="457200" rtl="0" algn="l">
              <a:lnSpc>
                <a:spcPct val="140000"/>
              </a:lnSpc>
              <a:spcBef>
                <a:spcPts val="0"/>
              </a:spcBef>
              <a:spcAft>
                <a:spcPts val="0"/>
              </a:spcAft>
              <a:buClr>
                <a:schemeClr val="lt1"/>
              </a:buClr>
              <a:buSzPts val="1400"/>
              <a:buChar char="●"/>
            </a:pPr>
            <a:r>
              <a:rPr lang="en-US">
                <a:solidFill>
                  <a:schemeClr val="lt1"/>
                </a:solidFill>
              </a:rPr>
              <a:t>)</a:t>
            </a:r>
            <a:endParaRPr>
              <a:solidFill>
                <a:schemeClr val="l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453" name="Shape 453"/>
        <p:cNvGrpSpPr/>
        <p:nvPr/>
      </p:nvGrpSpPr>
      <p:grpSpPr>
        <a:xfrm>
          <a:off x="0" y="0"/>
          <a:ext cx="0" cy="0"/>
          <a:chOff x="0" y="0"/>
          <a:chExt cx="0" cy="0"/>
        </a:xfrm>
      </p:grpSpPr>
      <p:sp>
        <p:nvSpPr>
          <p:cNvPr id="454" name="Google Shape;454;g3e47b6fd3c3_0_351"/>
          <p:cNvSpPr/>
          <p:nvPr/>
        </p:nvSpPr>
        <p:spPr>
          <a:xfrm>
            <a:off x="349625" y="78202"/>
            <a:ext cx="8229600" cy="4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2800"/>
              <a:buFont typeface="Calibri"/>
              <a:buNone/>
            </a:pPr>
            <a:r>
              <a:rPr b="1" lang="en-US" sz="2800">
                <a:solidFill>
                  <a:schemeClr val="lt1"/>
                </a:solidFill>
                <a:latin typeface="Calibri"/>
                <a:ea typeface="Calibri"/>
                <a:cs typeface="Calibri"/>
                <a:sym typeface="Calibri"/>
              </a:rPr>
              <a:t>Two Ways to Enable It</a:t>
            </a:r>
            <a:endParaRPr b="1" sz="2800">
              <a:solidFill>
                <a:schemeClr val="lt1"/>
              </a:solidFill>
              <a:latin typeface="Calibri"/>
              <a:ea typeface="Calibri"/>
              <a:cs typeface="Calibri"/>
              <a:sym typeface="Calibri"/>
            </a:endParaRPr>
          </a:p>
        </p:txBody>
      </p:sp>
      <p:sp>
        <p:nvSpPr>
          <p:cNvPr id="455" name="Google Shape;455;g3e47b6fd3c3_0_351"/>
          <p:cNvSpPr/>
          <p:nvPr/>
        </p:nvSpPr>
        <p:spPr>
          <a:xfrm>
            <a:off x="8046720" y="4800600"/>
            <a:ext cx="914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3 / 12</a:t>
            </a:r>
            <a:endParaRPr b="0" i="0" sz="900" u="none" cap="none" strike="noStrike">
              <a:solidFill>
                <a:schemeClr val="dk1"/>
              </a:solidFill>
              <a:latin typeface="Calibri"/>
              <a:ea typeface="Calibri"/>
              <a:cs typeface="Calibri"/>
              <a:sym typeface="Calibri"/>
            </a:endParaRPr>
          </a:p>
        </p:txBody>
      </p:sp>
      <p:sp>
        <p:nvSpPr>
          <p:cNvPr id="456" name="Google Shape;456;g3e47b6fd3c3_0_351"/>
          <p:cNvSpPr/>
          <p:nvPr/>
        </p:nvSpPr>
        <p:spPr>
          <a:xfrm>
            <a:off x="217325" y="606725"/>
            <a:ext cx="8743800" cy="4464300"/>
          </a:xfrm>
          <a:prstGeom prst="rect">
            <a:avLst/>
          </a:prstGeom>
          <a:solidFill>
            <a:srgbClr val="243050"/>
          </a:solidFill>
          <a:ln cap="flat" cmpd="sng" w="12700">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a:solidFill>
                  <a:schemeClr val="lt1"/>
                </a:solidFill>
              </a:rPr>
              <a:t>2. Explicit Cache Breakpoints (Fine-grained control)</a:t>
            </a:r>
            <a:endParaRPr>
              <a:solidFill>
                <a:schemeClr val="lt1"/>
              </a:solidFill>
            </a:endParaRPr>
          </a:p>
          <a:p>
            <a:pPr indent="0" lvl="0" marL="0" rtl="0" algn="l">
              <a:lnSpc>
                <a:spcPct val="115000"/>
              </a:lnSpc>
              <a:spcBef>
                <a:spcPts val="0"/>
              </a:spcBef>
              <a:spcAft>
                <a:spcPts val="0"/>
              </a:spcAft>
              <a:buNone/>
            </a:pPr>
            <a:r>
              <a:rPr lang="en-US" sz="1300">
                <a:solidFill>
                  <a:schemeClr val="lt1"/>
                </a:solidFill>
              </a:rPr>
              <a:t>Place cache_control directly on individual content blocks to control exactly what gets cached. Everything before the tagged block gets cached; everything after stays dynamic.</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response = client.messages.create(</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model="claude-sonnet-4-6",</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max_tokens=1024,</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system=[</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"type": "text",</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"text": "You are an AI assistant analyzing literary works."</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"type": "text",</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"text": "&lt;entire contents of a long document&gt;",</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"cache_control": {"type": "ephemeral"}  # ← cache breakpoint here</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    messages=[{"role": "user", "content": "Analyze the themes."}]</a:t>
            </a:r>
            <a:endParaRPr sz="1300">
              <a:solidFill>
                <a:schemeClr val="lt1"/>
              </a:solidFill>
            </a:endParaRPr>
          </a:p>
          <a:p>
            <a:pPr indent="0" lvl="0" marL="457200" rtl="0" algn="l">
              <a:lnSpc>
                <a:spcPct val="115000"/>
              </a:lnSpc>
              <a:spcBef>
                <a:spcPts val="0"/>
              </a:spcBef>
              <a:spcAft>
                <a:spcPts val="0"/>
              </a:spcAft>
              <a:buNone/>
            </a:pPr>
            <a:r>
              <a:rPr lang="en-US" sz="1300">
                <a:solidFill>
                  <a:schemeClr val="lt1"/>
                </a:solidFill>
              </a:rPr>
              <a:t>)</a:t>
            </a:r>
            <a:endParaRPr sz="1300">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9"/>
        </a:solidFill>
      </p:bgPr>
    </p:bg>
    <p:spTree>
      <p:nvGrpSpPr>
        <p:cNvPr id="461" name="Shape 461"/>
        <p:cNvGrpSpPr/>
        <p:nvPr/>
      </p:nvGrpSpPr>
      <p:grpSpPr>
        <a:xfrm>
          <a:off x="0" y="0"/>
          <a:ext cx="0" cy="0"/>
          <a:chOff x="0" y="0"/>
          <a:chExt cx="0" cy="0"/>
        </a:xfrm>
      </p:grpSpPr>
      <p:sp>
        <p:nvSpPr>
          <p:cNvPr id="462" name="Google Shape;462;p11"/>
          <p:cNvSpPr/>
          <p:nvPr/>
        </p:nvSpPr>
        <p:spPr>
          <a:xfrm>
            <a:off x="457200" y="5943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Top 5 Pitfalls — Recognise &amp; Fix</a:t>
            </a:r>
            <a:endParaRPr b="0" i="0" sz="2800" u="none" cap="none" strike="noStrike">
              <a:solidFill>
                <a:schemeClr val="dk1"/>
              </a:solidFill>
              <a:latin typeface="Calibri"/>
              <a:ea typeface="Calibri"/>
              <a:cs typeface="Calibri"/>
              <a:sym typeface="Calibri"/>
            </a:endParaRPr>
          </a:p>
        </p:txBody>
      </p:sp>
      <p:sp>
        <p:nvSpPr>
          <p:cNvPr id="463" name="Google Shape;463;p11"/>
          <p:cNvSpPr/>
          <p:nvPr/>
        </p:nvSpPr>
        <p:spPr>
          <a:xfrm>
            <a:off x="457200" y="118872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8"/>
              </a:buClr>
              <a:buSzPts val="1300"/>
              <a:buFont typeface="Calibri"/>
              <a:buNone/>
            </a:pPr>
            <a:r>
              <a:rPr b="0" i="0" lang="en-US" sz="1300" u="none" cap="none" strike="noStrike">
                <a:solidFill>
                  <a:srgbClr val="8FA3C8"/>
                </a:solidFill>
                <a:latin typeface="Calibri"/>
                <a:ea typeface="Calibri"/>
                <a:cs typeface="Calibri"/>
                <a:sym typeface="Calibri"/>
              </a:rPr>
              <a:t>Common failure patterns the exam tests</a:t>
            </a:r>
            <a:endParaRPr b="0" i="0" sz="1300" u="none" cap="none" strike="noStrike">
              <a:solidFill>
                <a:schemeClr val="dk1"/>
              </a:solidFill>
              <a:latin typeface="Calibri"/>
              <a:ea typeface="Calibri"/>
              <a:cs typeface="Calibri"/>
              <a:sym typeface="Calibri"/>
            </a:endParaRPr>
          </a:p>
        </p:txBody>
      </p:sp>
      <p:sp>
        <p:nvSpPr>
          <p:cNvPr id="464" name="Google Shape;464;p11"/>
          <p:cNvSpPr/>
          <p:nvPr/>
        </p:nvSpPr>
        <p:spPr>
          <a:xfrm>
            <a:off x="8046720" y="4800600"/>
            <a:ext cx="9144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E80"/>
              </a:buClr>
              <a:buSzPts val="900"/>
              <a:buFont typeface="Calibri"/>
              <a:buNone/>
            </a:pPr>
            <a:r>
              <a:rPr b="0" i="0" lang="en-US" sz="900" u="none" cap="none" strike="noStrike">
                <a:solidFill>
                  <a:srgbClr val="4A5E80"/>
                </a:solidFill>
                <a:latin typeface="Calibri"/>
                <a:ea typeface="Calibri"/>
                <a:cs typeface="Calibri"/>
                <a:sym typeface="Calibri"/>
              </a:rPr>
              <a:t>11 / 12</a:t>
            </a:r>
            <a:endParaRPr b="0" i="0" sz="900" u="none" cap="none" strike="noStrike">
              <a:solidFill>
                <a:schemeClr val="dk1"/>
              </a:solidFill>
              <a:latin typeface="Calibri"/>
              <a:ea typeface="Calibri"/>
              <a:cs typeface="Calibri"/>
              <a:sym typeface="Calibri"/>
            </a:endParaRPr>
          </a:p>
        </p:txBody>
      </p:sp>
      <p:sp>
        <p:nvSpPr>
          <p:cNvPr id="465" name="Google Shape;465;p11"/>
          <p:cNvSpPr/>
          <p:nvPr/>
        </p:nvSpPr>
        <p:spPr>
          <a:xfrm>
            <a:off x="457200" y="1600200"/>
            <a:ext cx="8229600" cy="566928"/>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457200" y="1600200"/>
            <a:ext cx="54864" cy="566928"/>
          </a:xfrm>
          <a:prstGeom prst="rect">
            <a:avLst/>
          </a:prstGeom>
          <a:solidFill>
            <a:srgbClr val="D85A30"/>
          </a:solidFill>
          <a:ln cap="flat" cmpd="sng" w="12700">
            <a:solidFill>
              <a:srgbClr val="D85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621792" y="1645920"/>
            <a:ext cx="45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400"/>
              <a:buFont typeface="Calibri"/>
              <a:buNone/>
            </a:pPr>
            <a:r>
              <a:rPr b="1" i="0" lang="en-US" sz="1400" u="none" cap="none" strike="noStrike">
                <a:solidFill>
                  <a:srgbClr val="D85A30"/>
                </a:solidFill>
                <a:latin typeface="Calibri"/>
                <a:ea typeface="Calibri"/>
                <a:cs typeface="Calibri"/>
                <a:sym typeface="Calibri"/>
              </a:rPr>
              <a:t>01</a:t>
            </a:r>
            <a:endParaRPr b="0" i="0" sz="1400" u="none" cap="none" strike="noStrike">
              <a:solidFill>
                <a:schemeClr val="dk1"/>
              </a:solidFill>
              <a:latin typeface="Calibri"/>
              <a:ea typeface="Calibri"/>
              <a:cs typeface="Calibri"/>
              <a:sym typeface="Calibri"/>
            </a:endParaRPr>
          </a:p>
        </p:txBody>
      </p:sp>
      <p:sp>
        <p:nvSpPr>
          <p:cNvPr id="468" name="Google Shape;468;p11"/>
          <p:cNvSpPr/>
          <p:nvPr/>
        </p:nvSpPr>
        <p:spPr>
          <a:xfrm>
            <a:off x="1143000" y="164592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Vague instructions without examples</a:t>
            </a:r>
            <a:endParaRPr b="0" i="0" sz="1100" u="none" cap="none" strike="noStrike">
              <a:solidFill>
                <a:schemeClr val="dk1"/>
              </a:solidFill>
              <a:latin typeface="Calibri"/>
              <a:ea typeface="Calibri"/>
              <a:cs typeface="Calibri"/>
              <a:sym typeface="Calibri"/>
            </a:endParaRPr>
          </a:p>
        </p:txBody>
      </p:sp>
      <p:sp>
        <p:nvSpPr>
          <p:cNvPr id="469" name="Google Shape;469;p11"/>
          <p:cNvSpPr/>
          <p:nvPr/>
        </p:nvSpPr>
        <p:spPr>
          <a:xfrm>
            <a:off x="1143000" y="1901952"/>
            <a:ext cx="7406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950"/>
              <a:buFont typeface="Calibri"/>
              <a:buNone/>
            </a:pPr>
            <a:r>
              <a:rPr b="1" i="0" lang="en-US" sz="950" u="none" cap="none" strike="noStrike">
                <a:solidFill>
                  <a:srgbClr val="5DCAA5"/>
                </a:solidFill>
                <a:latin typeface="Calibri"/>
                <a:ea typeface="Calibri"/>
                <a:cs typeface="Calibri"/>
                <a:sym typeface="Calibri"/>
              </a:rPr>
              <a:t>FIX: </a:t>
            </a:r>
            <a:r>
              <a:rPr b="0" i="0" lang="en-US" sz="950" u="none" cap="none" strike="noStrike">
                <a:solidFill>
                  <a:srgbClr val="8FA3C8"/>
                </a:solidFill>
                <a:latin typeface="Calibri"/>
                <a:ea typeface="Calibri"/>
                <a:cs typeface="Calibri"/>
                <a:sym typeface="Calibri"/>
              </a:rPr>
              <a:t>Replace every description with a concrete few-shot example showing the exact expected output.</a:t>
            </a:r>
            <a:endParaRPr b="0" i="0" sz="950" u="none" cap="none" strike="noStrike">
              <a:solidFill>
                <a:schemeClr val="dk1"/>
              </a:solidFill>
              <a:latin typeface="Calibri"/>
              <a:ea typeface="Calibri"/>
              <a:cs typeface="Calibri"/>
              <a:sym typeface="Calibri"/>
            </a:endParaRPr>
          </a:p>
        </p:txBody>
      </p:sp>
      <p:sp>
        <p:nvSpPr>
          <p:cNvPr id="470" name="Google Shape;470;p11"/>
          <p:cNvSpPr/>
          <p:nvPr/>
        </p:nvSpPr>
        <p:spPr>
          <a:xfrm>
            <a:off x="457200" y="2258568"/>
            <a:ext cx="8229600" cy="566928"/>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1"/>
          <p:cNvSpPr/>
          <p:nvPr/>
        </p:nvSpPr>
        <p:spPr>
          <a:xfrm>
            <a:off x="457200" y="2258568"/>
            <a:ext cx="54864" cy="566928"/>
          </a:xfrm>
          <a:prstGeom prst="rect">
            <a:avLst/>
          </a:prstGeom>
          <a:solidFill>
            <a:srgbClr val="D85A30"/>
          </a:solidFill>
          <a:ln cap="flat" cmpd="sng" w="12700">
            <a:solidFill>
              <a:srgbClr val="D85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1"/>
          <p:cNvSpPr/>
          <p:nvPr/>
        </p:nvSpPr>
        <p:spPr>
          <a:xfrm>
            <a:off x="621792" y="2304288"/>
            <a:ext cx="45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400"/>
              <a:buFont typeface="Calibri"/>
              <a:buNone/>
            </a:pPr>
            <a:r>
              <a:rPr b="1" i="0" lang="en-US" sz="1400" u="none" cap="none" strike="noStrike">
                <a:solidFill>
                  <a:srgbClr val="D85A30"/>
                </a:solidFill>
                <a:latin typeface="Calibri"/>
                <a:ea typeface="Calibri"/>
                <a:cs typeface="Calibri"/>
                <a:sym typeface="Calibri"/>
              </a:rPr>
              <a:t>02</a:t>
            </a:r>
            <a:endParaRPr b="0" i="0" sz="1400" u="none" cap="none" strike="noStrike">
              <a:solidFill>
                <a:schemeClr val="dk1"/>
              </a:solidFill>
              <a:latin typeface="Calibri"/>
              <a:ea typeface="Calibri"/>
              <a:cs typeface="Calibri"/>
              <a:sym typeface="Calibri"/>
            </a:endParaRPr>
          </a:p>
        </p:txBody>
      </p:sp>
      <p:sp>
        <p:nvSpPr>
          <p:cNvPr id="473" name="Google Shape;473;p11"/>
          <p:cNvSpPr/>
          <p:nvPr/>
        </p:nvSpPr>
        <p:spPr>
          <a:xfrm>
            <a:off x="1143000" y="2304288"/>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Negative rules without positive alternatives</a:t>
            </a:r>
            <a:endParaRPr b="0" i="0" sz="1100" u="none" cap="none" strike="noStrike">
              <a:solidFill>
                <a:schemeClr val="dk1"/>
              </a:solidFill>
              <a:latin typeface="Calibri"/>
              <a:ea typeface="Calibri"/>
              <a:cs typeface="Calibri"/>
              <a:sym typeface="Calibri"/>
            </a:endParaRPr>
          </a:p>
        </p:txBody>
      </p:sp>
      <p:sp>
        <p:nvSpPr>
          <p:cNvPr id="474" name="Google Shape;474;p11"/>
          <p:cNvSpPr/>
          <p:nvPr/>
        </p:nvSpPr>
        <p:spPr>
          <a:xfrm>
            <a:off x="1143000" y="2560320"/>
            <a:ext cx="7406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950"/>
              <a:buFont typeface="Calibri"/>
              <a:buNone/>
            </a:pPr>
            <a:r>
              <a:rPr b="1" i="0" lang="en-US" sz="950" u="none" cap="none" strike="noStrike">
                <a:solidFill>
                  <a:srgbClr val="5DCAA5"/>
                </a:solidFill>
                <a:latin typeface="Calibri"/>
                <a:ea typeface="Calibri"/>
                <a:cs typeface="Calibri"/>
                <a:sym typeface="Calibri"/>
              </a:rPr>
              <a:t>FIX: </a:t>
            </a:r>
            <a:r>
              <a:rPr b="0" i="0" lang="en-US" sz="950" u="none" cap="none" strike="noStrike">
                <a:solidFill>
                  <a:srgbClr val="8FA3C8"/>
                </a:solidFill>
                <a:latin typeface="Calibri"/>
                <a:ea typeface="Calibri"/>
                <a:cs typeface="Calibri"/>
                <a:sym typeface="Calibri"/>
              </a:rPr>
              <a:t>For every 'don't do X' write 'instead, do Y'. Negative rules create ambiguity.</a:t>
            </a:r>
            <a:endParaRPr b="0" i="0" sz="950" u="none" cap="none" strike="noStrike">
              <a:solidFill>
                <a:schemeClr val="dk1"/>
              </a:solidFill>
              <a:latin typeface="Calibri"/>
              <a:ea typeface="Calibri"/>
              <a:cs typeface="Calibri"/>
              <a:sym typeface="Calibri"/>
            </a:endParaRPr>
          </a:p>
        </p:txBody>
      </p:sp>
      <p:sp>
        <p:nvSpPr>
          <p:cNvPr id="475" name="Google Shape;475;p11"/>
          <p:cNvSpPr/>
          <p:nvPr/>
        </p:nvSpPr>
        <p:spPr>
          <a:xfrm>
            <a:off x="457200" y="2916936"/>
            <a:ext cx="8229600" cy="566928"/>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457200" y="2916936"/>
            <a:ext cx="54864" cy="566928"/>
          </a:xfrm>
          <a:prstGeom prst="rect">
            <a:avLst/>
          </a:prstGeom>
          <a:solidFill>
            <a:srgbClr val="D85A30"/>
          </a:solidFill>
          <a:ln cap="flat" cmpd="sng" w="12700">
            <a:solidFill>
              <a:srgbClr val="D85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a:off x="621792" y="2962656"/>
            <a:ext cx="45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400"/>
              <a:buFont typeface="Calibri"/>
              <a:buNone/>
            </a:pPr>
            <a:r>
              <a:rPr b="1" i="0" lang="en-US" sz="1400" u="none" cap="none" strike="noStrike">
                <a:solidFill>
                  <a:srgbClr val="D85A30"/>
                </a:solidFill>
                <a:latin typeface="Calibri"/>
                <a:ea typeface="Calibri"/>
                <a:cs typeface="Calibri"/>
                <a:sym typeface="Calibri"/>
              </a:rPr>
              <a:t>03</a:t>
            </a:r>
            <a:endParaRPr b="0" i="0" sz="1400" u="none" cap="none" strike="noStrike">
              <a:solidFill>
                <a:schemeClr val="dk1"/>
              </a:solidFill>
              <a:latin typeface="Calibri"/>
              <a:ea typeface="Calibri"/>
              <a:cs typeface="Calibri"/>
              <a:sym typeface="Calibri"/>
            </a:endParaRPr>
          </a:p>
        </p:txBody>
      </p:sp>
      <p:sp>
        <p:nvSpPr>
          <p:cNvPr id="478" name="Google Shape;478;p11"/>
          <p:cNvSpPr/>
          <p:nvPr/>
        </p:nvSpPr>
        <p:spPr>
          <a:xfrm>
            <a:off x="1143000" y="2962656"/>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Trusting a single API call for structured output</a:t>
            </a:r>
            <a:endParaRPr b="0" i="0" sz="1100" u="none" cap="none" strike="noStrike">
              <a:solidFill>
                <a:schemeClr val="dk1"/>
              </a:solidFill>
              <a:latin typeface="Calibri"/>
              <a:ea typeface="Calibri"/>
              <a:cs typeface="Calibri"/>
              <a:sym typeface="Calibri"/>
            </a:endParaRPr>
          </a:p>
        </p:txBody>
      </p:sp>
      <p:sp>
        <p:nvSpPr>
          <p:cNvPr id="479" name="Google Shape;479;p11"/>
          <p:cNvSpPr/>
          <p:nvPr/>
        </p:nvSpPr>
        <p:spPr>
          <a:xfrm>
            <a:off x="1143000" y="3218688"/>
            <a:ext cx="7406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950"/>
              <a:buFont typeface="Calibri"/>
              <a:buNone/>
            </a:pPr>
            <a:r>
              <a:rPr b="1" i="0" lang="en-US" sz="950" u="none" cap="none" strike="noStrike">
                <a:solidFill>
                  <a:srgbClr val="5DCAA5"/>
                </a:solidFill>
                <a:latin typeface="Calibri"/>
                <a:ea typeface="Calibri"/>
                <a:cs typeface="Calibri"/>
                <a:sym typeface="Calibri"/>
              </a:rPr>
              <a:t>FIX: </a:t>
            </a:r>
            <a:r>
              <a:rPr b="0" i="0" lang="en-US" sz="950" u="none" cap="none" strike="noStrike">
                <a:solidFill>
                  <a:srgbClr val="8FA3C8"/>
                </a:solidFill>
                <a:latin typeface="Calibri"/>
                <a:ea typeface="Calibri"/>
                <a:cs typeface="Calibri"/>
                <a:sym typeface="Calibri"/>
              </a:rPr>
              <a:t>Parse → validate every field → retry on failure (max 3×). A prompt is a request, not a guarantee.</a:t>
            </a:r>
            <a:endParaRPr b="0" i="0" sz="950" u="none" cap="none" strike="noStrike">
              <a:solidFill>
                <a:schemeClr val="dk1"/>
              </a:solidFill>
              <a:latin typeface="Calibri"/>
              <a:ea typeface="Calibri"/>
              <a:cs typeface="Calibri"/>
              <a:sym typeface="Calibri"/>
            </a:endParaRPr>
          </a:p>
        </p:txBody>
      </p:sp>
      <p:sp>
        <p:nvSpPr>
          <p:cNvPr id="480" name="Google Shape;480;p11"/>
          <p:cNvSpPr/>
          <p:nvPr/>
        </p:nvSpPr>
        <p:spPr>
          <a:xfrm>
            <a:off x="457200" y="3575304"/>
            <a:ext cx="8229600" cy="566928"/>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1"/>
          <p:cNvSpPr/>
          <p:nvPr/>
        </p:nvSpPr>
        <p:spPr>
          <a:xfrm>
            <a:off x="457200" y="3575304"/>
            <a:ext cx="54864" cy="566928"/>
          </a:xfrm>
          <a:prstGeom prst="rect">
            <a:avLst/>
          </a:prstGeom>
          <a:solidFill>
            <a:srgbClr val="D85A30"/>
          </a:solidFill>
          <a:ln cap="flat" cmpd="sng" w="12700">
            <a:solidFill>
              <a:srgbClr val="D85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621792" y="3621024"/>
            <a:ext cx="45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400"/>
              <a:buFont typeface="Calibri"/>
              <a:buNone/>
            </a:pPr>
            <a:r>
              <a:rPr b="1" i="0" lang="en-US" sz="1400" u="none" cap="none" strike="noStrike">
                <a:solidFill>
                  <a:srgbClr val="D85A30"/>
                </a:solidFill>
                <a:latin typeface="Calibri"/>
                <a:ea typeface="Calibri"/>
                <a:cs typeface="Calibri"/>
                <a:sym typeface="Calibri"/>
              </a:rPr>
              <a:t>04</a:t>
            </a:r>
            <a:endParaRPr b="0" i="0" sz="1400" u="none" cap="none" strike="noStrike">
              <a:solidFill>
                <a:schemeClr val="dk1"/>
              </a:solidFill>
              <a:latin typeface="Calibri"/>
              <a:ea typeface="Calibri"/>
              <a:cs typeface="Calibri"/>
              <a:sym typeface="Calibri"/>
            </a:endParaRPr>
          </a:p>
        </p:txBody>
      </p:sp>
      <p:sp>
        <p:nvSpPr>
          <p:cNvPr id="483" name="Google Shape;483;p11"/>
          <p:cNvSpPr/>
          <p:nvPr/>
        </p:nvSpPr>
        <p:spPr>
          <a:xfrm>
            <a:off x="1143000" y="3621024"/>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No edge-case testing before launch</a:t>
            </a:r>
            <a:endParaRPr b="0" i="0" sz="1100" u="none" cap="none" strike="noStrike">
              <a:solidFill>
                <a:schemeClr val="dk1"/>
              </a:solidFill>
              <a:latin typeface="Calibri"/>
              <a:ea typeface="Calibri"/>
              <a:cs typeface="Calibri"/>
              <a:sym typeface="Calibri"/>
            </a:endParaRPr>
          </a:p>
        </p:txBody>
      </p:sp>
      <p:sp>
        <p:nvSpPr>
          <p:cNvPr id="484" name="Google Shape;484;p11"/>
          <p:cNvSpPr/>
          <p:nvPr/>
        </p:nvSpPr>
        <p:spPr>
          <a:xfrm>
            <a:off x="1143000" y="3877056"/>
            <a:ext cx="7406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950"/>
              <a:buFont typeface="Calibri"/>
              <a:buNone/>
            </a:pPr>
            <a:r>
              <a:rPr b="1" i="0" lang="en-US" sz="950" u="none" cap="none" strike="noStrike">
                <a:solidFill>
                  <a:srgbClr val="5DCAA5"/>
                </a:solidFill>
                <a:latin typeface="Calibri"/>
                <a:ea typeface="Calibri"/>
                <a:cs typeface="Calibri"/>
                <a:sym typeface="Calibri"/>
              </a:rPr>
              <a:t>FIX: </a:t>
            </a:r>
            <a:r>
              <a:rPr b="0" i="0" lang="en-US" sz="950" u="none" cap="none" strike="noStrike">
                <a:solidFill>
                  <a:srgbClr val="8FA3C8"/>
                </a:solidFill>
                <a:latin typeface="Calibri"/>
                <a:ea typeface="Calibri"/>
                <a:cs typeface="Calibri"/>
                <a:sym typeface="Calibri"/>
              </a:rPr>
              <a:t>Build a 10-case test suite: empty input, all-caps rage, multi-intent, injection, non-English, emoji-only.</a:t>
            </a:r>
            <a:endParaRPr b="0" i="0" sz="950" u="none" cap="none" strike="noStrike">
              <a:solidFill>
                <a:schemeClr val="dk1"/>
              </a:solidFill>
              <a:latin typeface="Calibri"/>
              <a:ea typeface="Calibri"/>
              <a:cs typeface="Calibri"/>
              <a:sym typeface="Calibri"/>
            </a:endParaRPr>
          </a:p>
        </p:txBody>
      </p:sp>
      <p:sp>
        <p:nvSpPr>
          <p:cNvPr id="485" name="Google Shape;485;p11"/>
          <p:cNvSpPr/>
          <p:nvPr/>
        </p:nvSpPr>
        <p:spPr>
          <a:xfrm>
            <a:off x="457200" y="4233672"/>
            <a:ext cx="8229600" cy="566928"/>
          </a:xfrm>
          <a:prstGeom prst="rect">
            <a:avLst/>
          </a:prstGeom>
          <a:solidFill>
            <a:srgbClr val="1C2D4A"/>
          </a:solidFill>
          <a:ln cap="flat" cmpd="sng" w="9525">
            <a:solidFill>
              <a:srgbClr val="2E4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1"/>
          <p:cNvSpPr/>
          <p:nvPr/>
        </p:nvSpPr>
        <p:spPr>
          <a:xfrm>
            <a:off x="457200" y="4233672"/>
            <a:ext cx="54864" cy="566928"/>
          </a:xfrm>
          <a:prstGeom prst="rect">
            <a:avLst/>
          </a:prstGeom>
          <a:solidFill>
            <a:srgbClr val="D85A30"/>
          </a:solidFill>
          <a:ln cap="flat" cmpd="sng" w="12700">
            <a:solidFill>
              <a:srgbClr val="D85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1"/>
          <p:cNvSpPr/>
          <p:nvPr/>
        </p:nvSpPr>
        <p:spPr>
          <a:xfrm>
            <a:off x="621792" y="4279392"/>
            <a:ext cx="45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5A30"/>
              </a:buClr>
              <a:buSzPts val="1400"/>
              <a:buFont typeface="Calibri"/>
              <a:buNone/>
            </a:pPr>
            <a:r>
              <a:rPr b="1" i="0" lang="en-US" sz="1400" u="none" cap="none" strike="noStrike">
                <a:solidFill>
                  <a:srgbClr val="D85A30"/>
                </a:solidFill>
                <a:latin typeface="Calibri"/>
                <a:ea typeface="Calibri"/>
                <a:cs typeface="Calibri"/>
                <a:sym typeface="Calibri"/>
              </a:rPr>
              <a:t>05</a:t>
            </a:r>
            <a:endParaRPr b="0" i="0" sz="1400" u="none" cap="none" strike="noStrike">
              <a:solidFill>
                <a:schemeClr val="dk1"/>
              </a:solidFill>
              <a:latin typeface="Calibri"/>
              <a:ea typeface="Calibri"/>
              <a:cs typeface="Calibri"/>
              <a:sym typeface="Calibri"/>
            </a:endParaRPr>
          </a:p>
        </p:txBody>
      </p:sp>
      <p:sp>
        <p:nvSpPr>
          <p:cNvPr id="488" name="Google Shape;488;p11"/>
          <p:cNvSpPr/>
          <p:nvPr/>
        </p:nvSpPr>
        <p:spPr>
          <a:xfrm>
            <a:off x="1143000" y="4279392"/>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Failing to cache static content</a:t>
            </a:r>
            <a:endParaRPr b="0" i="0" sz="1100" u="none" cap="none" strike="noStrike">
              <a:solidFill>
                <a:schemeClr val="dk1"/>
              </a:solidFill>
              <a:latin typeface="Calibri"/>
              <a:ea typeface="Calibri"/>
              <a:cs typeface="Calibri"/>
              <a:sym typeface="Calibri"/>
            </a:endParaRPr>
          </a:p>
        </p:txBody>
      </p:sp>
      <p:sp>
        <p:nvSpPr>
          <p:cNvPr id="489" name="Google Shape;489;p11"/>
          <p:cNvSpPr/>
          <p:nvPr/>
        </p:nvSpPr>
        <p:spPr>
          <a:xfrm>
            <a:off x="1143000" y="4535424"/>
            <a:ext cx="7406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CAA5"/>
              </a:buClr>
              <a:buSzPts val="950"/>
              <a:buFont typeface="Calibri"/>
              <a:buNone/>
            </a:pPr>
            <a:r>
              <a:rPr b="1" i="0" lang="en-US" sz="950" u="none" cap="none" strike="noStrike">
                <a:solidFill>
                  <a:srgbClr val="5DCAA5"/>
                </a:solidFill>
                <a:latin typeface="Calibri"/>
                <a:ea typeface="Calibri"/>
                <a:cs typeface="Calibri"/>
                <a:sym typeface="Calibri"/>
              </a:rPr>
              <a:t>FIX: </a:t>
            </a:r>
            <a:r>
              <a:rPr b="0" i="0" lang="en-US" sz="950" u="none" cap="none" strike="noStrike">
                <a:solidFill>
                  <a:srgbClr val="8FA3C8"/>
                </a:solidFill>
                <a:latin typeface="Calibri"/>
                <a:ea typeface="Calibri"/>
                <a:cs typeface="Calibri"/>
                <a:sym typeface="Calibri"/>
              </a:rPr>
              <a:t>Any system prompt + examples over 1,024 tokens must use cache_control. Uncached = paying full price every call.</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2026-05-21T11:11:36Z</dcterms:created>
  <dc:creator>PptxGenJS</dc:creator>
</cp:coreProperties>
</file>