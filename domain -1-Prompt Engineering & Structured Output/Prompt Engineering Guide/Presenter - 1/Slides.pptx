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83080"/>
            <a:ext cx="54864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ARCHITECTURE QUALIFICATION — STUDENT EDITION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Engineering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dirty="0">
                <a:solidFill>
                  <a:srgbClr val="E8A3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Structured Output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know about getting reliable, useful output from Claude when you build with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self-study deck — read it in order, no presenter required.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GETTING ORIENTED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learn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deck you should be able to do three things, well enough to apply them on real projects.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225856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prompts that work the same way every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5877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sloppy or vague prompt and rewrite it so it produces consistent, predictable output — every call, not just once.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51560" y="303580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clean, machine-readable data from Claude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336499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Claude return JSON your code can parse directly. No try/catch around every parse, no broken responses in production.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38130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Debug a prompt that's misbehaving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414223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how to diagnose why a prompt is producing bad output, and which technique to reach for first.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GETTING ORIENTED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mental model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language model is just a function. Input goes in, output comes out.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is your prompt — whatever you write. The output is the model picking the next word, then the next, then the next, until it stops.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practice of writing the input in a way that makes the right output more likely.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magic word, no secret incantation. The model has probabilities over every possible response. Your job is to write a prompt that pushes the probabilities toward what you actually want.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GETTING ORIENTED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Evals — the measurement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technique in this deck is something you should be measuring. The way you measure is called an eval — short for evaluation.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585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54680" y="227685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10 to 50 example inputs and write down the output you'd want for each. Doesn't need to be perfect; just needs to exist.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7614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54680" y="277977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each input through your prompt. Save what Claude returned.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2644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328269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exact-match outputs (extraction, JSON, classification), grade with code. For fuzzy outputs (summaries, writing), use Claude itself as a judge with a rubric.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7673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154680" y="3785616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 in the prompt. Re-run the test set. See if pass rate went up or down. Keep what works.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this loop, you're just guessing whether your changes helped. With it, you have a real signal.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“Show your prompt to a colleague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no context on the task.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they would be confused,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8A3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will be too.”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Anthropic, Prompting Best Practices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just writing — clear, specific writing for a smart reader who wasn't in the room.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Be clear and direct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 out exactly what you want: the audience, the length, the structure, the tone. Every detail you add closes off a wrong path.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4023360" cy="5486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something about our Q3 results.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286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2560320"/>
            <a:ext cx="4023360" cy="18288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65176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a 200-word executive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 Q3 results for the board pre-read.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Audience: finance-savvy board members.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Structure: 1-line headline, two short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paragraphs (highlights, risks),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1-line forward look.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Tone: confident, not promotional.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leave details open, Claude guesses. Its guess will be the most generic, average version of the thing — probably not what you wanted.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41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Tell Claude why, not just what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reason behind your instruction lets Claude handle edge cases you didn't think to mention.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40280"/>
            <a:ext cx="54864" cy="2286000"/>
          </a:xfrm>
          <a:prstGeom prst="rect">
            <a:avLst/>
          </a:prstGeom>
          <a:solidFill>
            <a:srgbClr val="7A736A"/>
          </a:solidFill>
          <a:ln w="12700">
            <a:solidFill>
              <a:srgbClr val="7A7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“Format this as Markdown.”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every input — even a single-item list — gets bullet-pointed. Claude is following the literal rule.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24028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240280"/>
            <a:ext cx="54864" cy="228600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5000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context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69748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“Format this as Markdown — it will render in a Slack message.”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Claude can think about it. Single items become prose; lists become bullets. The “why” lets it adapt.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41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Show examples (few-shot prompting)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3 to 5 example input-output pairs before the real task. Examples teach the pattern better than any amount of instructions.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937760" cy="219456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286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&lt;examples&gt;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&lt;example&gt;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&lt;email&gt;I was charged twice for July.&lt;/email&gt;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&lt;route&gt;billing&lt;/route&gt;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&lt;/example&gt;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&lt;example&gt;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&lt;email&gt;The dashboard will not load.&lt;/email&gt;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&lt;route&gt;technical&lt;/route&gt;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&lt;/example&gt;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2-3 more diverse examples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&lt;/examples&gt;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21945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examples are: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4688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— like your real inputs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— cover edge cases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too — show what NOT to do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reasoning, not just answers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change one thing about how you write prompts, add examples. Even rough examples usually help.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41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Structure your prompt with XML tags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each part of your prompt in tags. This keeps the parts clearly separated so Claude knows where one section ends and the next begins.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937760" cy="21031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7744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&lt;instructions&gt;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Summarize the document inside &lt;input&gt;.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&lt;/instructions&gt;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&lt;context&gt;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Audience: board members, finance-savvy.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&lt;/context&gt;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&lt;input&gt;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...the document to summarize...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&lt;/input&gt;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0" y="2286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XML?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56032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tags hardly ever appear in Claude's normal output. So they're a very clean signal: "this is a section boundary, not content."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41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Give Claude a role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system prompt to tell Claude who to be. One sentence in the system prompt can totally change how Claude responds — way more effectively than three paragraphs of style instructions.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937760" cy="20116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6032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client.messages.create(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model="claude-opus-4-7",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system="You are a senior pediatric nurse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with 20 years of experience.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Answer with warmth and clinical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precision. When uncertain,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recommend in-person care.",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messages=[...],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2468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role gives you: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7432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— warm, clinical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— medical, plain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 — proper clinical caution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■"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expertise — pediatrics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41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Working with long documents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your prompt has lots of content (over about 20,000 tokens), the order matters. Three rules: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Documents at top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long content above the question. Anthropic reports up to 30% better quality on multi-document tasks when you do this.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19456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 each 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&lt;document&gt; tags around each piece, with sub-tags for source and content. Clear hierarchy beats one flat wall of text.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194560"/>
            <a:ext cx="269748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19456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331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0936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Quote, then answer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33756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to find the relevant passages from the documents and put them in &lt;quotes&gt; tags before writing the answer. This grounds the response and prevents made-up details.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41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Let Claude think before it answers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tasks that need real reasoning — math, multi-step logic, complex code — let Claude work it out step by step before giving the final answer. The thinking tokens are Claude's scratch paper.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newer Claude models (4.6 and 4.7), thinking happens automatically — you just set an 'effort' level: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8229600" cy="7772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06324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thinking={"type": "adaptive"},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output_config={"effort": "high"}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effort levels:  max | xhigh | high | medium | low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NOT to use it: simple lookups or basic classification. Thinking costs tokens and time, so save it for tasks that actually need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in production, ask Claude to reason inside &lt;thinking&gt; tags, then strip those tags before showing the user the response.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41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CORE TECHNIQUES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Stop Claude from making things up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hallucination is when Claude confidently says something that isn't actually true. It happens because Claude is trained to sound fluent — and fluent isn't always the same as right.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682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“I don't know”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236829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line: "If you don't have enough information to answer, say so." It works.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8254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first, answer second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82549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to extract verbatim quotes from your source before writing the answer.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826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citations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28269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claim point back to one of the quotes. "Where did you get this?" becomes auditable.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398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multiple times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373989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same prompt a few times. If the answers contradict, one of them was probably made up.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279392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197096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to your context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419709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use facts from the documents above; do not draw on outside knowledge."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41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OUTPUT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Claude what TO do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instructions sometimes backfire. It's the white-bear problem: if I tell you "don't think of a polar bear," you just thought of a polar bear. Same with Claude — naming what you don't want puts it in mind.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402336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use markdown.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023360" cy="8686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971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 in smoothly flowing prose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complete paragraphs.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describe what you DO want, directly. It works better.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41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OUTPUT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prompt style to output style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 is itself an example. Claude mirrors the form of what you give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94560"/>
            <a:ext cx="54864" cy="2286000"/>
          </a:xfrm>
          <a:prstGeom prst="rect">
            <a:avLst/>
          </a:prstGeom>
          <a:solidFill>
            <a:srgbClr val="7A736A"/>
          </a:solidFill>
          <a:ln w="12700">
            <a:solidFill>
              <a:srgbClr val="7A73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Bullet-heavy prompt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bullet points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 concise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things scannable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dense bullet lists. Even when prose would have been cleaner.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194560"/>
            <a:ext cx="54864" cy="228600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3042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Prose prompt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6517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flowing executive summary that reads like a memo to the board. Cover highlights and risks in clean paragraphs.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smooth prose that reads like a memo.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output isn't formatted right, before adding more instructions, try rewriting the prompt itself in the style you want.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41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OUTPUT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 the output structure you want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code is going to parse Claude's response, give the sections names. Then your code just grabs whatever's between two tags — much easier than trying to regex unpredictable natural language.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9144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9748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Place your reasoning inside &lt;reasoning&gt;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 and your final answer inside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&lt;answer&gt; tags.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your parser is a two-line regex against named tags — not a guessing game about whether Claude added a preamble or commentary.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41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OUTPUT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Temperature — controlling randomness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controls how predictable or how random Claude is when it picks its next word. Zero means always pick the most likely word. Higher means less-likely words have a real chance too.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6032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 – 0.3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/ predictable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29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classification, code, structured output. Anything where there's a right answer.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56032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56032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 – 0.7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3429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Q&amp;A, summarization. The default territory for most use cases.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256032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560320"/>
            <a:ext cx="26974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2697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6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 – 1.0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09360" y="31089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/ creative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42900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Brainstorming, creative writing, getting multiple different drafts.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3708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Heads-up: temperature 0 is NOT fully deterministic. GPU math has small variations. If you run the same prompt twice and get slightly different outputs, that's normal. Trust evals over single comparisons.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41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· OUTPUT CONTROL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streaming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sends Claude's words back to your code as they're generated, instead of waiting for the entire response. Total generation time is the same — but the user sees output starting almost immediately.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937760" cy="15544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060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client.messages.stream(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model="claude-opus-4-7",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max_tokens=1024,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messages=[{"role": "user", "content": "..."}],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stream: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text in stream.text_stream: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print(text, end="", flush=True)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5778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streaming for: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77840" y="27889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UIs and live writing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responses that would feel slow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a user is waiting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stream when: doing batch processing, using Structured Outputs (you need the final JSON), or anywhere your code processes the full text at once.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41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3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THE BIG 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Output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54864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get reliable, machine-readable data back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model that fundamentally generates text.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part most likely to be on the exam.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DIVE IN · QUICK REFRESHER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JSON?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is just a way to write data as plain text so a program can read it. Almost every app on the internet uses it to pass information around.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Here's a JSON object describing a person: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4023360" cy="15544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346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"Michael",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"age": 32,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"subscribed":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2743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it: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3440" y="30175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 wraps one object (one record)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"name" is a key (the label)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"Michael" is the value for that key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can be text, numbers, or true/false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we say "return JSON," we mean: don't write a paragraph back — write data in this shape so my code can read it directly.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41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DIVE IN · QUICK REFRESHER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schema?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schema is the rulebook for what a valid JSON object should look like. Think of a paper form: it tells you which boxes exist, which ones are required, and what kind of thing goes in each box.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JSON above is the filled-in form, this is the template that defines it: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16916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2608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"object",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"properties":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{"type": "string"},     </a:t>
            </a:r>
            <a:pPr indent="0" marL="0">
              <a:buNone/>
            </a:pPr>
            <a:r>
              <a:rPr lang="en-US" sz="100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text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 {"type": "integer"}     </a:t>
            </a:r>
            <a:pPr indent="0" marL="0">
              <a:buNone/>
            </a:pPr>
            <a:r>
              <a:rPr lang="en-US" sz="100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whole number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"required": ["name", "age"]      </a:t>
            </a:r>
            <a:pPr indent="0" marL="0">
              <a:buNone/>
            </a:pPr>
            <a:r>
              <a:rPr lang="en-US" sz="100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both must be present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 on, when we say "give Claude a schema," we mean: hand it the template, and the JSON it returns has to match.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41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DIVE IN · QUICK REFRESHER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and sampling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terms we'll use in a couple of slides. They sound technical, but the ideas are simple — and you'll need them to follow what comes next.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423160"/>
            <a:ext cx="54864" cy="210312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32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token is a chunk of text — usually a word or part of a word. Roughly 4 characters each. "Banana" is one token; "unbelievable" is a few.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generates output one token at a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423160"/>
            <a:ext cx="40233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423160"/>
            <a:ext cx="54864" cy="210312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53288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880360"/>
            <a:ext cx="3749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is just picking the next token. Claude scores every possible next token ("how likely?") and picks one.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all generation is: pick a token, then the next, then the next, until done.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in two slides we'll see how Structured Outputs work by changing which tokens Claude is even allowed to pick from.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41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prompted JSON isn't enough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just ask Claude to "return JSON," you'll get JSON most of the time — but in production, "most of the time" isn't good enough. Common failure modes: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514600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23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JSON syntax — trailing commas, unquoted keys, unescaped strings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1546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 — a string “42” where you needed the integer 42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611880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520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fields you didn't ask for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977640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862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— same prompt sometimes wrapped in a code fence, sometimes with commentary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production, these failures don't always crash loudly. Sometimes they quietly corrupt your database, and you don't notice for weeks.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41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options, ranked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697480" y="1508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0" y="1508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040880" y="15087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874520"/>
            <a:ext cx="822960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JSON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nicely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9659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40880" y="19659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prototypes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JSON + examples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974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model what you want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4688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but not zero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40880" y="2468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quick scripts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953512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tool schema as the output shape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9718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type drift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29718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functions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456432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tool use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474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strict:true on the tool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Schema-guaranteed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474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going to prod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959352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97480" y="3977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output_config.format with a schema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9776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Refusals/truncation only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0408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reliable JSON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3438144"/>
            <a:ext cx="54864" cy="100584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The bottom two are Anthropic's "Structured Outputs" feature. Hard guarantees — Claude literally cannot break your schema.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41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1 — JSON outputs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output_config.format with a JSON schema. What comes back is guaranteed to be valid JSON matching your schema. No try/catch needed.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8229600" cy="26060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03120"/>
            <a:ext cx="7955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client.messages.create(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model="claude-opus-4-7",  messages=[...],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output_config={"format":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"json_schema",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"schema":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"type": "object",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"properties":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"name":  {"type": "string"},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"email": {"type": "string"},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"plan":  {"type": "string"}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"required": ["name","email","plan"],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"additionalProperties":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}}})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41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2 — Strict tool use (strict: true)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"tool" in Claude's API is a function you let Claude call — like search_flights(destination, date). You define it; Claude decides when to use it. Adding strict:true guarantees the arguments Claude passes match your schema exactly — no string "2" where you asked for integer 2.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22860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51460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tools=[{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"search_flights",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"description": "Search flights by destination and date.",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"strict": True,</a:t>
            </a:r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← guarantees the schema is followed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"input_schema":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"type": "object",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"properties":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"destination": {"type": "string"},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"date":        {"type": "string", "format": "date"},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"passengers":  {"type": "integer"}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"required": ["destination", "date", "passengers"],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"additionalProperties": False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41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guarantee actually works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a multiple-choice test where a proctor crosses out the wrong answers before you see them. You can only pick from what's left.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schema becomes a rulebook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14400" y="25877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reads your JSON schema and turns it into a list of "what's allowed next" for every point in the output.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287121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scores every possible token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as always: Claude ranks every possible next token by how likely it would be.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419856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14400" y="343814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Illegal tokens get crossed 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372160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rulebook checks each one. Any token that would break the JSON has its score set to zero — Claude can't pick it.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98678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14400" y="40050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from what's left, repeat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4400" y="428853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samples from the remaining valid tokens. The rulebook advances one step. Repeat until the JSON is complete.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5902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guarantee isn't a polite request to Claude. The invalid options are physically removed from the menu — Claude cannot pick them.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41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details to know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27048"/>
            <a:ext cx="118872" cy="11887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call is slower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14173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grammar compiles once on first use of a new schema. Cached for 24 hours. After that, normal speed.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18872" cy="11887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4767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limits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1920" y="194767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20 strict tools per request and 24 optional parameters. Past that, the API returns an error. Plenty of room for normal use.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87752"/>
            <a:ext cx="118872" cy="11887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47802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rules are limited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24780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 supports basic shape rules (types, required fields, allowed values, list items). NOT: number ranges, regex patterns, or "one-of-many-shapes" rules. Do those in your own code.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118104"/>
            <a:ext cx="118872" cy="11887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08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nullable fields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30083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info might be missing, use {"type": ["string", "null"]} instead of forcing it required. Forced-required makes Claude fabricate.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648456"/>
            <a:ext cx="118872" cy="11887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538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"unclear" / "other" enums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31920" y="35387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Claude an escape-hatch option so it can mark ambiguous cases instead of picking the closest-but-wrong one.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178808"/>
            <a:ext cx="118872" cy="11887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right ≠ meaning right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4069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can return schema-valid JSON where the math doesn't add up. You still need to validate semantically. (More on this next.)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41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real code: use Pydantic or Zod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(Python) and Zod (TypeScript) are popular libraries that let you describe data with a typed class instead of hand-writing JSON Schema. The Claude SDK converts the class into a schema for you — and parses the response back into a real typed object you can use directly.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PYDANTIC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4023360" cy="20574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9748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pydantic import BaseModel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ContactInfo(BaseModel):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email: str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demo_requested: bool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= client.messages.parse(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model="claude-opus-4-7",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messages=[...],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output_format=ContactInfo,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response.parsed_output  # typed!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· ZOD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4023360" cy="20574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69748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z } from "zod";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ContactInfo = z.object({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z.string(),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email: z.string().email(),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demo_requested: z.boolean(),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client.messages.create({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output_config: zodOutputFormat(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ContactInfo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41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good tools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you define is its own structured-output mechanism. Strict mode just makes the guarantee a hard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54864" cy="96012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95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Long, specific descriptions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for 3–4 sentences. What the tool does, when to use it, when NOT to use it, what each parameter means.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228600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2286000"/>
            <a:ext cx="54864" cy="96012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39572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 operations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74320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manage_pr tool with an action parameter beats three tools (create_pr, review_pr, merge_pr).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383280"/>
            <a:ext cx="54864" cy="96012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493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Namespace tool names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840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github_list_prs is better than list_prs. Helps Claude pick the right tool as your tool library grows.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383280"/>
            <a:ext cx="406908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09160" y="3383280"/>
            <a:ext cx="54864" cy="96012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493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high-signal results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384048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bloat the context with unnecessary fields. Stable identifiers and only what Claude needs next.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41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STRUCTURED OUTPUT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loop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isn't just one call — it's a loop. Your code is Claude's arms and legs (it runs the actual functions). Claude is the brain that decides what to call next. Every agent built on Claude follows this pattern.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368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defines tools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11880" y="238658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up the functions Claude is allowed to call.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15768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2752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asks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277063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 arrives at Claude.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99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60120" y="3136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responds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11880" y="315468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tool_use block — tells your code which tool to run and with what arguments.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83864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executes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11880" y="353872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the function, gets the result.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67912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" y="39044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returned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611880" y="392277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the result back to Claude (as a tool_result).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" y="4288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 or finish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611880" y="4306824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calls more tools, or writes a final natural-language answer to the user.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41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PRODUCTION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Validation-retry loops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 guarantee the shape is right. They do NOT guarantee the meaning is right. You still need to validate, and if validation fails, retry with the error message.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937760" cy="155448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60604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attempt in range(max_retries):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extract(doc, prompt)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errors = validate(response)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errors: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response   # success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prompt += f"Previous errors: {errors}.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Please correct and try again."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ExtractionError(errors)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catches: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77840" y="27889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required fields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types, invalid enums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577840" y="3520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has to catch: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37947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items don't sum to total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■"/>
            </a:pPr>
            <a:r>
              <a:rPr lang="en-US" sz="10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Cross-field contradictions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cap retries (3 is typical). And don't retry when the info is just missing from the source — use a nullable field instead.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41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PRODUCTION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caching — what it 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stores frequently-reused parts of your prompt on their servers. The next time you send the same prefix, you get charged about 90% less for those tokens, and the response comes back about 85% faster.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26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~90%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 on cached input tokens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7432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274320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926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474720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reduction on the cached part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2743200"/>
            <a:ext cx="2697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2743200"/>
            <a:ext cx="269748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9260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66B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min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6309360" y="3703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cache lifetime (1 hour optional)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invalidates on: model change, content change (even one token), or expiry. First request bears full cost — only reuses benefit.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41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PRODUCTION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caching — design rules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5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 drives everything: stable content first, variable content last. Whatever doesn't change between calls goes at the top. The user's actual question goes at the very end.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ANTI-PATTERN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4023360" cy="13716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971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variable first → cache MISS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{user_query}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{long_system_instructions}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{few_shot_examples}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880360"/>
            <a:ext cx="4023360" cy="137160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9718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7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stable first → cache HIT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{long_system_instructions}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B4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{few_shot_examples}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A3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cache_control={'type':'ephemeral'}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4EF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{user_query}   ← variable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exam trap: putting variable content before stable content destroys the cache hit rate.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41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PRODUCTION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 processing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Batches API: submit many requests as one job, get results back within 24 hours, pay 50% less. Designed for bulk processing where you don't need an instant answer.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70632"/>
            <a:ext cx="8229600" cy="0"/>
          </a:xfrm>
          <a:prstGeom prst="line">
            <a:avLst/>
          </a:prstGeom>
          <a:noFill/>
          <a:ln w="12700">
            <a:solidFill>
              <a:srgbClr val="C66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UI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663440" y="2834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document processing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debugging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3440" y="31272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reports / audits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CI checks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34198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generation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price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37124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off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40050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 latency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40050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24h latency (no SLA)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every request with a custom_id. If some fail, resubmit only the failed ones — never the whole batch.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41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D · PRODUCTION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Multi-pass review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Claude both writes and reviews in the same session, it remembers why it made each choice — and is less likely to question those choices. The fix is structural: use two separate Claude sessions.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743200"/>
            <a:ext cx="54864" cy="169164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1 — Per-file review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gets its own Claude session. Catches things inside one file: bugs, style, types, security issues.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743200"/>
            <a:ext cx="402336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743200"/>
            <a:ext cx="54864" cy="169164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8529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 2 — Cross-file review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prompt focused on integration. Uses Pass 1 results as context. Catches data flow, interface mismatches, boundary errors.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50" i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Single-pass review on 10+ files misses things — attention spreads thin, quality drifts file-to-file, integration issues stay hidden.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41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· 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Take-home points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9047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engineering, measured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931920" y="1417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eval set. Iterate. Without measurement it's just guessing.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colleague would be confused, Claude will be too. Be specific.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examples to everything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931920" y="22402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examples in every nontrivial prompt. Highest-leverage technique.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72491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with XML, frame positively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931920" y="2651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XML tags. Tell Claude what to do, not what not to do.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JSON, use Structured Outputs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931920" y="3063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prompt for JSON. Use output_config.format with a schema.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74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agents, use strict tools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931920" y="34747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strict:true on every production tool. Guarantees type-safe arguments.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5935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caching the right way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931920" y="3886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content first, variable content last.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4370832"/>
            <a:ext cx="128016" cy="128016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4297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Schema-right is not meaning-right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931920" y="4297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after the call, even with Structured Outputs.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41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· 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next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7373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prompt you use today. Rewrite it using one of the techniques here. Build a 10-input test set. See if pass rate improves.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146304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26517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any code that asks an LLM for JSON and parses with try/catch. Replace it with Structured Outputs. Measure the change in production error rate.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1463040" cy="365760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4E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forward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356616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Anthropic's "Prompting best practices" page end-to-end. It's the canonical reference for everything we covered.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41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· 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anti-patterns (exam traps)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come up over and over on the exam. Each one matches a scenario question you might see.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content before stable content (destroys cache hits)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59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one example when 3-4 are needed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15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26151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validating structured output (assuming schema-valid means correct)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87121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retry loops with no cap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127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1272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requirements in user message instead of system prompt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383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on simple classification tasks (cost without benefit)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Resubmitting whole batches on partial failure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8953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Self-review in the same session (reasoning context bias)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41513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Retrying when the info is just absent from the source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407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criteria like “use your best judgment” instead of explicit rules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41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6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 · WRAP UP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Further reading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deck draws from these primary sources. If you want to go deeper on any topic, start here.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58568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best practices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60520" y="2194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— the canonical reference, end-to-end.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42616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786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60520" y="25786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— the dedicated structured-output feature page.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26664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62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29626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— tool definition best practices.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410712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tool use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60520" y="33467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— strict mode details.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307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hallucinations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60520" y="37307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docs.claude.com — hallucination-control techniques.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78808"/>
            <a:ext cx="109728" cy="109728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with the Claude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60520" y="41148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Academy (free) — the Skilljar course this is built 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6350">
            <a:solidFill>
              <a:srgbClr val="E8E1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Structured Output — Student Edition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28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41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319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4EFE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That's the module.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640080" y="2834640"/>
            <a:ext cx="548640" cy="54864"/>
          </a:xfrm>
          <a:prstGeom prst="rect">
            <a:avLst/>
          </a:prstGeom>
          <a:solidFill>
            <a:srgbClr val="C66B3D"/>
          </a:solidFill>
          <a:ln w="12700">
            <a:solidFill>
              <a:srgbClr val="C66B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017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handout for reference. Come back to these slides when you're applying a technique.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techniques in this deck are easier to learn against real problems than abstractly. Go try them.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 and Structured Output — Student Edition</dc:title>
  <dc:subject>PptxGenJS Presentation</dc:subject>
  <dc:creator>Michael Kassim</dc:creator>
  <cp:lastModifiedBy>Michael Kassim</cp:lastModifiedBy>
  <cp:revision>1</cp:revision>
  <dcterms:created xsi:type="dcterms:W3CDTF">2026-05-22T13:28:58Z</dcterms:created>
  <dcterms:modified xsi:type="dcterms:W3CDTF">2026-05-22T13:28:58Z</dcterms:modified>
</cp:coreProperties>
</file>